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2" r:id="rId1"/>
  </p:sldMasterIdLst>
  <p:notesMasterIdLst>
    <p:notesMasterId r:id="rId89"/>
  </p:notesMasterIdLst>
  <p:sldIdLst>
    <p:sldId id="352" r:id="rId2"/>
    <p:sldId id="310" r:id="rId3"/>
    <p:sldId id="311" r:id="rId4"/>
    <p:sldId id="312" r:id="rId5"/>
    <p:sldId id="402" r:id="rId6"/>
    <p:sldId id="313" r:id="rId7"/>
    <p:sldId id="403" r:id="rId8"/>
    <p:sldId id="404" r:id="rId9"/>
    <p:sldId id="405" r:id="rId10"/>
    <p:sldId id="314" r:id="rId11"/>
    <p:sldId id="315" r:id="rId12"/>
    <p:sldId id="406" r:id="rId13"/>
    <p:sldId id="407" r:id="rId14"/>
    <p:sldId id="408" r:id="rId15"/>
    <p:sldId id="324" r:id="rId16"/>
    <p:sldId id="325" r:id="rId17"/>
    <p:sldId id="326" r:id="rId18"/>
    <p:sldId id="330" r:id="rId19"/>
    <p:sldId id="328" r:id="rId20"/>
    <p:sldId id="329" r:id="rId21"/>
    <p:sldId id="331" r:id="rId22"/>
    <p:sldId id="332" r:id="rId23"/>
    <p:sldId id="333" r:id="rId24"/>
    <p:sldId id="334" r:id="rId25"/>
    <p:sldId id="409" r:id="rId26"/>
    <p:sldId id="410" r:id="rId27"/>
    <p:sldId id="353" r:id="rId28"/>
    <p:sldId id="354" r:id="rId29"/>
    <p:sldId id="366" r:id="rId30"/>
    <p:sldId id="369" r:id="rId31"/>
    <p:sldId id="376" r:id="rId32"/>
    <p:sldId id="355" r:id="rId33"/>
    <p:sldId id="367" r:id="rId34"/>
    <p:sldId id="356" r:id="rId35"/>
    <p:sldId id="368" r:id="rId36"/>
    <p:sldId id="357" r:id="rId37"/>
    <p:sldId id="358" r:id="rId38"/>
    <p:sldId id="359" r:id="rId39"/>
    <p:sldId id="370" r:id="rId40"/>
    <p:sldId id="375" r:id="rId41"/>
    <p:sldId id="372" r:id="rId42"/>
    <p:sldId id="374" r:id="rId43"/>
    <p:sldId id="373" r:id="rId44"/>
    <p:sldId id="411" r:id="rId45"/>
    <p:sldId id="371" r:id="rId46"/>
    <p:sldId id="377" r:id="rId47"/>
    <p:sldId id="378" r:id="rId48"/>
    <p:sldId id="386" r:id="rId49"/>
    <p:sldId id="379" r:id="rId50"/>
    <p:sldId id="380" r:id="rId51"/>
    <p:sldId id="381" r:id="rId52"/>
    <p:sldId id="412" r:id="rId53"/>
    <p:sldId id="418" r:id="rId54"/>
    <p:sldId id="419" r:id="rId55"/>
    <p:sldId id="383" r:id="rId56"/>
    <p:sldId id="384" r:id="rId57"/>
    <p:sldId id="414" r:id="rId58"/>
    <p:sldId id="413" r:id="rId59"/>
    <p:sldId id="420" r:id="rId60"/>
    <p:sldId id="421" r:id="rId61"/>
    <p:sldId id="422" r:id="rId62"/>
    <p:sldId id="385" r:id="rId63"/>
    <p:sldId id="415" r:id="rId64"/>
    <p:sldId id="417" r:id="rId65"/>
    <p:sldId id="416" r:id="rId66"/>
    <p:sldId id="361" r:id="rId67"/>
    <p:sldId id="388" r:id="rId68"/>
    <p:sldId id="389" r:id="rId69"/>
    <p:sldId id="390" r:id="rId70"/>
    <p:sldId id="364" r:id="rId71"/>
    <p:sldId id="365" r:id="rId72"/>
    <p:sldId id="387" r:id="rId73"/>
    <p:sldId id="393" r:id="rId74"/>
    <p:sldId id="423" r:id="rId75"/>
    <p:sldId id="424" r:id="rId76"/>
    <p:sldId id="391" r:id="rId77"/>
    <p:sldId id="425" r:id="rId78"/>
    <p:sldId id="392" r:id="rId79"/>
    <p:sldId id="394" r:id="rId80"/>
    <p:sldId id="395" r:id="rId81"/>
    <p:sldId id="396" r:id="rId82"/>
    <p:sldId id="397" r:id="rId83"/>
    <p:sldId id="398" r:id="rId84"/>
    <p:sldId id="399" r:id="rId85"/>
    <p:sldId id="426" r:id="rId86"/>
    <p:sldId id="427" r:id="rId87"/>
    <p:sldId id="400" r:id="rId88"/>
  </p:sldIdLst>
  <p:sldSz cx="12192000" cy="6858000"/>
  <p:notesSz cx="6858000" cy="9144000"/>
  <p:embeddedFontLst>
    <p:embeddedFont>
      <p:font typeface="Segoe UI" panose="020B0502040204020203" pitchFamily="34" charset="0"/>
      <p:regular r:id="rId90"/>
      <p:bold r:id="rId91"/>
      <p:italic r:id="rId92"/>
      <p:boldItalic r:id="rId93"/>
    </p:embeddedFont>
    <p:embeddedFont>
      <p:font typeface="Wingdings 3" panose="05040102010807070707" pitchFamily="18" charset="2"/>
      <p:regular r:id="rId94"/>
    </p:embeddedFont>
    <p:embeddedFont>
      <p:font typeface="Verdana" panose="020B0604030504040204" pitchFamily="34" charset="0"/>
      <p:regular r:id="rId95"/>
      <p:bold r:id="rId96"/>
      <p:italic r:id="rId97"/>
      <p:boldItalic r:id="rId98"/>
    </p:embeddedFont>
    <p:embeddedFont>
      <p:font typeface="Wingdings 2" panose="05020102010507070707" pitchFamily="18" charset="2"/>
      <p:regular r:id="rId99"/>
    </p:embeddedFont>
    <p:embeddedFont>
      <p:font typeface="Segoe UI Black" panose="020B0A02040204020203" pitchFamily="34" charset="0"/>
      <p:bold r:id="rId100"/>
      <p:boldItalic r:id="rId101"/>
    </p:embeddedFont>
    <p:embeddedFont>
      <p:font typeface="Calibri" panose="020F0502020204030204" pitchFamily="34" charset="0"/>
      <p:regular r:id="rId102"/>
      <p:bold r:id="rId103"/>
      <p:italic r:id="rId104"/>
      <p:boldItalic r:id="rId105"/>
    </p:embeddedFont>
    <p:embeddedFont>
      <p:font typeface="Calibri Light" panose="020F0302020204030204" pitchFamily="34" charset="0"/>
      <p:regular r:id="rId106"/>
      <p:italic r:id="rId107"/>
    </p:embeddedFont>
    <p:embeddedFont>
      <p:font typeface="Roboto Condensed Light" panose="020B0604020202020204" charset="0"/>
      <p:regular r:id="rId108"/>
      <p:italic r:id="rId109"/>
    </p:embeddedFont>
    <p:embeddedFont>
      <p:font typeface="Consolas" panose="020B0609020204030204" pitchFamily="49" charset="0"/>
      <p:regular r:id="rId110"/>
      <p:bold r:id="rId111"/>
      <p:italic r:id="rId112"/>
      <p:boldItalic r:id="rId1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3BB7"/>
    <a:srgbClr val="F54337"/>
    <a:srgbClr val="301B92"/>
    <a:srgbClr val="607D8B"/>
    <a:srgbClr val="ED524F"/>
    <a:srgbClr val="B71B1C"/>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72" autoAdjust="0"/>
    <p:restoredTop sz="94660"/>
  </p:normalViewPr>
  <p:slideViewPr>
    <p:cSldViewPr snapToGrid="0">
      <p:cViewPr>
        <p:scale>
          <a:sx n="60" d="100"/>
          <a:sy n="60" d="100"/>
        </p:scale>
        <p:origin x="1266" y="3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12" Type="http://schemas.openxmlformats.org/officeDocument/2006/relationships/font" Target="fonts/font23.fntdata"/><Relationship Id="rId16" Type="http://schemas.openxmlformats.org/officeDocument/2006/relationships/slide" Target="slides/slide15.xml"/><Relationship Id="rId107" Type="http://schemas.openxmlformats.org/officeDocument/2006/relationships/font" Target="fonts/font18.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3.fntdata"/><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24.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4.fntdata"/><Relationship Id="rId108" Type="http://schemas.openxmlformats.org/officeDocument/2006/relationships/font" Target="fonts/font19.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99" Type="http://schemas.openxmlformats.org/officeDocument/2006/relationships/font" Target="fonts/font10.fntdata"/><Relationship Id="rId10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20.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8.fntdata"/><Relationship Id="rId104"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21.fntdata"/><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1.fntdata"/><Relationship Id="rId105"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 Id="rId98" Type="http://schemas.openxmlformats.org/officeDocument/2006/relationships/font" Target="fonts/font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2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7/11/2026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0.jpeg"/><Relationship Id="rId5" Type="http://schemas.openxmlformats.org/officeDocument/2006/relationships/image" Target="../media/image7.png"/><Relationship Id="rId10" Type="http://schemas.openxmlformats.org/officeDocument/2006/relationships/image" Target="../media/image9.png"/><Relationship Id="rId4" Type="http://schemas.openxmlformats.org/officeDocument/2006/relationships/image" Target="../media/image6.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2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0.jpe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0.jpe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png"/><Relationship Id="rId9" Type="http://schemas.microsoft.com/office/2007/relationships/hdphoto" Target="../media/hdphoto1.wdp"/></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D21B45-1703-4330-B544-825BD8F37AF2}" type="datetimeFigureOut">
              <a:rPr lang="en-US" smtClean="0"/>
              <a:pPr/>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302786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D21B45-1703-4330-B544-825BD8F37AF2}" type="datetimeFigureOut">
              <a:rPr lang="en-US" smtClean="0"/>
              <a:pPr/>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3082974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pic>
        <p:nvPicPr>
          <p:cNvPr id="7" name="Picture 6">
            <a:extLst>
              <a:ext uri="{FF2B5EF4-FFF2-40B4-BE49-F238E27FC236}">
                <a16:creationId xmlns:a16="http://schemas.microsoft.com/office/drawing/2014/main" xmlns="" id="{36375F0D-C7C5-CD76-68BA-D5920D9678DE}"/>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8" name="Picture 7">
            <a:extLst>
              <a:ext uri="{FF2B5EF4-FFF2-40B4-BE49-F238E27FC236}">
                <a16:creationId xmlns:a16="http://schemas.microsoft.com/office/drawing/2014/main" xmlns="" id="{FD775ECD-EA3A-9F94-9BAE-DBCBD063A8E2}"/>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9" name="Freeform 17">
            <a:extLst>
              <a:ext uri="{FF2B5EF4-FFF2-40B4-BE49-F238E27FC236}">
                <a16:creationId xmlns:a16="http://schemas.microsoft.com/office/drawing/2014/main" xmlns="" id="{C1C4A21D-7186-921E-B3EB-5C022D29D84F}"/>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xmlns="" id="{2531B658-D644-38FD-C976-746C63FF2611}"/>
              </a:ext>
            </a:extLst>
          </p:cNvPr>
          <p:cNvGrpSpPr/>
          <p:nvPr userDrawn="1"/>
        </p:nvGrpSpPr>
        <p:grpSpPr>
          <a:xfrm>
            <a:off x="9437223" y="6087939"/>
            <a:ext cx="2554143" cy="587454"/>
            <a:chOff x="131177" y="5775962"/>
            <a:chExt cx="2530239" cy="581956"/>
          </a:xfrm>
        </p:grpSpPr>
        <p:pic>
          <p:nvPicPr>
            <p:cNvPr id="11" name="Picture 10">
              <a:extLst>
                <a:ext uri="{FF2B5EF4-FFF2-40B4-BE49-F238E27FC236}">
                  <a16:creationId xmlns:a16="http://schemas.microsoft.com/office/drawing/2014/main" xmlns="" id="{558812CE-AF3F-EBB5-B0D4-28F52D86E86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2" name="Rectangle 11">
              <a:extLst>
                <a:ext uri="{FF2B5EF4-FFF2-40B4-BE49-F238E27FC236}">
                  <a16:creationId xmlns:a16="http://schemas.microsoft.com/office/drawing/2014/main" xmlns="" id="{B1A28EB0-1FDA-EBBC-FEA8-7BA21927B16D}"/>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34904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D21B45-1703-4330-B544-825BD8F37AF2}" type="datetimeFigureOut">
              <a:rPr lang="en-US" smtClean="0"/>
              <a:pPr/>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4148195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D21B45-1703-4330-B544-825BD8F37AF2}" type="datetimeFigureOut">
              <a:rPr lang="en-US" smtClean="0"/>
              <a:pPr/>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3841388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D21B45-1703-4330-B544-825BD8F37AF2}" type="datetimeFigureOut">
              <a:rPr lang="en-US" smtClean="0"/>
              <a:pPr/>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213607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21B45-1703-4330-B544-825BD8F37AF2}" type="datetimeFigureOut">
              <a:rPr lang="en-US" smtClean="0"/>
              <a:pPr/>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3060772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D21B45-1703-4330-B544-825BD8F37AF2}" type="datetimeFigureOut">
              <a:rPr lang="en-US" smtClean="0"/>
              <a:pPr/>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2116494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D21B45-1703-4330-B544-825BD8F37AF2}" type="datetimeFigureOut">
              <a:rPr lang="en-US" smtClean="0"/>
              <a:pPr/>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3500047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D21B45-1703-4330-B544-825BD8F37AF2}" type="datetimeFigureOut">
              <a:rPr lang="en-US" smtClean="0"/>
              <a:pPr/>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195747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D21B45-1703-4330-B544-825BD8F37AF2}" type="datetimeFigureOut">
              <a:rPr lang="en-US" smtClean="0"/>
              <a:pPr/>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41F3C7-36DD-4595-AA08-2525D86280BD}" type="slidenum">
              <a:rPr lang="en-US" smtClean="0"/>
              <a:pPr/>
              <a:t>‹#›</a:t>
            </a:fld>
            <a:endParaRPr lang="en-US"/>
          </a:p>
        </p:txBody>
      </p:sp>
    </p:spTree>
    <p:extLst>
      <p:ext uri="{BB962C8B-B14F-4D97-AF65-F5344CB8AC3E}">
        <p14:creationId xmlns:p14="http://schemas.microsoft.com/office/powerpoint/2010/main" val="3823991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4968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xmlns=""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xmlns=""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xmlns=""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1026" name="Picture 2" descr="C:\Users\Omen\Desktop\Python-Programming-Language-in-Data-Science.png"/>
          <p:cNvPicPr>
            <a:picLocks noChangeAspect="1" noChangeArrowheads="1"/>
          </p:cNvPicPr>
          <p:nvPr userDrawn="1"/>
        </p:nvPicPr>
        <p:blipFill>
          <a:blip r:embed="rId10" cstate="print"/>
          <a:srcRect/>
          <a:stretch>
            <a:fillRect/>
          </a:stretch>
        </p:blipFill>
        <p:spPr bwMode="auto">
          <a:xfrm>
            <a:off x="8025598" y="2015064"/>
            <a:ext cx="3758417" cy="1879600"/>
          </a:xfrm>
          <a:prstGeom prst="rect">
            <a:avLst/>
          </a:prstGeom>
          <a:noFill/>
        </p:spPr>
      </p:pic>
    </p:spTree>
    <p:extLst>
      <p:ext uri="{BB962C8B-B14F-4D97-AF65-F5344CB8AC3E}">
        <p14:creationId xmlns:p14="http://schemas.microsoft.com/office/powerpoint/2010/main" val="615859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xmlns=""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7/11/2026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263319403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67" r:id="rId13"/>
    <p:sldLayoutId id="2147483670" r:id="rId14"/>
    <p:sldLayoutId id="2147483688" r:id="rId15"/>
    <p:sldLayoutId id="2147483672" r:id="rId16"/>
    <p:sldLayoutId id="2147483689" r:id="rId17"/>
    <p:sldLayoutId id="2147483690" r:id="rId18"/>
    <p:sldLayoutId id="2147483673" r:id="rId19"/>
    <p:sldLayoutId id="2147483691" r:id="rId20"/>
    <p:sldLayoutId id="2147483674" r:id="rId21"/>
    <p:sldLayoutId id="2147483676" r:id="rId22"/>
    <p:sldLayoutId id="2147483677" r:id="rId23"/>
    <p:sldLayoutId id="2147483678" r:id="rId24"/>
    <p:sldLayoutId id="2147483679" r:id="rId25"/>
    <p:sldLayoutId id="2147483681" r:id="rId26"/>
    <p:sldLayoutId id="2147483683" r:id="rId27"/>
    <p:sldLayoutId id="2147483682" r:id="rId28"/>
    <p:sldLayoutId id="2147483684" r:id="rId29"/>
    <p:sldLayoutId id="2147483685" r:id="rId30"/>
    <p:sldLayoutId id="2147483686"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anaconda.com/downloads" TargetMode="External"/><Relationship Id="rId2" Type="http://schemas.openxmlformats.org/officeDocument/2006/relationships/hyperlink" Target="https://www.python.org/downloads/"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xmlns=""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xmlns=""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BDA2F9A4-6988-4274-8384-12496EC9D59D}"/>
              </a:ext>
            </a:extLst>
          </p:cNvPr>
          <p:cNvSpPr txBox="1"/>
          <p:nvPr/>
        </p:nvSpPr>
        <p:spPr>
          <a:xfrm>
            <a:off x="1458964" y="712385"/>
            <a:ext cx="4909938" cy="4708981"/>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sz="2000" dirty="0"/>
              <a:t>Introduction to python</a:t>
            </a:r>
          </a:p>
          <a:p>
            <a:pPr indent="446088">
              <a:buFont typeface="Wingdings" pitchFamily="2" charset="2"/>
              <a:buChar char="ü"/>
            </a:pPr>
            <a:r>
              <a:rPr lang="en-US" sz="2000" dirty="0"/>
              <a:t>Installing python</a:t>
            </a:r>
          </a:p>
          <a:p>
            <a:pPr indent="446088">
              <a:buFont typeface="Wingdings" pitchFamily="2" charset="2"/>
              <a:buChar char="ü"/>
            </a:pPr>
            <a:r>
              <a:rPr lang="en-US" sz="2000" dirty="0"/>
              <a:t>Hello World program using python</a:t>
            </a:r>
          </a:p>
          <a:p>
            <a:pPr indent="446088">
              <a:buFont typeface="Wingdings" pitchFamily="2" charset="2"/>
              <a:buChar char="ü"/>
            </a:pPr>
            <a:r>
              <a:rPr lang="en-US" sz="2000" dirty="0"/>
              <a:t>Data types</a:t>
            </a:r>
          </a:p>
          <a:p>
            <a:pPr indent="446088">
              <a:buFont typeface="Wingdings" pitchFamily="2" charset="2"/>
              <a:buChar char="ü"/>
            </a:pPr>
            <a:r>
              <a:rPr lang="en-US" sz="2000" dirty="0"/>
              <a:t>Variables</a:t>
            </a:r>
          </a:p>
          <a:p>
            <a:pPr indent="446088">
              <a:buFont typeface="Wingdings" pitchFamily="2" charset="2"/>
              <a:buChar char="ü"/>
            </a:pPr>
            <a:r>
              <a:rPr lang="en-US" sz="2000" dirty="0"/>
              <a:t>Expressions</a:t>
            </a:r>
          </a:p>
          <a:p>
            <a:pPr indent="446088">
              <a:buFont typeface="Wingdings" pitchFamily="2" charset="2"/>
              <a:buChar char="ü"/>
            </a:pPr>
            <a:r>
              <a:rPr lang="en-US" sz="2000" dirty="0"/>
              <a:t>Functions</a:t>
            </a:r>
          </a:p>
          <a:p>
            <a:pPr indent="446088">
              <a:buFont typeface="Wingdings" pitchFamily="2" charset="2"/>
              <a:buChar char="ü"/>
            </a:pPr>
            <a:r>
              <a:rPr lang="en-US" sz="2000" dirty="0"/>
              <a:t>String</a:t>
            </a:r>
          </a:p>
          <a:p>
            <a:pPr indent="446088">
              <a:buFont typeface="Wingdings" pitchFamily="2" charset="2"/>
              <a:buChar char="ü"/>
            </a:pPr>
            <a:r>
              <a:rPr lang="en-US" sz="2000" dirty="0"/>
              <a:t>List</a:t>
            </a:r>
          </a:p>
          <a:p>
            <a:pPr indent="446088">
              <a:buFont typeface="Wingdings" pitchFamily="2" charset="2"/>
              <a:buChar char="ü"/>
            </a:pPr>
            <a:r>
              <a:rPr lang="en-US" sz="2000" dirty="0" err="1"/>
              <a:t>Tuple</a:t>
            </a:r>
            <a:endParaRPr lang="en-US" sz="2000" dirty="0"/>
          </a:p>
          <a:p>
            <a:pPr indent="446088">
              <a:buFont typeface="Wingdings" pitchFamily="2" charset="2"/>
              <a:buChar char="ü"/>
            </a:pPr>
            <a:r>
              <a:rPr lang="en-US" sz="2000" dirty="0"/>
              <a:t>Set</a:t>
            </a:r>
          </a:p>
          <a:p>
            <a:pPr indent="446088">
              <a:buFont typeface="Wingdings" pitchFamily="2" charset="2"/>
              <a:buChar char="ü"/>
            </a:pPr>
            <a:r>
              <a:rPr lang="en-US" sz="2000" dirty="0"/>
              <a:t>Dictionary</a:t>
            </a:r>
          </a:p>
          <a:p>
            <a:pPr indent="446088">
              <a:buFont typeface="Wingdings" pitchFamily="2" charset="2"/>
              <a:buChar char="ü"/>
            </a:pPr>
            <a:r>
              <a:rPr lang="en-US" sz="2000" dirty="0"/>
              <a:t>Functions </a:t>
            </a:r>
            <a:endParaRPr lang="en-US" sz="2000" dirty="0">
              <a:solidFill>
                <a:schemeClr val="bg1">
                  <a:lumMod val="50000"/>
                </a:schemeClr>
              </a:solidFill>
            </a:endParaRP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674" name="Picture 2" descr="Python's creator thinks it has a diversity problem — Quartz"/>
          <p:cNvPicPr>
            <a:picLocks noChangeAspect="1" noChangeArrowheads="1"/>
          </p:cNvPicPr>
          <p:nvPr/>
        </p:nvPicPr>
        <p:blipFill>
          <a:blip r:embed="rId2" cstate="print"/>
          <a:srcRect/>
          <a:stretch>
            <a:fillRect/>
          </a:stretch>
        </p:blipFill>
        <p:spPr bwMode="auto">
          <a:xfrm>
            <a:off x="9546584" y="1663700"/>
            <a:ext cx="2645416" cy="2230967"/>
          </a:xfrm>
          <a:prstGeom prst="rect">
            <a:avLst/>
          </a:prstGeom>
          <a:noFill/>
        </p:spPr>
      </p:pic>
      <p:sp>
        <p:nvSpPr>
          <p:cNvPr id="2" name="Title 1"/>
          <p:cNvSpPr>
            <a:spLocks noGrp="1"/>
          </p:cNvSpPr>
          <p:nvPr>
            <p:ph type="title"/>
          </p:nvPr>
        </p:nvSpPr>
        <p:spPr/>
        <p:txBody>
          <a:bodyPr/>
          <a:lstStyle/>
          <a:p>
            <a:r>
              <a:rPr lang="en-IN" dirty="0"/>
              <a:t>Introduction to Python</a:t>
            </a:r>
            <a:endParaRPr lang="en-US" dirty="0"/>
          </a:p>
        </p:txBody>
      </p:sp>
      <p:sp>
        <p:nvSpPr>
          <p:cNvPr id="3" name="Content Placeholder 2"/>
          <p:cNvSpPr>
            <a:spLocks noGrp="1"/>
          </p:cNvSpPr>
          <p:nvPr>
            <p:ph idx="1"/>
          </p:nvPr>
        </p:nvSpPr>
        <p:spPr/>
        <p:txBody>
          <a:bodyPr/>
          <a:lstStyle/>
          <a:p>
            <a:r>
              <a:rPr lang="en-US" dirty="0"/>
              <a:t>Python is an </a:t>
            </a:r>
            <a:r>
              <a:rPr lang="en-US" b="1" dirty="0"/>
              <a:t>open source, interpreted, high-level</a:t>
            </a:r>
            <a:r>
              <a:rPr lang="en-US" dirty="0"/>
              <a:t>, </a:t>
            </a:r>
            <a:r>
              <a:rPr lang="en-US" b="1" dirty="0"/>
              <a:t>general-purpose</a:t>
            </a:r>
            <a:r>
              <a:rPr lang="en-US" dirty="0"/>
              <a:t> programming language.</a:t>
            </a:r>
          </a:p>
          <a:p>
            <a:r>
              <a:rPr lang="en-US" dirty="0"/>
              <a:t>Python's design philosophy emphasizes </a:t>
            </a:r>
            <a:r>
              <a:rPr lang="en-US" b="1" dirty="0"/>
              <a:t>code readability </a:t>
            </a:r>
            <a:r>
              <a:rPr lang="en-US" dirty="0"/>
              <a:t>with its notable use of significant </a:t>
            </a:r>
            <a:r>
              <a:rPr lang="en-US" b="1" dirty="0"/>
              <a:t>whitespace</a:t>
            </a:r>
            <a:r>
              <a:rPr lang="en-US" dirty="0"/>
              <a:t>.</a:t>
            </a:r>
          </a:p>
          <a:p>
            <a:r>
              <a:rPr lang="en-US" dirty="0"/>
              <a:t>Python is </a:t>
            </a:r>
            <a:r>
              <a:rPr lang="en-US" b="1" dirty="0"/>
              <a:t>dynamically typed </a:t>
            </a:r>
            <a:r>
              <a:rPr lang="en-US" dirty="0"/>
              <a:t>and </a:t>
            </a:r>
            <a:r>
              <a:rPr lang="en-US" b="1" dirty="0"/>
              <a:t>garbage-collected </a:t>
            </a:r>
            <a:r>
              <a:rPr lang="en-US" dirty="0"/>
              <a:t>language</a:t>
            </a:r>
            <a:r>
              <a:rPr lang="en-US" b="1" dirty="0"/>
              <a:t>.</a:t>
            </a:r>
          </a:p>
          <a:p>
            <a:r>
              <a:rPr lang="en-US" dirty="0"/>
              <a:t>Python was conceived in the late </a:t>
            </a:r>
            <a:r>
              <a:rPr lang="en-US" b="1" dirty="0"/>
              <a:t>1980s</a:t>
            </a:r>
            <a:r>
              <a:rPr lang="en-US" dirty="0"/>
              <a:t> as a successor to the </a:t>
            </a:r>
            <a:r>
              <a:rPr lang="en-US" b="1" dirty="0"/>
              <a:t>ABC language</a:t>
            </a:r>
            <a:r>
              <a:rPr lang="en-US" dirty="0"/>
              <a:t>.</a:t>
            </a:r>
          </a:p>
          <a:p>
            <a:r>
              <a:rPr lang="en-US" dirty="0"/>
              <a:t>Python was Created by </a:t>
            </a:r>
            <a:r>
              <a:rPr lang="en-US" b="1" dirty="0"/>
              <a:t>Guido van </a:t>
            </a:r>
            <a:r>
              <a:rPr lang="en-US" b="1" dirty="0" err="1"/>
              <a:t>Rossum</a:t>
            </a:r>
            <a:r>
              <a:rPr lang="en-US" b="1" dirty="0"/>
              <a:t> </a:t>
            </a:r>
            <a:r>
              <a:rPr lang="en-US" dirty="0"/>
              <a:t>and first released in </a:t>
            </a:r>
            <a:r>
              <a:rPr lang="en-US" b="1" dirty="0"/>
              <a:t>1991</a:t>
            </a:r>
            <a:r>
              <a:rPr lang="en-US" dirty="0"/>
              <a:t>.</a:t>
            </a:r>
          </a:p>
          <a:p>
            <a:r>
              <a:rPr lang="en-US" b="1" dirty="0"/>
              <a:t>Python 2.0</a:t>
            </a:r>
            <a:r>
              <a:rPr lang="en-US" dirty="0"/>
              <a:t>, released in </a:t>
            </a:r>
            <a:r>
              <a:rPr lang="en-US" b="1" dirty="0"/>
              <a:t>2000</a:t>
            </a:r>
            <a:r>
              <a:rPr lang="en-US" dirty="0"/>
              <a:t>, </a:t>
            </a:r>
          </a:p>
          <a:p>
            <a:pPr lvl="1"/>
            <a:r>
              <a:rPr lang="en-US" dirty="0"/>
              <a:t>introduced features like list comprehensions and a garbage collection system with reference counting.</a:t>
            </a:r>
          </a:p>
          <a:p>
            <a:r>
              <a:rPr lang="en-IN" b="1" dirty="0"/>
              <a:t>Python 3.0 </a:t>
            </a:r>
            <a:r>
              <a:rPr lang="en-IN" dirty="0"/>
              <a:t>released in </a:t>
            </a:r>
            <a:r>
              <a:rPr lang="en-IN" b="1" dirty="0"/>
              <a:t>2008</a:t>
            </a:r>
            <a:r>
              <a:rPr lang="en-IN" dirty="0"/>
              <a:t> and current version of python is </a:t>
            </a:r>
            <a:r>
              <a:rPr lang="en-IN" b="1" dirty="0"/>
              <a:t>3.13</a:t>
            </a:r>
            <a:r>
              <a:rPr lang="en-IN" dirty="0"/>
              <a:t> (as of 2025)</a:t>
            </a:r>
            <a:r>
              <a:rPr lang="en-US" dirty="0"/>
              <a:t>.</a:t>
            </a:r>
          </a:p>
          <a:p>
            <a:pPr lvl="1"/>
            <a:r>
              <a:rPr lang="en-US" dirty="0"/>
              <a:t>The Python 2 language was officially discontinued in 2020</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6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28674"/>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Python?</a:t>
            </a:r>
            <a:endParaRPr lang="en-US" dirty="0"/>
          </a:p>
        </p:txBody>
      </p:sp>
      <p:sp>
        <p:nvSpPr>
          <p:cNvPr id="3" name="Content Placeholder 2"/>
          <p:cNvSpPr>
            <a:spLocks noGrp="1"/>
          </p:cNvSpPr>
          <p:nvPr>
            <p:ph idx="1"/>
          </p:nvPr>
        </p:nvSpPr>
        <p:spPr/>
        <p:txBody>
          <a:bodyPr/>
          <a:lstStyle/>
          <a:p>
            <a:r>
              <a:rPr lang="en-IN" dirty="0"/>
              <a:t>Python has many advantages</a:t>
            </a:r>
          </a:p>
          <a:p>
            <a:pPr lvl="1"/>
            <a:r>
              <a:rPr lang="en-IN" dirty="0"/>
              <a:t>Easy to learn</a:t>
            </a:r>
          </a:p>
          <a:p>
            <a:pPr lvl="1"/>
            <a:r>
              <a:rPr lang="en-IN" dirty="0"/>
              <a:t>Less code</a:t>
            </a:r>
          </a:p>
          <a:p>
            <a:pPr lvl="1"/>
            <a:r>
              <a:rPr lang="en-IN" dirty="0"/>
              <a:t>Syntax is easier to read</a:t>
            </a:r>
          </a:p>
          <a:p>
            <a:pPr lvl="1"/>
            <a:r>
              <a:rPr lang="en-IN" dirty="0"/>
              <a:t>Open source</a:t>
            </a:r>
          </a:p>
          <a:p>
            <a:pPr lvl="1"/>
            <a:r>
              <a:rPr lang="en-IN" dirty="0"/>
              <a:t>Large Community support</a:t>
            </a:r>
          </a:p>
          <a:p>
            <a:pPr lvl="1"/>
            <a:r>
              <a:rPr lang="en-IN" dirty="0"/>
              <a:t>Huge amount of additional open-source libraries</a:t>
            </a:r>
          </a:p>
          <a:p>
            <a:pPr lvl="2">
              <a:buNone/>
            </a:pPr>
            <a:r>
              <a:rPr lang="en-IN" dirty="0"/>
              <a:t>Some libraries listed below.</a:t>
            </a:r>
          </a:p>
          <a:p>
            <a:pPr lvl="2"/>
            <a:r>
              <a:rPr lang="en-US" b="1" dirty="0" err="1"/>
              <a:t>matplotib</a:t>
            </a:r>
            <a:r>
              <a:rPr lang="en-US" dirty="0"/>
              <a:t> for plotting charts and graphs</a:t>
            </a:r>
          </a:p>
          <a:p>
            <a:pPr lvl="2"/>
            <a:r>
              <a:rPr lang="en-US" b="1" dirty="0" err="1"/>
              <a:t>NumPy</a:t>
            </a:r>
            <a:r>
              <a:rPr lang="en-US" dirty="0"/>
              <a:t> for scientific computing</a:t>
            </a:r>
          </a:p>
          <a:p>
            <a:pPr lvl="2"/>
            <a:r>
              <a:rPr lang="en-IN" b="1" dirty="0"/>
              <a:t>pandas</a:t>
            </a:r>
            <a:r>
              <a:rPr lang="en-IN" dirty="0"/>
              <a:t> for performing data analysis</a:t>
            </a:r>
          </a:p>
          <a:p>
            <a:pPr lvl="2"/>
            <a:r>
              <a:rPr lang="en-US" b="1" dirty="0" err="1"/>
              <a:t>SciPy</a:t>
            </a:r>
            <a:r>
              <a:rPr lang="en-US" dirty="0"/>
              <a:t> for engineering applications, science, and mathematics</a:t>
            </a:r>
            <a:endParaRPr lang="en-IN" dirty="0"/>
          </a:p>
          <a:p>
            <a:pPr lvl="2"/>
            <a:r>
              <a:rPr lang="en-IN" b="1" dirty="0" err="1"/>
              <a:t>Scikit</a:t>
            </a:r>
            <a:r>
              <a:rPr lang="en-IN" b="1" dirty="0"/>
              <a:t> </a:t>
            </a:r>
            <a:r>
              <a:rPr lang="en-IN" dirty="0"/>
              <a:t>for machine learning </a:t>
            </a:r>
            <a:endParaRPr lang="en-US" dirty="0"/>
          </a:p>
          <a:p>
            <a:pPr lvl="2"/>
            <a:r>
              <a:rPr lang="en-US" b="1" dirty="0" err="1"/>
              <a:t>Django</a:t>
            </a:r>
            <a:r>
              <a:rPr lang="en-US" dirty="0"/>
              <a:t> for server-side web development</a:t>
            </a:r>
          </a:p>
          <a:p>
            <a:pPr lvl="2"/>
            <a:r>
              <a:rPr lang="en-IN" dirty="0"/>
              <a:t>And many more..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Installing Python</a:t>
            </a:r>
            <a:endParaRPr lang="en-US" dirty="0"/>
          </a:p>
        </p:txBody>
      </p:sp>
      <p:sp>
        <p:nvSpPr>
          <p:cNvPr id="3" name="Content Placeholder 2"/>
          <p:cNvSpPr>
            <a:spLocks noGrp="1"/>
          </p:cNvSpPr>
          <p:nvPr>
            <p:ph idx="1"/>
          </p:nvPr>
        </p:nvSpPr>
        <p:spPr/>
        <p:txBody>
          <a:bodyPr/>
          <a:lstStyle/>
          <a:p>
            <a:r>
              <a:rPr lang="en-IN" dirty="0"/>
              <a:t>For Windows &amp; Mac: </a:t>
            </a:r>
          </a:p>
          <a:p>
            <a:pPr lvl="1"/>
            <a:r>
              <a:rPr lang="en-IN" dirty="0"/>
              <a:t>To install python in windows you need to download installable file from </a:t>
            </a:r>
            <a:r>
              <a:rPr lang="en-US" dirty="0">
                <a:hlinkClick r:id="rId2"/>
              </a:rPr>
              <a:t>https://www.python.org/downloads/</a:t>
            </a:r>
            <a:r>
              <a:rPr lang="en-US" dirty="0"/>
              <a:t> </a:t>
            </a:r>
          </a:p>
          <a:p>
            <a:pPr lvl="1"/>
            <a:r>
              <a:rPr lang="en-IN" dirty="0"/>
              <a:t>After downloading the installable file you need to execute the file.</a:t>
            </a:r>
          </a:p>
          <a:p>
            <a:r>
              <a:rPr lang="en-IN" dirty="0"/>
              <a:t>For Linux :</a:t>
            </a:r>
          </a:p>
          <a:p>
            <a:pPr lvl="1"/>
            <a:r>
              <a:rPr lang="en-IN" dirty="0"/>
              <a:t>For </a:t>
            </a:r>
            <a:r>
              <a:rPr lang="en-IN" dirty="0" err="1"/>
              <a:t>ubuntu</a:t>
            </a:r>
            <a:r>
              <a:rPr lang="en-IN" dirty="0"/>
              <a:t> 16.10 or newer </a:t>
            </a:r>
          </a:p>
          <a:p>
            <a:pPr lvl="2"/>
            <a:r>
              <a:rPr lang="en-US" dirty="0" err="1"/>
              <a:t>sudo</a:t>
            </a:r>
            <a:r>
              <a:rPr lang="en-US" dirty="0"/>
              <a:t> apt-get update </a:t>
            </a:r>
          </a:p>
          <a:p>
            <a:pPr lvl="2"/>
            <a:r>
              <a:rPr lang="en-US" dirty="0" err="1"/>
              <a:t>sudo</a:t>
            </a:r>
            <a:r>
              <a:rPr lang="en-US" dirty="0"/>
              <a:t> apt-get install python3.8</a:t>
            </a:r>
            <a:endParaRPr lang="en-IN" dirty="0"/>
          </a:p>
          <a:p>
            <a:r>
              <a:rPr lang="en-IN" dirty="0"/>
              <a:t>To verify the installation </a:t>
            </a:r>
          </a:p>
          <a:p>
            <a:pPr lvl="1"/>
            <a:r>
              <a:rPr lang="en-IN" dirty="0"/>
              <a:t>Windows	: </a:t>
            </a:r>
          </a:p>
          <a:p>
            <a:pPr lvl="2"/>
            <a:r>
              <a:rPr lang="en-IN" dirty="0"/>
              <a:t>python --version</a:t>
            </a:r>
          </a:p>
          <a:p>
            <a:pPr lvl="1"/>
            <a:r>
              <a:rPr lang="en-IN" dirty="0"/>
              <a:t>Linux : </a:t>
            </a:r>
          </a:p>
          <a:p>
            <a:pPr lvl="2"/>
            <a:r>
              <a:rPr lang="en-IN" b="1" dirty="0"/>
              <a:t>Python </a:t>
            </a:r>
            <a:r>
              <a:rPr lang="en-IN" b="1" dirty="0">
                <a:solidFill>
                  <a:srgbClr val="FF0000"/>
                </a:solidFill>
              </a:rPr>
              <a:t>3</a:t>
            </a:r>
            <a:r>
              <a:rPr lang="en-IN" dirty="0"/>
              <a:t> --version (</a:t>
            </a:r>
            <a:r>
              <a:rPr lang="en-IN" dirty="0" err="1"/>
              <a:t>linux</a:t>
            </a:r>
            <a:r>
              <a:rPr lang="en-IN" dirty="0"/>
              <a:t> might have python2 already installed, you can check python 2 using </a:t>
            </a:r>
            <a:r>
              <a:rPr lang="en-IN" b="1" dirty="0"/>
              <a:t>python --version</a:t>
            </a:r>
            <a:r>
              <a:rPr lang="en-IN" dirty="0"/>
              <a:t>)</a:t>
            </a:r>
          </a:p>
          <a:p>
            <a:r>
              <a:rPr lang="en-IN" dirty="0"/>
              <a:t>Alternatively we can use anaconda distribution for the python installation</a:t>
            </a:r>
          </a:p>
          <a:p>
            <a:pPr lvl="1"/>
            <a:r>
              <a:rPr lang="en-US" dirty="0">
                <a:hlinkClick r:id="rId3"/>
              </a:rPr>
              <a:t>http://anaconda.com/downloads</a:t>
            </a:r>
            <a:endParaRPr lang="en-US" dirty="0"/>
          </a:p>
          <a:p>
            <a:pPr lvl="1"/>
            <a:r>
              <a:rPr lang="en-IN" dirty="0"/>
              <a:t>Anaconda comes with many useful inbuilt libraries.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938DBB-CD4B-510D-8F46-5225DA3E2743}"/>
              </a:ext>
            </a:extLst>
          </p:cNvPr>
          <p:cNvSpPr>
            <a:spLocks noGrp="1"/>
          </p:cNvSpPr>
          <p:nvPr>
            <p:ph type="title"/>
          </p:nvPr>
        </p:nvSpPr>
        <p:spPr/>
        <p:txBody>
          <a:bodyPr>
            <a:normAutofit fontScale="90000"/>
          </a:bodyPr>
          <a:lstStyle/>
          <a:p>
            <a:r>
              <a:rPr lang="en-US" b="1" dirty="0"/>
              <a:t/>
            </a:r>
            <a:br>
              <a:rPr lang="en-US" b="1" dirty="0"/>
            </a:br>
            <a:r>
              <a:rPr lang="en-US" b="1" dirty="0"/>
              <a:t>Real-world Applications</a:t>
            </a:r>
            <a:br>
              <a:rPr lang="en-US" b="1" dirty="0"/>
            </a:br>
            <a:endParaRPr lang="en-US" dirty="0"/>
          </a:p>
        </p:txBody>
      </p:sp>
      <p:sp>
        <p:nvSpPr>
          <p:cNvPr id="3" name="Content Placeholder 2">
            <a:extLst>
              <a:ext uri="{FF2B5EF4-FFF2-40B4-BE49-F238E27FC236}">
                <a16:creationId xmlns:a16="http://schemas.microsoft.com/office/drawing/2014/main" xmlns="" id="{405886CB-159A-3085-E080-1996B1663A16}"/>
              </a:ext>
            </a:extLst>
          </p:cNvPr>
          <p:cNvSpPr>
            <a:spLocks noGrp="1"/>
          </p:cNvSpPr>
          <p:nvPr>
            <p:ph idx="1"/>
          </p:nvPr>
        </p:nvSpPr>
        <p:spPr/>
        <p:txBody>
          <a:bodyPr/>
          <a:lstStyle/>
          <a:p>
            <a:pPr>
              <a:buFont typeface="Arial" panose="020B0604020202020204" pitchFamily="34" charset="0"/>
              <a:buChar char="•"/>
            </a:pPr>
            <a:r>
              <a:rPr lang="en-US" dirty="0"/>
              <a:t>Netflix recommendation system </a:t>
            </a:r>
          </a:p>
          <a:p>
            <a:pPr>
              <a:buFont typeface="Arial" panose="020B0604020202020204" pitchFamily="34" charset="0"/>
              <a:buChar char="•"/>
            </a:pPr>
            <a:r>
              <a:rPr lang="en-US" dirty="0"/>
              <a:t>YouTube analytics </a:t>
            </a:r>
          </a:p>
          <a:p>
            <a:pPr>
              <a:buFont typeface="Arial" panose="020B0604020202020204" pitchFamily="34" charset="0"/>
              <a:buChar char="•"/>
            </a:pPr>
            <a:r>
              <a:rPr lang="en-US" dirty="0"/>
              <a:t>Google Search </a:t>
            </a:r>
          </a:p>
          <a:p>
            <a:pPr>
              <a:buFont typeface="Arial" panose="020B0604020202020204" pitchFamily="34" charset="0"/>
              <a:buChar char="•"/>
            </a:pPr>
            <a:r>
              <a:rPr lang="en-US" dirty="0"/>
              <a:t>Instagram backend </a:t>
            </a:r>
          </a:p>
          <a:p>
            <a:pPr>
              <a:buFont typeface="Arial" panose="020B0604020202020204" pitchFamily="34" charset="0"/>
              <a:buChar char="•"/>
            </a:pPr>
            <a:r>
              <a:rPr lang="en-US" dirty="0"/>
              <a:t>Chatbots </a:t>
            </a:r>
          </a:p>
          <a:p>
            <a:pPr>
              <a:buFont typeface="Arial" panose="020B0604020202020204" pitchFamily="34" charset="0"/>
              <a:buChar char="•"/>
            </a:pPr>
            <a:r>
              <a:rPr lang="en-US" dirty="0"/>
              <a:t>Face recognition </a:t>
            </a:r>
          </a:p>
          <a:p>
            <a:pPr>
              <a:buFont typeface="Arial" panose="020B0604020202020204" pitchFamily="34" charset="0"/>
              <a:buChar char="•"/>
            </a:pPr>
            <a:r>
              <a:rPr lang="en-US" dirty="0"/>
              <a:t>Weather forecasting </a:t>
            </a:r>
          </a:p>
          <a:p>
            <a:pPr>
              <a:buFont typeface="Arial" panose="020B0604020202020204" pitchFamily="34" charset="0"/>
              <a:buChar char="•"/>
            </a:pPr>
            <a:r>
              <a:rPr lang="en-US" dirty="0"/>
              <a:t>Stock market prediction </a:t>
            </a:r>
          </a:p>
          <a:p>
            <a:pPr algn="l"/>
            <a:r>
              <a:rPr lang="en-US" b="1" dirty="0"/>
              <a:t>Question: </a:t>
            </a:r>
            <a:r>
              <a:rPr lang="en-US" dirty="0"/>
              <a:t/>
            </a:r>
            <a:br>
              <a:rPr lang="en-US" dirty="0"/>
            </a:br>
            <a:r>
              <a:rPr lang="en-US" dirty="0"/>
              <a:t>"Can anyone name an application they use every day that is built with Python?"</a:t>
            </a:r>
          </a:p>
          <a:p>
            <a:endParaRPr lang="en-US" dirty="0"/>
          </a:p>
        </p:txBody>
      </p:sp>
    </p:spTree>
    <p:extLst>
      <p:ext uri="{BB962C8B-B14F-4D97-AF65-F5344CB8AC3E}">
        <p14:creationId xmlns:p14="http://schemas.microsoft.com/office/powerpoint/2010/main" val="26867919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Hello World using Python</a:t>
            </a:r>
            <a:endParaRPr lang="en-US" dirty="0"/>
          </a:p>
        </p:txBody>
      </p:sp>
      <p:sp>
        <p:nvSpPr>
          <p:cNvPr id="3" name="Content Placeholder 2"/>
          <p:cNvSpPr>
            <a:spLocks noGrp="1"/>
          </p:cNvSpPr>
          <p:nvPr>
            <p:ph idx="1"/>
          </p:nvPr>
        </p:nvSpPr>
        <p:spPr/>
        <p:txBody>
          <a:bodyPr/>
          <a:lstStyle/>
          <a:p>
            <a:r>
              <a:rPr lang="en-IN" dirty="0"/>
              <a:t>To write python programs, we can use any text editors or IDE (Integrated Development Environment), like Visual Studio Code.</a:t>
            </a:r>
          </a:p>
          <a:p>
            <a:r>
              <a:rPr lang="en-IN" dirty="0"/>
              <a:t>Create new file in editor, save it as </a:t>
            </a:r>
            <a:r>
              <a:rPr lang="en-IN" b="1" dirty="0"/>
              <a:t>first</a:t>
            </a:r>
            <a:r>
              <a:rPr lang="en-IN" b="1" dirty="0">
                <a:solidFill>
                  <a:srgbClr val="FF0000"/>
                </a:solidFill>
              </a:rPr>
              <a:t>.py </a:t>
            </a:r>
            <a:r>
              <a:rPr lang="en-IN" dirty="0"/>
              <a:t>(Extensions for python programs will be .</a:t>
            </a:r>
            <a:r>
              <a:rPr lang="en-IN" dirty="0" err="1"/>
              <a:t>py</a:t>
            </a:r>
            <a:r>
              <a:rPr lang="en-IN" dirty="0"/>
              <a:t>)</a:t>
            </a:r>
          </a:p>
          <a:p>
            <a:endParaRPr lang="en-IN" dirty="0"/>
          </a:p>
          <a:p>
            <a:endParaRPr lang="en-IN" dirty="0"/>
          </a:p>
          <a:p>
            <a:r>
              <a:rPr lang="en-IN" dirty="0"/>
              <a:t>To run the python file open command prompt and change directory to where your python file is</a:t>
            </a:r>
          </a:p>
          <a:p>
            <a:pPr marL="0" indent="0">
              <a:buNone/>
            </a:pPr>
            <a:endParaRPr lang="en-IN" dirty="0"/>
          </a:p>
          <a:p>
            <a:pPr marL="0" indent="0">
              <a:buNone/>
            </a:pPr>
            <a:r>
              <a:rPr lang="en-IN" dirty="0"/>
              <a:t>Next, Using </a:t>
            </a:r>
            <a:r>
              <a:rPr lang="en-IN" dirty="0" err="1"/>
              <a:t>Jupyter</a:t>
            </a:r>
            <a:r>
              <a:rPr lang="en-IN" dirty="0"/>
              <a:t> Notebook</a:t>
            </a:r>
          </a:p>
          <a:p>
            <a:pPr marL="1001712" lvl="1" indent="-457200">
              <a:buFont typeface="+mj-lt"/>
              <a:buAutoNum type="arabicPeriod"/>
            </a:pPr>
            <a:r>
              <a:rPr lang="en-IN" dirty="0"/>
              <a:t>Install anaconda navigator </a:t>
            </a:r>
          </a:p>
          <a:p>
            <a:pPr marL="1001712" lvl="1" indent="-457200">
              <a:buFont typeface="+mj-lt"/>
              <a:buAutoNum type="arabicPeriod"/>
            </a:pPr>
            <a:r>
              <a:rPr lang="en-IN" dirty="0"/>
              <a:t>Open Anaconda Navigator</a:t>
            </a:r>
          </a:p>
          <a:p>
            <a:pPr marL="1001712" lvl="1" indent="-457200">
              <a:buFont typeface="+mj-lt"/>
              <a:buAutoNum type="arabicPeriod"/>
            </a:pPr>
            <a:r>
              <a:rPr lang="en-IN" dirty="0"/>
              <a:t>Launch </a:t>
            </a:r>
            <a:r>
              <a:rPr lang="en-IN" dirty="0" err="1"/>
              <a:t>Jupyter</a:t>
            </a:r>
            <a:r>
              <a:rPr lang="en-IN" dirty="0"/>
              <a:t> Notebook</a:t>
            </a:r>
          </a:p>
          <a:p>
            <a:pPr marL="1001712" lvl="1" indent="-457200">
              <a:buFont typeface="+mj-lt"/>
              <a:buAutoNum type="arabicPeriod"/>
            </a:pPr>
            <a:r>
              <a:rPr lang="en-IN" dirty="0"/>
              <a:t>Create New Notebook</a:t>
            </a:r>
          </a:p>
        </p:txBody>
      </p:sp>
      <p:pic>
        <p:nvPicPr>
          <p:cNvPr id="30725" name="Picture 5"/>
          <p:cNvPicPr>
            <a:picLocks noChangeAspect="1" noChangeArrowheads="1"/>
          </p:cNvPicPr>
          <p:nvPr/>
        </p:nvPicPr>
        <p:blipFill>
          <a:blip r:embed="rId2" cstate="print"/>
          <a:srcRect/>
          <a:stretch>
            <a:fillRect/>
          </a:stretch>
        </p:blipFill>
        <p:spPr bwMode="auto">
          <a:xfrm>
            <a:off x="1265512" y="3417743"/>
            <a:ext cx="5386917" cy="503410"/>
          </a:xfrm>
          <a:prstGeom prst="rect">
            <a:avLst/>
          </a:prstGeom>
          <a:noFill/>
          <a:ln w="9525">
            <a:noFill/>
            <a:miter lim="800000"/>
            <a:headEnd/>
            <a:tailEnd/>
          </a:ln>
        </p:spPr>
      </p:pic>
      <p:sp>
        <p:nvSpPr>
          <p:cNvPr id="8" name="Rectangle 7">
            <a:extLst>
              <a:ext uri="{FF2B5EF4-FFF2-40B4-BE49-F238E27FC236}">
                <a16:creationId xmlns:a16="http://schemas.microsoft.com/office/drawing/2014/main" xmlns="" id="{D456EBDA-49A4-A843-A786-6989C63A54AA}"/>
              </a:ext>
            </a:extLst>
          </p:cNvPr>
          <p:cNvSpPr/>
          <p:nvPr/>
        </p:nvSpPr>
        <p:spPr>
          <a:xfrm>
            <a:off x="1515509" y="2431038"/>
            <a:ext cx="4034391" cy="33855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print(</a:t>
            </a:r>
            <a:r>
              <a:rPr lang="en-US" sz="1600" dirty="0">
                <a:solidFill>
                  <a:srgbClr val="A31515"/>
                </a:solidFill>
                <a:latin typeface="Consolas"/>
              </a:rPr>
              <a:t>"Hello World from python"</a:t>
            </a:r>
            <a:r>
              <a:rPr lang="en-US" sz="1600" dirty="0">
                <a:solidFill>
                  <a:srgbClr val="000000"/>
                </a:solidFill>
                <a:latin typeface="Consolas"/>
              </a:rPr>
              <a:t>)</a:t>
            </a:r>
            <a:endParaRPr lang="en-US" sz="1600" b="0" dirty="0">
              <a:solidFill>
                <a:srgbClr val="000000"/>
              </a:solidFill>
              <a:latin typeface="Consolas"/>
            </a:endParaRPr>
          </a:p>
        </p:txBody>
      </p:sp>
      <p:sp>
        <p:nvSpPr>
          <p:cNvPr id="9" name="Rectangle 8">
            <a:extLst>
              <a:ext uri="{FF2B5EF4-FFF2-40B4-BE49-F238E27FC236}">
                <a16:creationId xmlns:a16="http://schemas.microsoft.com/office/drawing/2014/main" xmlns="" id="{35F9F4A0-4592-C04D-B2D0-0BF66A3BFA20}"/>
              </a:ext>
            </a:extLst>
          </p:cNvPr>
          <p:cNvSpPr/>
          <p:nvPr/>
        </p:nvSpPr>
        <p:spPr>
          <a:xfrm>
            <a:off x="1015516" y="2431038"/>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11" name="Rectangle: Top Corners Rounded 6">
            <a:extLst>
              <a:ext uri="{FF2B5EF4-FFF2-40B4-BE49-F238E27FC236}">
                <a16:creationId xmlns:a16="http://schemas.microsoft.com/office/drawing/2014/main" xmlns="" id="{0336C271-A2A3-9445-9946-5006F0A250F4}"/>
              </a:ext>
            </a:extLst>
          </p:cNvPr>
          <p:cNvSpPr/>
          <p:nvPr/>
        </p:nvSpPr>
        <p:spPr>
          <a:xfrm>
            <a:off x="1015516" y="2101854"/>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first.py</a:t>
            </a:r>
          </a:p>
        </p:txBody>
      </p:sp>
      <p:sp>
        <p:nvSpPr>
          <p:cNvPr id="10" name="Line Callout 1 9"/>
          <p:cNvSpPr/>
          <p:nvPr/>
        </p:nvSpPr>
        <p:spPr>
          <a:xfrm>
            <a:off x="5884333" y="2040468"/>
            <a:ext cx="4495800" cy="626533"/>
          </a:xfrm>
          <a:prstGeom prst="borderCallout1">
            <a:avLst>
              <a:gd name="adj1" fmla="val 53885"/>
              <a:gd name="adj2" fmla="val -612"/>
              <a:gd name="adj3" fmla="val 89527"/>
              <a:gd name="adj4" fmla="val -1479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Python line does not end with </a:t>
            </a:r>
            <a:r>
              <a:rPr lang="en-IN" b="1" dirty="0">
                <a:solidFill>
                  <a:srgbClr val="FF0000"/>
                </a:solidFill>
              </a:rPr>
              <a:t>;</a:t>
            </a:r>
            <a:endParaRPr 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7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build="p" animBg="1"/>
      <p:bldP spid="9" grpId="0" animBg="1"/>
      <p:bldP spid="11" grpId="0" animBg="1"/>
      <p:bldP spid="10" grpId="0" animBg="1"/>
      <p:bldP spid="10" grpId="1"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FB30B2-F06C-26AE-AEA8-7E01AFEA1D01}"/>
              </a:ext>
            </a:extLst>
          </p:cNvPr>
          <p:cNvSpPr>
            <a:spLocks noGrp="1"/>
          </p:cNvSpPr>
          <p:nvPr>
            <p:ph type="title"/>
          </p:nvPr>
        </p:nvSpPr>
        <p:spPr/>
        <p:txBody>
          <a:bodyPr/>
          <a:lstStyle/>
          <a:p>
            <a:r>
              <a:rPr lang="en-US" dirty="0" err="1"/>
              <a:t>Jupyter</a:t>
            </a:r>
            <a:r>
              <a:rPr lang="en-US" dirty="0"/>
              <a:t> Notebook</a:t>
            </a:r>
          </a:p>
        </p:txBody>
      </p:sp>
      <p:sp>
        <p:nvSpPr>
          <p:cNvPr id="3" name="Content Placeholder 2">
            <a:extLst>
              <a:ext uri="{FF2B5EF4-FFF2-40B4-BE49-F238E27FC236}">
                <a16:creationId xmlns:a16="http://schemas.microsoft.com/office/drawing/2014/main" xmlns="" id="{394139ED-D9CD-EA36-A4BF-9A43784D162B}"/>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xmlns="" id="{AEA10855-6BFE-C22F-1CBD-AC62F5EBBDD8}"/>
              </a:ext>
            </a:extLst>
          </p:cNvPr>
          <p:cNvPicPr>
            <a:picLocks noChangeAspect="1"/>
          </p:cNvPicPr>
          <p:nvPr/>
        </p:nvPicPr>
        <p:blipFill>
          <a:blip r:embed="rId2"/>
          <a:stretch>
            <a:fillRect/>
          </a:stretch>
        </p:blipFill>
        <p:spPr>
          <a:xfrm>
            <a:off x="0" y="711201"/>
            <a:ext cx="12192000" cy="6483692"/>
          </a:xfrm>
          <a:prstGeom prst="rect">
            <a:avLst/>
          </a:prstGeom>
        </p:spPr>
      </p:pic>
    </p:spTree>
    <p:extLst>
      <p:ext uri="{BB962C8B-B14F-4D97-AF65-F5344CB8AC3E}">
        <p14:creationId xmlns:p14="http://schemas.microsoft.com/office/powerpoint/2010/main" val="8669778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4F105E-EB57-1FD8-846E-19534F9B66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20EC3AA-209A-294F-7F03-EF9D22E757E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xmlns="" id="{E94116B6-72A5-F23B-F1C3-5EFE6669002D}"/>
              </a:ext>
            </a:extLst>
          </p:cNvPr>
          <p:cNvPicPr>
            <a:picLocks noChangeAspect="1"/>
          </p:cNvPicPr>
          <p:nvPr/>
        </p:nvPicPr>
        <p:blipFill>
          <a:blip r:embed="rId2"/>
          <a:stretch>
            <a:fillRect/>
          </a:stretch>
        </p:blipFill>
        <p:spPr>
          <a:xfrm>
            <a:off x="27331" y="0"/>
            <a:ext cx="12137338" cy="6858000"/>
          </a:xfrm>
          <a:prstGeom prst="rect">
            <a:avLst/>
          </a:prstGeom>
        </p:spPr>
      </p:pic>
    </p:spTree>
    <p:extLst>
      <p:ext uri="{BB962C8B-B14F-4D97-AF65-F5344CB8AC3E}">
        <p14:creationId xmlns:p14="http://schemas.microsoft.com/office/powerpoint/2010/main" val="25738342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8B651-118D-8635-5ADF-DDBF23C986CD}"/>
              </a:ext>
            </a:extLst>
          </p:cNvPr>
          <p:cNvSpPr>
            <a:spLocks noGrp="1"/>
          </p:cNvSpPr>
          <p:nvPr>
            <p:ph type="title"/>
          </p:nvPr>
        </p:nvSpPr>
        <p:spPr/>
        <p:txBody>
          <a:bodyPr/>
          <a:lstStyle/>
          <a:p>
            <a:r>
              <a:rPr lang="en-US" dirty="0"/>
              <a:t>Python Input Function</a:t>
            </a:r>
          </a:p>
        </p:txBody>
      </p:sp>
      <p:sp>
        <p:nvSpPr>
          <p:cNvPr id="3" name="Content Placeholder 2">
            <a:extLst>
              <a:ext uri="{FF2B5EF4-FFF2-40B4-BE49-F238E27FC236}">
                <a16:creationId xmlns:a16="http://schemas.microsoft.com/office/drawing/2014/main" xmlns="" id="{03C013D9-D501-56E1-C9D6-3653BC3B8947}"/>
              </a:ext>
            </a:extLst>
          </p:cNvPr>
          <p:cNvSpPr>
            <a:spLocks noGrp="1"/>
          </p:cNvSpPr>
          <p:nvPr>
            <p:ph idx="1"/>
          </p:nvPr>
        </p:nvSpPr>
        <p:spPr/>
        <p:txBody>
          <a:bodyPr/>
          <a:lstStyle/>
          <a:p>
            <a:pPr marL="0" indent="0">
              <a:buNone/>
            </a:pPr>
            <a:r>
              <a:rPr lang="en-US" b="1" dirty="0">
                <a:solidFill>
                  <a:srgbClr val="FF0000"/>
                </a:solidFill>
              </a:rPr>
              <a:t>Example 1</a:t>
            </a:r>
            <a:r>
              <a:rPr lang="en-US" dirty="0"/>
              <a:t> :</a:t>
            </a:r>
            <a:r>
              <a:rPr lang="en-US" sz="1800" b="1" dirty="0"/>
              <a:t>name = input("Enter your name: ")</a:t>
            </a:r>
          </a:p>
          <a:p>
            <a:pPr marL="0" indent="0">
              <a:buNone/>
            </a:pPr>
            <a:r>
              <a:rPr lang="en-US" sz="1800" b="1" dirty="0"/>
              <a:t>                           print("Hello,", name, "! Welcome!")</a:t>
            </a:r>
          </a:p>
          <a:p>
            <a:pPr marL="0" indent="0">
              <a:buNone/>
            </a:pPr>
            <a:r>
              <a:rPr lang="en-US" b="1" dirty="0">
                <a:solidFill>
                  <a:srgbClr val="FF0000"/>
                </a:solidFill>
              </a:rPr>
              <a:t>Example 2:</a:t>
            </a:r>
            <a:endParaRPr lang="en-US" dirty="0"/>
          </a:p>
          <a:p>
            <a:pPr marL="1792287" lvl="4" indent="0">
              <a:buNone/>
            </a:pPr>
            <a:r>
              <a:rPr lang="en-US" b="1" dirty="0"/>
              <a:t>s = "Brad"</a:t>
            </a:r>
          </a:p>
          <a:p>
            <a:pPr marL="1792287" lvl="4" indent="0">
              <a:buNone/>
            </a:pPr>
            <a:r>
              <a:rPr lang="en-US" b="1" dirty="0"/>
              <a:t>print(s)</a:t>
            </a:r>
          </a:p>
          <a:p>
            <a:pPr marL="1792287" lvl="4" indent="0">
              <a:buNone/>
            </a:pPr>
            <a:r>
              <a:rPr lang="en-US" b="1" dirty="0"/>
              <a:t>s = "Anjelina"</a:t>
            </a:r>
          </a:p>
          <a:p>
            <a:pPr marL="1792287" lvl="4" indent="0">
              <a:buNone/>
            </a:pPr>
            <a:r>
              <a:rPr lang="en-US" b="1" dirty="0"/>
              <a:t>age = 25</a:t>
            </a:r>
          </a:p>
          <a:p>
            <a:pPr marL="1792287" lvl="4" indent="0">
              <a:buNone/>
            </a:pPr>
            <a:r>
              <a:rPr lang="en-US" b="1" dirty="0"/>
              <a:t>city = "New York"</a:t>
            </a:r>
          </a:p>
          <a:p>
            <a:pPr marL="1792287" lvl="4" indent="0">
              <a:buNone/>
            </a:pPr>
            <a:r>
              <a:rPr lang="en-US" b="1" dirty="0"/>
              <a:t>print(s, age, city)</a:t>
            </a:r>
          </a:p>
          <a:p>
            <a:pPr marL="0" lvl="4" indent="0">
              <a:spcBef>
                <a:spcPts val="1000"/>
              </a:spcBef>
              <a:buNone/>
            </a:pPr>
            <a:r>
              <a:rPr lang="en-US" sz="2400" b="1" dirty="0">
                <a:solidFill>
                  <a:srgbClr val="FF0000"/>
                </a:solidFill>
              </a:rPr>
              <a:t>Example 3:      </a:t>
            </a:r>
            <a:r>
              <a:rPr lang="en-US" b="1" dirty="0"/>
              <a:t>x, y = input("Enter two numbers: ").split()</a:t>
            </a:r>
          </a:p>
          <a:p>
            <a:pPr marL="1792287" lvl="4" indent="0">
              <a:buNone/>
            </a:pPr>
            <a:r>
              <a:rPr lang="en-US" b="1" dirty="0"/>
              <a:t>print(x , y)</a:t>
            </a:r>
          </a:p>
          <a:p>
            <a:pPr marL="1792287" lvl="4" indent="0">
              <a:buNone/>
            </a:pPr>
            <a:endParaRPr lang="en-US" b="1" dirty="0"/>
          </a:p>
          <a:p>
            <a:pPr marL="0" lvl="4" indent="0">
              <a:buNone/>
            </a:pPr>
            <a:r>
              <a:rPr lang="en-US" sz="2400" b="1" dirty="0">
                <a:solidFill>
                  <a:srgbClr val="FF0000"/>
                </a:solidFill>
              </a:rPr>
              <a:t>Example 4:      </a:t>
            </a:r>
            <a:r>
              <a:rPr lang="en-US" b="1" dirty="0" err="1"/>
              <a:t>i</a:t>
            </a:r>
            <a:r>
              <a:rPr lang="en-US" b="1" dirty="0"/>
              <a:t> = int(input("How old are you?: "))</a:t>
            </a:r>
          </a:p>
          <a:p>
            <a:pPr marL="0" lvl="4" indent="0">
              <a:buNone/>
            </a:pPr>
            <a:r>
              <a:rPr lang="en-US" b="1" dirty="0"/>
              <a:t>		f = float(input("Evaluate 7/2: "))</a:t>
            </a:r>
          </a:p>
          <a:p>
            <a:pPr marL="0" lvl="4" indent="0">
              <a:buNone/>
            </a:pPr>
            <a:r>
              <a:rPr lang="en-US" b="1" dirty="0"/>
              <a:t>		print(</a:t>
            </a:r>
            <a:r>
              <a:rPr lang="en-US" b="1" dirty="0" err="1"/>
              <a:t>i</a:t>
            </a:r>
            <a:r>
              <a:rPr lang="en-US" b="1" dirty="0"/>
              <a:t>, f)</a:t>
            </a:r>
          </a:p>
        </p:txBody>
      </p:sp>
    </p:spTree>
    <p:extLst>
      <p:ext uri="{BB962C8B-B14F-4D97-AF65-F5344CB8AC3E}">
        <p14:creationId xmlns:p14="http://schemas.microsoft.com/office/powerpoint/2010/main" val="37913399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types in Python</a:t>
            </a:r>
            <a:endParaRPr lang="en-US" dirty="0"/>
          </a:p>
        </p:txBody>
      </p:sp>
      <p:graphicFrame>
        <p:nvGraphicFramePr>
          <p:cNvPr id="4" name="Content Placeholder 4">
            <a:extLst>
              <a:ext uri="{FF2B5EF4-FFF2-40B4-BE49-F238E27FC236}">
                <a16:creationId xmlns:a16="http://schemas.microsoft.com/office/drawing/2014/main" xmlns="" id="{2486BC6F-42B7-4A1D-889E-1B1818D1D5FB}"/>
              </a:ext>
            </a:extLst>
          </p:cNvPr>
          <p:cNvGraphicFramePr>
            <a:graphicFrameLocks/>
          </p:cNvGraphicFramePr>
          <p:nvPr>
            <p:extLst>
              <p:ext uri="{D42A27DB-BD31-4B8C-83A1-F6EECF244321}">
                <p14:modId xmlns:p14="http://schemas.microsoft.com/office/powerpoint/2010/main" val="504945898"/>
              </p:ext>
            </p:extLst>
          </p:nvPr>
        </p:nvGraphicFramePr>
        <p:xfrm>
          <a:off x="360825" y="812705"/>
          <a:ext cx="11413358" cy="2468880"/>
        </p:xfrm>
        <a:graphic>
          <a:graphicData uri="http://schemas.openxmlformats.org/drawingml/2006/table">
            <a:tbl>
              <a:tblPr firstRow="1" bandRow="1">
                <a:tableStyleId>{8EC20E35-A176-4012-BC5E-935CFFF8708E}</a:tableStyleId>
              </a:tblPr>
              <a:tblGrid>
                <a:gridCol w="1354959">
                  <a:extLst>
                    <a:ext uri="{9D8B030D-6E8A-4147-A177-3AD203B41FA5}">
                      <a16:colId xmlns:a16="http://schemas.microsoft.com/office/drawing/2014/main" xmlns="" val="20000"/>
                    </a:ext>
                  </a:extLst>
                </a:gridCol>
                <a:gridCol w="1109609">
                  <a:extLst>
                    <a:ext uri="{9D8B030D-6E8A-4147-A177-3AD203B41FA5}">
                      <a16:colId xmlns:a16="http://schemas.microsoft.com/office/drawing/2014/main" xmlns="" val="20001"/>
                    </a:ext>
                  </a:extLst>
                </a:gridCol>
                <a:gridCol w="8948790">
                  <a:extLst>
                    <a:ext uri="{9D8B030D-6E8A-4147-A177-3AD203B41FA5}">
                      <a16:colId xmlns:a16="http://schemas.microsoft.com/office/drawing/2014/main" xmlns="" val="20002"/>
                    </a:ext>
                  </a:extLst>
                </a:gridCol>
              </a:tblGrid>
              <a:tr h="411480">
                <a:tc>
                  <a:txBody>
                    <a:bodyPr/>
                    <a:lstStyle/>
                    <a:p>
                      <a:r>
                        <a:rPr lang="en-US" b="1"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Type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val="10001"/>
                  </a:ext>
                </a:extLst>
              </a:tr>
              <a:tr h="411480">
                <a:tc gridSpan="3">
                  <a:txBody>
                    <a:bodyPr/>
                    <a:lstStyle/>
                    <a:p>
                      <a:pPr marL="0" algn="ctr" defTabSz="914400" rtl="0" eaLnBrk="1" latinLnBrk="0" hangingPunct="1"/>
                      <a:r>
                        <a:rPr lang="en-US" sz="1900" b="1" kern="1200" dirty="0">
                          <a:solidFill>
                            <a:srgbClr val="FF0000"/>
                          </a:solidFill>
                          <a:latin typeface="+mn-lt"/>
                          <a:ea typeface="+mn-ea"/>
                          <a:cs typeface="+mn-cs"/>
                        </a:rPr>
                        <a:t>Data Types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algn="ct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pPr algn="l"/>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r h="411480">
                <a:tc>
                  <a:txBody>
                    <a:bodyPr/>
                    <a:lstStyle/>
                    <a:p>
                      <a:r>
                        <a:rPr lang="en-US" sz="1900" dirty="0"/>
                        <a:t>Integer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err="1">
                          <a:solidFill>
                            <a:schemeClr val="tx2"/>
                          </a:solidFill>
                        </a:rPr>
                        <a:t>int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dirty="0">
                          <a:solidFill>
                            <a:schemeClr val="tx1"/>
                          </a:solidFill>
                        </a:rPr>
                        <a:t>Whole number such as 0,1,5,</a:t>
                      </a:r>
                      <a:r>
                        <a:rPr lang="en-US" sz="2000" baseline="0" dirty="0">
                          <a:solidFill>
                            <a:schemeClr val="tx1"/>
                          </a:solidFill>
                        </a:rPr>
                        <a:t> -5 etc..</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11480">
                <a:tc>
                  <a:txBody>
                    <a:bodyPr/>
                    <a:lstStyle/>
                    <a:p>
                      <a:r>
                        <a:rPr lang="en-US" sz="1900" dirty="0"/>
                        <a:t>Float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2"/>
                          </a:solidFill>
                        </a:rPr>
                        <a:t>float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dirty="0">
                          <a:solidFill>
                            <a:schemeClr val="tx1"/>
                          </a:solidFill>
                        </a:rPr>
                        <a:t>Numbers with decimal points such as 1.5, 7.9</a:t>
                      </a:r>
                      <a:r>
                        <a:rPr lang="en-US" sz="2000" baseline="0" dirty="0">
                          <a:solidFill>
                            <a:schemeClr val="tx1"/>
                          </a:solidFill>
                        </a:rPr>
                        <a:t>, -8.2 etc..</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11480">
                <a:tc>
                  <a:txBody>
                    <a:bodyPr/>
                    <a:lstStyle/>
                    <a:p>
                      <a:r>
                        <a:rPr lang="en-US" sz="1900" dirty="0"/>
                        <a:t>String</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err="1">
                          <a:solidFill>
                            <a:schemeClr val="tx2"/>
                          </a:solidFill>
                        </a:rPr>
                        <a:t>str</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dirty="0">
                          <a:solidFill>
                            <a:schemeClr val="tx1"/>
                          </a:solidFill>
                        </a:rPr>
                        <a:t>Sequence of character (Ordered) such as “</a:t>
                      </a:r>
                      <a:r>
                        <a:rPr lang="en-US" sz="2000" dirty="0" err="1">
                          <a:solidFill>
                            <a:schemeClr val="tx1"/>
                          </a:solidFill>
                        </a:rPr>
                        <a:t>abc</a:t>
                      </a:r>
                      <a:r>
                        <a:rPr lang="en-US" sz="2000" dirty="0">
                          <a:solidFill>
                            <a:schemeClr val="tx1"/>
                          </a:solidFill>
                        </a:rPr>
                        <a:t>”, ‘college’ etc..</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411480">
                <a:tc>
                  <a:txBody>
                    <a:bodyPr/>
                    <a:lstStyle/>
                    <a:p>
                      <a:r>
                        <a:rPr lang="en-US" sz="1900" dirty="0"/>
                        <a:t>Boolean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err="1">
                          <a:solidFill>
                            <a:schemeClr val="tx2"/>
                          </a:solidFill>
                        </a:rPr>
                        <a:t>bool</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dirty="0">
                          <a:solidFill>
                            <a:schemeClr val="tx1"/>
                          </a:solidFill>
                        </a:rPr>
                        <a:t>Logical</a:t>
                      </a:r>
                      <a:r>
                        <a:rPr lang="en-US" sz="2000" baseline="0" dirty="0">
                          <a:solidFill>
                            <a:schemeClr val="tx1"/>
                          </a:solidFill>
                        </a:rPr>
                        <a:t> values indicating </a:t>
                      </a:r>
                      <a:r>
                        <a:rPr lang="en-US" sz="2000" b="1" baseline="0" dirty="0" err="1">
                          <a:solidFill>
                            <a:srgbClr val="FF0000"/>
                          </a:solidFill>
                        </a:rPr>
                        <a:t>T</a:t>
                      </a:r>
                      <a:r>
                        <a:rPr lang="en-US" sz="2000" baseline="0" dirty="0" err="1">
                          <a:solidFill>
                            <a:schemeClr val="tx1"/>
                          </a:solidFill>
                        </a:rPr>
                        <a:t>ure</a:t>
                      </a:r>
                      <a:r>
                        <a:rPr lang="en-US" sz="2000" baseline="0" dirty="0">
                          <a:solidFill>
                            <a:schemeClr val="tx1"/>
                          </a:solidFill>
                        </a:rPr>
                        <a:t> or </a:t>
                      </a:r>
                      <a:r>
                        <a:rPr lang="en-US" sz="2000" b="1" baseline="0" dirty="0">
                          <a:solidFill>
                            <a:srgbClr val="FF0000"/>
                          </a:solidFill>
                        </a:rPr>
                        <a:t>F</a:t>
                      </a:r>
                      <a:r>
                        <a:rPr lang="en-US" sz="2000" baseline="0" dirty="0">
                          <a:solidFill>
                            <a:schemeClr val="tx1"/>
                          </a:solidFill>
                        </a:rPr>
                        <a:t>alse (T and F here are capital in python)</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6"/>
                  </a:ext>
                </a:extLst>
              </a:tr>
            </a:tbl>
          </a:graphicData>
        </a:graphic>
      </p:graphicFrame>
      <p:graphicFrame>
        <p:nvGraphicFramePr>
          <p:cNvPr id="5" name="Content Placeholder 4">
            <a:extLst>
              <a:ext uri="{FF2B5EF4-FFF2-40B4-BE49-F238E27FC236}">
                <a16:creationId xmlns:a16="http://schemas.microsoft.com/office/drawing/2014/main" xmlns="" id="{2486BC6F-42B7-4A1D-889E-1B1818D1D5FB}"/>
              </a:ext>
            </a:extLst>
          </p:cNvPr>
          <p:cNvGraphicFramePr>
            <a:graphicFrameLocks/>
          </p:cNvGraphicFramePr>
          <p:nvPr>
            <p:extLst>
              <p:ext uri="{D42A27DB-BD31-4B8C-83A1-F6EECF244321}">
                <p14:modId xmlns:p14="http://schemas.microsoft.com/office/powerpoint/2010/main" val="1873356284"/>
              </p:ext>
            </p:extLst>
          </p:nvPr>
        </p:nvGraphicFramePr>
        <p:xfrm>
          <a:off x="353734" y="3344636"/>
          <a:ext cx="11413358" cy="3520440"/>
        </p:xfrm>
        <a:graphic>
          <a:graphicData uri="http://schemas.openxmlformats.org/drawingml/2006/table">
            <a:tbl>
              <a:tblPr firstRow="1" bandRow="1">
                <a:tableStyleId>{8EC20E35-A176-4012-BC5E-935CFFF8708E}</a:tableStyleId>
              </a:tblPr>
              <a:tblGrid>
                <a:gridCol w="1354959">
                  <a:extLst>
                    <a:ext uri="{9D8B030D-6E8A-4147-A177-3AD203B41FA5}">
                      <a16:colId xmlns:a16="http://schemas.microsoft.com/office/drawing/2014/main" xmlns="" val="20000"/>
                    </a:ext>
                  </a:extLst>
                </a:gridCol>
                <a:gridCol w="1109609">
                  <a:extLst>
                    <a:ext uri="{9D8B030D-6E8A-4147-A177-3AD203B41FA5}">
                      <a16:colId xmlns:a16="http://schemas.microsoft.com/office/drawing/2014/main" xmlns="" val="20001"/>
                    </a:ext>
                  </a:extLst>
                </a:gridCol>
                <a:gridCol w="8948790">
                  <a:extLst>
                    <a:ext uri="{9D8B030D-6E8A-4147-A177-3AD203B41FA5}">
                      <a16:colId xmlns:a16="http://schemas.microsoft.com/office/drawing/2014/main" xmlns="" val="20002"/>
                    </a:ext>
                  </a:extLst>
                </a:gridCol>
              </a:tblGrid>
              <a:tr h="411480">
                <a:tc gridSpan="3">
                  <a:txBody>
                    <a:bodyPr/>
                    <a:lstStyle/>
                    <a:p>
                      <a:pPr algn="ctr"/>
                      <a:r>
                        <a:rPr lang="en-US" sz="1900" dirty="0">
                          <a:solidFill>
                            <a:srgbClr val="FF0000"/>
                          </a:solidFill>
                        </a:rPr>
                        <a:t>Data Structures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algn="ct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hMerge="1">
                  <a:txBody>
                    <a:bodyPr/>
                    <a:lstStyle/>
                    <a:p>
                      <a:pPr algn="l"/>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411480">
                <a:tc>
                  <a:txBody>
                    <a:bodyPr/>
                    <a:lstStyle/>
                    <a:p>
                      <a:r>
                        <a:rPr lang="en-US" sz="1900" dirty="0"/>
                        <a:t>List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2"/>
                          </a:solidFill>
                        </a:rPr>
                        <a:t>list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b="1" dirty="0">
                          <a:solidFill>
                            <a:schemeClr val="tx1"/>
                          </a:solidFill>
                        </a:rPr>
                        <a:t>Ordered</a:t>
                      </a:r>
                      <a:r>
                        <a:rPr lang="en-US" sz="2000" dirty="0">
                          <a:solidFill>
                            <a:schemeClr val="tx1"/>
                          </a:solidFill>
                        </a:rPr>
                        <a:t> Sequence</a:t>
                      </a:r>
                      <a:r>
                        <a:rPr lang="en-US" sz="2000" baseline="0" dirty="0">
                          <a:solidFill>
                            <a:schemeClr val="tx1"/>
                          </a:solidFill>
                        </a:rPr>
                        <a:t> of objects, will be represented with </a:t>
                      </a:r>
                      <a:r>
                        <a:rPr lang="en-US" sz="2000" b="1" baseline="0" dirty="0">
                          <a:solidFill>
                            <a:schemeClr val="tx1"/>
                          </a:solidFill>
                        </a:rPr>
                        <a:t>square</a:t>
                      </a:r>
                      <a:r>
                        <a:rPr lang="en-US" sz="2000" baseline="0" dirty="0">
                          <a:solidFill>
                            <a:schemeClr val="tx1"/>
                          </a:solidFill>
                        </a:rPr>
                        <a:t> brackets </a:t>
                      </a:r>
                      <a:r>
                        <a:rPr lang="en-US" sz="2000" b="1" baseline="0" dirty="0">
                          <a:solidFill>
                            <a:srgbClr val="FF0000"/>
                          </a:solidFill>
                        </a:rPr>
                        <a:t>[ ]</a:t>
                      </a:r>
                    </a:p>
                    <a:p>
                      <a:pPr algn="l"/>
                      <a:r>
                        <a:rPr lang="en-IN" sz="2000" b="0" baseline="0" dirty="0">
                          <a:solidFill>
                            <a:schemeClr val="tx1"/>
                          </a:solidFill>
                        </a:rPr>
                        <a:t>Example : [ 18, “ABCEDEF”,  True, 102.3 ]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7"/>
                  </a:ext>
                </a:extLst>
              </a:tr>
              <a:tr h="411480">
                <a:tc>
                  <a:txBody>
                    <a:bodyPr/>
                    <a:lstStyle/>
                    <a:p>
                      <a:r>
                        <a:rPr lang="en-IN" sz="1900" dirty="0" err="1"/>
                        <a:t>Tuple</a:t>
                      </a:r>
                      <a:endParaRPr lang="en-IN"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err="1">
                          <a:solidFill>
                            <a:schemeClr val="tx2"/>
                          </a:solidFill>
                        </a:rPr>
                        <a:t>tup</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1" dirty="0">
                          <a:solidFill>
                            <a:schemeClr val="tx1"/>
                          </a:solidFill>
                        </a:rPr>
                        <a:t>Ordered</a:t>
                      </a:r>
                      <a:r>
                        <a:rPr lang="en-IN" sz="2000" baseline="0" dirty="0">
                          <a:solidFill>
                            <a:schemeClr val="tx1"/>
                          </a:solidFill>
                        </a:rPr>
                        <a:t> </a:t>
                      </a:r>
                      <a:r>
                        <a:rPr lang="en-IN" sz="2000" b="1" baseline="0" dirty="0">
                          <a:solidFill>
                            <a:schemeClr val="tx1"/>
                          </a:solidFill>
                        </a:rPr>
                        <a:t>immutable</a:t>
                      </a:r>
                      <a:r>
                        <a:rPr lang="en-IN" sz="2000" baseline="0" dirty="0">
                          <a:solidFill>
                            <a:schemeClr val="tx1"/>
                          </a:solidFill>
                        </a:rPr>
                        <a:t> sequence of objects, will be represented with </a:t>
                      </a:r>
                      <a:r>
                        <a:rPr lang="en-IN" sz="2000" b="1" baseline="0" dirty="0">
                          <a:solidFill>
                            <a:schemeClr val="tx1"/>
                          </a:solidFill>
                        </a:rPr>
                        <a:t>round</a:t>
                      </a:r>
                      <a:r>
                        <a:rPr lang="en-IN" sz="2000" baseline="0" dirty="0">
                          <a:solidFill>
                            <a:schemeClr val="tx1"/>
                          </a:solidFill>
                        </a:rPr>
                        <a:t> brackets </a:t>
                      </a:r>
                      <a:r>
                        <a:rPr lang="en-IN" sz="2000" b="1" baseline="0" dirty="0">
                          <a:solidFill>
                            <a:srgbClr val="FF0000"/>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sz="2000" b="0" baseline="0" dirty="0">
                          <a:solidFill>
                            <a:schemeClr val="tx1"/>
                          </a:solidFill>
                        </a:rPr>
                        <a:t>Example : ( 18, “ABCDEF”,  True, 102.3 )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11480">
                <a:tc>
                  <a:txBody>
                    <a:bodyPr/>
                    <a:lstStyle/>
                    <a:p>
                      <a:r>
                        <a:rPr lang="en-IN" sz="1900" dirty="0"/>
                        <a:t>Set</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2"/>
                          </a:solidFill>
                        </a:rPr>
                        <a:t>set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1" dirty="0">
                          <a:solidFill>
                            <a:schemeClr val="tx1"/>
                          </a:solidFill>
                        </a:rPr>
                        <a:t>Unordered</a:t>
                      </a:r>
                      <a:r>
                        <a:rPr lang="en-IN" sz="2000" baseline="0" dirty="0">
                          <a:solidFill>
                            <a:schemeClr val="tx1"/>
                          </a:solidFill>
                        </a:rPr>
                        <a:t> collection of </a:t>
                      </a:r>
                      <a:r>
                        <a:rPr lang="en-IN" sz="2000" b="1" baseline="0" dirty="0">
                          <a:solidFill>
                            <a:schemeClr val="tx1"/>
                          </a:solidFill>
                        </a:rPr>
                        <a:t>unique</a:t>
                      </a:r>
                      <a:r>
                        <a:rPr lang="en-IN" sz="2000" baseline="0" dirty="0">
                          <a:solidFill>
                            <a:schemeClr val="tx1"/>
                          </a:solidFill>
                        </a:rPr>
                        <a:t> objects, will be represented with the </a:t>
                      </a:r>
                      <a:r>
                        <a:rPr lang="en-IN" sz="2000" b="1" baseline="0" dirty="0">
                          <a:solidFill>
                            <a:schemeClr val="tx1"/>
                          </a:solidFill>
                        </a:rPr>
                        <a:t>curly</a:t>
                      </a:r>
                      <a:r>
                        <a:rPr lang="en-IN" sz="2000" baseline="0" dirty="0">
                          <a:solidFill>
                            <a:schemeClr val="tx1"/>
                          </a:solidFill>
                        </a:rPr>
                        <a:t> brackets </a:t>
                      </a:r>
                      <a:r>
                        <a:rPr lang="en-IN" sz="2000" b="1" baseline="0" dirty="0">
                          <a:solidFill>
                            <a:srgbClr val="FF0000"/>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sz="2000" b="0" baseline="0" dirty="0">
                          <a:solidFill>
                            <a:schemeClr val="tx1"/>
                          </a:solidFill>
                        </a:rPr>
                        <a:t>Example : { 18, “ABSDEF”,  True, 102.3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11480">
                <a:tc>
                  <a:txBody>
                    <a:bodyPr/>
                    <a:lstStyle/>
                    <a:p>
                      <a:r>
                        <a:rPr lang="en-US" sz="1900" dirty="0"/>
                        <a:t>Dictionary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err="1">
                          <a:solidFill>
                            <a:schemeClr val="tx2"/>
                          </a:solidFill>
                        </a:rPr>
                        <a:t>dict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b="1" dirty="0">
                          <a:solidFill>
                            <a:schemeClr val="tx1"/>
                          </a:solidFill>
                        </a:rPr>
                        <a:t>Unordered</a:t>
                      </a:r>
                      <a:r>
                        <a:rPr lang="en-US" sz="2000" dirty="0">
                          <a:solidFill>
                            <a:schemeClr val="tx1"/>
                          </a:solidFill>
                        </a:rPr>
                        <a:t> </a:t>
                      </a:r>
                      <a:r>
                        <a:rPr lang="en-US" sz="2000" b="1" dirty="0">
                          <a:solidFill>
                            <a:schemeClr val="tx1"/>
                          </a:solidFill>
                        </a:rPr>
                        <a:t>key </a:t>
                      </a:r>
                      <a:r>
                        <a:rPr lang="en-US" sz="2000" b="1" dirty="0">
                          <a:solidFill>
                            <a:srgbClr val="FF0000"/>
                          </a:solidFill>
                        </a:rPr>
                        <a:t>:</a:t>
                      </a:r>
                      <a:r>
                        <a:rPr lang="en-US" sz="2000" b="1" dirty="0">
                          <a:solidFill>
                            <a:schemeClr val="tx1"/>
                          </a:solidFill>
                        </a:rPr>
                        <a:t> value</a:t>
                      </a:r>
                      <a:r>
                        <a:rPr lang="en-US" sz="2000" baseline="0" dirty="0">
                          <a:solidFill>
                            <a:schemeClr val="tx1"/>
                          </a:solidFill>
                        </a:rPr>
                        <a:t> pair of objects , will be represented with </a:t>
                      </a:r>
                      <a:r>
                        <a:rPr lang="en-US" sz="2000" b="1" baseline="0" dirty="0">
                          <a:solidFill>
                            <a:schemeClr val="tx1"/>
                          </a:solidFill>
                        </a:rPr>
                        <a:t>curly</a:t>
                      </a:r>
                      <a:r>
                        <a:rPr lang="en-US" sz="2000" baseline="0" dirty="0">
                          <a:solidFill>
                            <a:schemeClr val="tx1"/>
                          </a:solidFill>
                        </a:rPr>
                        <a:t> brackets </a:t>
                      </a:r>
                      <a:r>
                        <a:rPr lang="en-US" sz="2000" b="1" baseline="0" dirty="0">
                          <a:solidFill>
                            <a:srgbClr val="FF0000"/>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sz="2000" b="0" baseline="0" dirty="0">
                          <a:solidFill>
                            <a:schemeClr val="tx1"/>
                          </a:solidFill>
                        </a:rPr>
                        <a:t>Example : { “college”: “GEC-</a:t>
                      </a:r>
                      <a:r>
                        <a:rPr lang="en-IN" sz="2000" b="0" baseline="0" dirty="0" err="1">
                          <a:solidFill>
                            <a:schemeClr val="tx1"/>
                          </a:solidFill>
                        </a:rPr>
                        <a:t>Gnagar</a:t>
                      </a:r>
                      <a:r>
                        <a:rPr lang="en-IN" sz="2000" b="0" baseline="0" dirty="0">
                          <a:solidFill>
                            <a:schemeClr val="tx1"/>
                          </a:solidFill>
                        </a:rPr>
                        <a:t>”,  “code”: “054”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Variables in Python</a:t>
            </a:r>
            <a:endParaRPr lang="en-US" dirty="0"/>
          </a:p>
        </p:txBody>
      </p:sp>
      <p:sp>
        <p:nvSpPr>
          <p:cNvPr id="3" name="Content Placeholder 2"/>
          <p:cNvSpPr>
            <a:spLocks noGrp="1"/>
          </p:cNvSpPr>
          <p:nvPr>
            <p:ph idx="1"/>
          </p:nvPr>
        </p:nvSpPr>
        <p:spPr/>
        <p:txBody>
          <a:bodyPr/>
          <a:lstStyle/>
          <a:p>
            <a:r>
              <a:rPr lang="en-US" dirty="0"/>
              <a:t>A Python variable is a reserved memory location to store values.</a:t>
            </a:r>
          </a:p>
          <a:p>
            <a:r>
              <a:rPr lang="en-US" dirty="0"/>
              <a:t>Unlike other programming languages, Python has no command for declaring a variable.</a:t>
            </a:r>
          </a:p>
          <a:p>
            <a:r>
              <a:rPr lang="en-US" dirty="0"/>
              <a:t>A variable is created the moment you first assign a value to it.</a:t>
            </a:r>
          </a:p>
          <a:p>
            <a:r>
              <a:rPr lang="en-IN" dirty="0"/>
              <a:t>Python uses Dynamic Typing so,</a:t>
            </a:r>
            <a:endParaRPr lang="en-US" dirty="0"/>
          </a:p>
          <a:p>
            <a:pPr lvl="1"/>
            <a:r>
              <a:rPr lang="en-IN" dirty="0"/>
              <a:t>We need not to specify the data types to the variable as it will internally assign the data type to the variable according to the value assigned.</a:t>
            </a:r>
          </a:p>
          <a:p>
            <a:pPr lvl="1"/>
            <a:r>
              <a:rPr lang="en-IN" dirty="0"/>
              <a:t>we can also reassign the different data type to the same variable, variable data type will change to new data type automatically.</a:t>
            </a:r>
          </a:p>
          <a:p>
            <a:pPr lvl="1"/>
            <a:r>
              <a:rPr lang="en-IN" dirty="0"/>
              <a:t>We can check the current data type of the variable with </a:t>
            </a:r>
            <a:r>
              <a:rPr lang="en-IN" b="1" dirty="0"/>
              <a:t>type(</a:t>
            </a:r>
            <a:r>
              <a:rPr lang="en-IN" b="1" dirty="0" err="1"/>
              <a:t>variablename</a:t>
            </a:r>
            <a:r>
              <a:rPr lang="en-IN" b="1" dirty="0"/>
              <a:t>)</a:t>
            </a:r>
            <a:r>
              <a:rPr lang="en-IN" dirty="0"/>
              <a:t> in-built function.</a:t>
            </a:r>
          </a:p>
          <a:p>
            <a:r>
              <a:rPr lang="en-IN" dirty="0"/>
              <a:t>Rules for variable name</a:t>
            </a:r>
          </a:p>
          <a:p>
            <a:pPr lvl="1"/>
            <a:r>
              <a:rPr lang="en-IN" dirty="0"/>
              <a:t>Name can not start with digit</a:t>
            </a:r>
          </a:p>
          <a:p>
            <a:pPr lvl="1"/>
            <a:r>
              <a:rPr lang="en-IN" dirty="0"/>
              <a:t>Space not allowed</a:t>
            </a:r>
          </a:p>
          <a:p>
            <a:pPr lvl="1"/>
            <a:r>
              <a:rPr lang="en-IN" dirty="0"/>
              <a:t>Can not contain special character</a:t>
            </a:r>
          </a:p>
          <a:p>
            <a:pPr lvl="1"/>
            <a:r>
              <a:rPr lang="en-IN" dirty="0"/>
              <a:t>Python keywords not allowed</a:t>
            </a:r>
          </a:p>
          <a:p>
            <a:pPr lvl="1"/>
            <a:r>
              <a:rPr lang="en-IN" b="1" dirty="0"/>
              <a:t>Should</a:t>
            </a:r>
            <a:r>
              <a:rPr lang="en-IN" dirty="0"/>
              <a:t> be in lower case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6BECB7-A8A2-0DE3-64AB-57060D177676}"/>
              </a:ext>
            </a:extLst>
          </p:cNvPr>
          <p:cNvSpPr>
            <a:spLocks noGrp="1"/>
          </p:cNvSpPr>
          <p:nvPr>
            <p:ph type="title"/>
          </p:nvPr>
        </p:nvSpPr>
        <p:spPr/>
        <p:txBody>
          <a:bodyPr/>
          <a:lstStyle/>
          <a:p>
            <a:r>
              <a:rPr lang="en-US" dirty="0"/>
              <a:t>Python Variables</a:t>
            </a:r>
          </a:p>
        </p:txBody>
      </p:sp>
      <p:sp>
        <p:nvSpPr>
          <p:cNvPr id="5" name="TextBox 4">
            <a:extLst>
              <a:ext uri="{FF2B5EF4-FFF2-40B4-BE49-F238E27FC236}">
                <a16:creationId xmlns:a16="http://schemas.microsoft.com/office/drawing/2014/main" xmlns="" id="{D5259A33-95F7-32AE-BCB0-3B9ACC0940A2}"/>
              </a:ext>
            </a:extLst>
          </p:cNvPr>
          <p:cNvSpPr txBox="1"/>
          <p:nvPr/>
        </p:nvSpPr>
        <p:spPr>
          <a:xfrm>
            <a:off x="405441" y="863444"/>
            <a:ext cx="6124754" cy="4801314"/>
          </a:xfrm>
          <a:prstGeom prst="rect">
            <a:avLst/>
          </a:prstGeom>
          <a:noFill/>
        </p:spPr>
        <p:txBody>
          <a:bodyPr wrap="square">
            <a:spAutoFit/>
          </a:bodyPr>
          <a:lstStyle/>
          <a:p>
            <a:pPr marL="0" indent="0">
              <a:buNone/>
            </a:pPr>
            <a:r>
              <a:rPr lang="en-US" b="1" dirty="0">
                <a:solidFill>
                  <a:srgbClr val="FF0000"/>
                </a:solidFill>
              </a:rPr>
              <a:t>Example 1</a:t>
            </a:r>
            <a:r>
              <a:rPr lang="en-US" dirty="0"/>
              <a:t> :     </a:t>
            </a:r>
            <a:r>
              <a:rPr lang="en-US" sz="1800" b="1" dirty="0"/>
              <a:t>age = 21</a:t>
            </a:r>
          </a:p>
          <a:p>
            <a:pPr marL="0" indent="0">
              <a:buNone/>
            </a:pPr>
            <a:r>
              <a:rPr lang="en-US" sz="1800" b="1" dirty="0"/>
              <a:t>			_</a:t>
            </a:r>
            <a:r>
              <a:rPr lang="en-US" sz="1800" b="1" dirty="0" err="1"/>
              <a:t>colour</a:t>
            </a:r>
            <a:r>
              <a:rPr lang="en-US" sz="1800" b="1" dirty="0"/>
              <a:t> = "lilac"</a:t>
            </a:r>
          </a:p>
          <a:p>
            <a:pPr marL="0" indent="0">
              <a:buNone/>
            </a:pPr>
            <a:r>
              <a:rPr lang="en-US" sz="1800" b="1" dirty="0"/>
              <a:t>			</a:t>
            </a:r>
            <a:r>
              <a:rPr lang="en-US" sz="1800" b="1" dirty="0" err="1"/>
              <a:t>total_score</a:t>
            </a:r>
            <a:r>
              <a:rPr lang="en-US" sz="1800" b="1" dirty="0"/>
              <a:t> = 90</a:t>
            </a:r>
          </a:p>
          <a:p>
            <a:pPr marL="0" indent="0">
              <a:buNone/>
            </a:pPr>
            <a:r>
              <a:rPr lang="en-US" b="1" dirty="0">
                <a:solidFill>
                  <a:srgbClr val="FF0000"/>
                </a:solidFill>
              </a:rPr>
              <a:t>Example 2:</a:t>
            </a:r>
            <a:endParaRPr lang="en-US" dirty="0"/>
          </a:p>
          <a:p>
            <a:pPr marL="1335087" lvl="3"/>
            <a:r>
              <a:rPr lang="en-US" b="1" dirty="0"/>
              <a:t>1name = "Error"  # Starts with a digit</a:t>
            </a:r>
          </a:p>
          <a:p>
            <a:pPr marL="1335087" lvl="3"/>
            <a:r>
              <a:rPr lang="en-US" b="1" dirty="0"/>
              <a:t>class = 10       # class is a reserved keyword</a:t>
            </a:r>
          </a:p>
          <a:p>
            <a:pPr marL="1335087" lvl="3"/>
            <a:r>
              <a:rPr lang="en-US" b="1" dirty="0"/>
              <a:t>user-name = "Doe"  # Contains a hyphen</a:t>
            </a:r>
          </a:p>
          <a:p>
            <a:pPr marL="1335087" lvl="3"/>
            <a:endParaRPr lang="en-US" b="1" dirty="0"/>
          </a:p>
          <a:p>
            <a:pPr indent="-73026"/>
            <a:r>
              <a:rPr lang="en-US" b="1" dirty="0">
                <a:solidFill>
                  <a:srgbClr val="FF0000"/>
                </a:solidFill>
              </a:rPr>
              <a:t>Example 3:     </a:t>
            </a:r>
            <a:r>
              <a:rPr lang="en-US" b="1" dirty="0"/>
              <a:t>a = b = c = 100</a:t>
            </a:r>
          </a:p>
          <a:p>
            <a:pPr marL="1335087" lvl="3" indent="-36513"/>
            <a:r>
              <a:rPr lang="en-US" b="1" dirty="0"/>
              <a:t>print(a, b, c)</a:t>
            </a:r>
          </a:p>
          <a:p>
            <a:pPr marL="1335087" lvl="3" indent="-36513"/>
            <a:endParaRPr lang="en-US" b="1" dirty="0"/>
          </a:p>
          <a:p>
            <a:pPr marL="0" lvl="4" indent="0">
              <a:buNone/>
            </a:pPr>
            <a:r>
              <a:rPr lang="en-US" b="1" dirty="0">
                <a:solidFill>
                  <a:srgbClr val="FF0000"/>
                </a:solidFill>
              </a:rPr>
              <a:t>Example 4:    </a:t>
            </a:r>
            <a:r>
              <a:rPr lang="en-US" b="1" dirty="0"/>
              <a:t>x, y, z = 1, 2.5, "Python"</a:t>
            </a:r>
          </a:p>
          <a:p>
            <a:pPr marL="0" lvl="4" indent="0">
              <a:buNone/>
            </a:pPr>
            <a:r>
              <a:rPr lang="en-US" b="1" dirty="0"/>
              <a:t>                       print(x, y, z)</a:t>
            </a:r>
          </a:p>
          <a:p>
            <a:pPr marL="0" lvl="4" indent="0">
              <a:buNone/>
            </a:pPr>
            <a:endParaRPr lang="en-US" b="1" dirty="0"/>
          </a:p>
          <a:p>
            <a:pPr marL="0" lvl="4" indent="0">
              <a:buNone/>
            </a:pPr>
            <a:r>
              <a:rPr lang="en-US" b="1" dirty="0">
                <a:solidFill>
                  <a:srgbClr val="FF0000"/>
                </a:solidFill>
              </a:rPr>
              <a:t>Example 5:   </a:t>
            </a:r>
            <a:r>
              <a:rPr lang="it-IT" b="1" dirty="0"/>
              <a:t>x = 10</a:t>
            </a:r>
          </a:p>
          <a:p>
            <a:pPr marL="0" lvl="4" indent="0">
              <a:buNone/>
            </a:pPr>
            <a:r>
              <a:rPr lang="it-IT" b="1" dirty="0"/>
              <a:t>		     del x</a:t>
            </a:r>
          </a:p>
          <a:p>
            <a:pPr marL="0" lvl="4" indent="0">
              <a:buNone/>
            </a:pPr>
            <a:r>
              <a:rPr lang="it-IT" b="1" dirty="0"/>
              <a:t>		    print(x) </a:t>
            </a:r>
            <a:endParaRPr lang="en-US" b="1" dirty="0"/>
          </a:p>
        </p:txBody>
      </p:sp>
      <p:sp>
        <p:nvSpPr>
          <p:cNvPr id="6" name="TextBox 5">
            <a:extLst>
              <a:ext uri="{FF2B5EF4-FFF2-40B4-BE49-F238E27FC236}">
                <a16:creationId xmlns:a16="http://schemas.microsoft.com/office/drawing/2014/main" xmlns="" id="{CBD325D5-C345-FB3B-F041-8CAA87A6B83F}"/>
              </a:ext>
            </a:extLst>
          </p:cNvPr>
          <p:cNvSpPr txBox="1"/>
          <p:nvPr/>
        </p:nvSpPr>
        <p:spPr>
          <a:xfrm>
            <a:off x="6196642" y="711201"/>
            <a:ext cx="6124754" cy="5355312"/>
          </a:xfrm>
          <a:prstGeom prst="rect">
            <a:avLst/>
          </a:prstGeom>
          <a:noFill/>
        </p:spPr>
        <p:txBody>
          <a:bodyPr wrap="square">
            <a:spAutoFit/>
          </a:bodyPr>
          <a:lstStyle/>
          <a:p>
            <a:pPr marL="0" indent="0">
              <a:buNone/>
            </a:pPr>
            <a:r>
              <a:rPr lang="en-US" b="1" dirty="0">
                <a:solidFill>
                  <a:srgbClr val="FF0000"/>
                </a:solidFill>
              </a:rPr>
              <a:t>Example 6</a:t>
            </a:r>
            <a:r>
              <a:rPr lang="en-US" dirty="0"/>
              <a:t> :     </a:t>
            </a:r>
            <a:r>
              <a:rPr lang="es-ES" sz="1800" b="1" dirty="0"/>
              <a:t>x = 1</a:t>
            </a:r>
          </a:p>
          <a:p>
            <a:pPr marL="0" indent="0">
              <a:buNone/>
            </a:pPr>
            <a:r>
              <a:rPr lang="es-ES" sz="1800" b="1" dirty="0"/>
              <a:t>			y = x</a:t>
            </a:r>
          </a:p>
          <a:p>
            <a:pPr marL="0" indent="0">
              <a:buNone/>
            </a:pPr>
            <a:r>
              <a:rPr lang="es-ES" sz="1800" b="1" dirty="0"/>
              <a:t>			y = y + 1</a:t>
            </a:r>
          </a:p>
          <a:p>
            <a:pPr marL="0" indent="0">
              <a:buNone/>
            </a:pPr>
            <a:r>
              <a:rPr lang="es-ES" sz="1800" b="1" dirty="0"/>
              <a:t>			</a:t>
            </a:r>
            <a:r>
              <a:rPr lang="es-ES" sz="1800" b="1" dirty="0" err="1"/>
              <a:t>print</a:t>
            </a:r>
            <a:r>
              <a:rPr lang="es-ES" sz="1800" b="1" dirty="0"/>
              <a:t>(x)</a:t>
            </a:r>
          </a:p>
          <a:p>
            <a:pPr marL="0" indent="0">
              <a:buNone/>
            </a:pPr>
            <a:r>
              <a:rPr lang="es-ES" sz="1800" b="1" dirty="0"/>
              <a:t>			</a:t>
            </a:r>
            <a:r>
              <a:rPr lang="es-ES" sz="1800" b="1" dirty="0" err="1"/>
              <a:t>print</a:t>
            </a:r>
            <a:r>
              <a:rPr lang="es-ES" sz="1800" b="1" dirty="0"/>
              <a:t>(y)</a:t>
            </a:r>
          </a:p>
          <a:p>
            <a:pPr marL="0" indent="0">
              <a:buNone/>
            </a:pPr>
            <a:endParaRPr lang="en-US" b="1" dirty="0">
              <a:solidFill>
                <a:srgbClr val="FF0000"/>
              </a:solidFill>
            </a:endParaRPr>
          </a:p>
          <a:p>
            <a:pPr marL="0" indent="0">
              <a:buNone/>
            </a:pPr>
            <a:r>
              <a:rPr lang="en-US" b="1" dirty="0">
                <a:solidFill>
                  <a:srgbClr val="FF0000"/>
                </a:solidFill>
              </a:rPr>
              <a:t>Example 7:</a:t>
            </a:r>
            <a:r>
              <a:rPr lang="en-US" dirty="0">
                <a:solidFill>
                  <a:srgbClr val="FF0000"/>
                </a:solidFill>
              </a:rPr>
              <a:t>     </a:t>
            </a:r>
            <a:r>
              <a:rPr lang="en-US" b="1" dirty="0"/>
              <a:t>a, b = 5, 10</a:t>
            </a:r>
          </a:p>
          <a:p>
            <a:pPr marL="1335087" lvl="3"/>
            <a:r>
              <a:rPr lang="en-US" b="1" dirty="0"/>
              <a:t>a, b = b, a</a:t>
            </a:r>
          </a:p>
          <a:p>
            <a:pPr marL="1335087" lvl="3"/>
            <a:r>
              <a:rPr lang="en-US" b="1" dirty="0"/>
              <a:t>print(a, b)</a:t>
            </a:r>
          </a:p>
          <a:p>
            <a:pPr marL="1335087" lvl="3"/>
            <a:endParaRPr lang="en-US" b="1" dirty="0"/>
          </a:p>
          <a:p>
            <a:pPr indent="-73026"/>
            <a:r>
              <a:rPr lang="en-US" b="1" dirty="0">
                <a:solidFill>
                  <a:srgbClr val="FF0000"/>
                </a:solidFill>
              </a:rPr>
              <a:t>Example 8:     </a:t>
            </a:r>
            <a:r>
              <a:rPr lang="pt-BR" b="1" dirty="0"/>
              <a:t>a = 5   n = float(a)</a:t>
            </a:r>
          </a:p>
          <a:p>
            <a:pPr indent="-73026"/>
            <a:r>
              <a:rPr lang="pt-BR" b="1" dirty="0"/>
              <a:t>		       print(n)   print(type(n))</a:t>
            </a:r>
          </a:p>
          <a:p>
            <a:pPr indent="-73026"/>
            <a:endParaRPr lang="en-US" b="1" dirty="0"/>
          </a:p>
          <a:p>
            <a:pPr marL="0" lvl="4" indent="0">
              <a:buNone/>
            </a:pPr>
            <a:r>
              <a:rPr lang="en-US" b="1" dirty="0">
                <a:solidFill>
                  <a:srgbClr val="FF0000"/>
                </a:solidFill>
              </a:rPr>
              <a:t>Example 9:   </a:t>
            </a:r>
            <a:r>
              <a:rPr lang="en-US" b="1" dirty="0"/>
              <a:t>a = 5</a:t>
            </a:r>
          </a:p>
          <a:p>
            <a:pPr marL="0" lvl="4" indent="0">
              <a:buNone/>
            </a:pPr>
            <a:r>
              <a:rPr lang="en-US" b="1" dirty="0"/>
              <a:t>		     # typecast to str</a:t>
            </a:r>
          </a:p>
          <a:p>
            <a:pPr marL="0" lvl="4" indent="0">
              <a:buNone/>
            </a:pPr>
            <a:r>
              <a:rPr lang="en-US" b="1" dirty="0"/>
              <a:t>		    n = str(a)</a:t>
            </a:r>
          </a:p>
          <a:p>
            <a:pPr marL="0" lvl="4" indent="0">
              <a:buNone/>
            </a:pPr>
            <a:r>
              <a:rPr lang="en-US" b="1" dirty="0"/>
              <a:t>		    print(n)</a:t>
            </a:r>
          </a:p>
          <a:p>
            <a:pPr marL="0" lvl="4" indent="0">
              <a:buNone/>
            </a:pPr>
            <a:r>
              <a:rPr lang="en-US" b="1" dirty="0"/>
              <a:t>		    print(type(n))</a:t>
            </a:r>
          </a:p>
          <a:p>
            <a:pPr marL="0" lvl="4" indent="0">
              <a:buNone/>
            </a:pPr>
            <a:endParaRPr lang="en-US" b="1" dirty="0"/>
          </a:p>
        </p:txBody>
      </p:sp>
      <p:sp>
        <p:nvSpPr>
          <p:cNvPr id="8" name="Rectangle: Rounded Corners 7">
            <a:extLst>
              <a:ext uri="{FF2B5EF4-FFF2-40B4-BE49-F238E27FC236}">
                <a16:creationId xmlns:a16="http://schemas.microsoft.com/office/drawing/2014/main" xmlns="" id="{B94199E5-D569-BFAE-26FD-01B608A4EB29}"/>
              </a:ext>
            </a:extLst>
          </p:cNvPr>
          <p:cNvSpPr/>
          <p:nvPr/>
        </p:nvSpPr>
        <p:spPr>
          <a:xfrm>
            <a:off x="9808290" y="4026877"/>
            <a:ext cx="2198077" cy="25849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Example 10:</a:t>
            </a:r>
          </a:p>
          <a:p>
            <a:r>
              <a:rPr lang="en-US" b="1" dirty="0">
                <a:solidFill>
                  <a:schemeClr val="tx1"/>
                </a:solidFill>
              </a:rPr>
              <a:t> Tell Output?</a:t>
            </a:r>
          </a:p>
          <a:p>
            <a:r>
              <a:rPr lang="en-US" dirty="0"/>
              <a:t>a = "5“</a:t>
            </a:r>
          </a:p>
          <a:p>
            <a:r>
              <a:rPr lang="en-US" dirty="0"/>
              <a:t>b = 't’</a:t>
            </a:r>
          </a:p>
          <a:p>
            <a:r>
              <a:rPr lang="en-US" dirty="0"/>
              <a:t>n = int(a)</a:t>
            </a:r>
          </a:p>
          <a:p>
            <a:r>
              <a:rPr lang="en-US" dirty="0"/>
              <a:t>print(n)</a:t>
            </a:r>
          </a:p>
          <a:p>
            <a:r>
              <a:rPr lang="en-US" dirty="0"/>
              <a:t>print(type(n))</a:t>
            </a:r>
          </a:p>
          <a:p>
            <a:r>
              <a:rPr lang="en-US" dirty="0"/>
              <a:t>print(int(b))</a:t>
            </a:r>
          </a:p>
          <a:p>
            <a:r>
              <a:rPr lang="en-US" dirty="0"/>
              <a:t>print(type(b))</a:t>
            </a:r>
          </a:p>
        </p:txBody>
      </p:sp>
    </p:spTree>
    <p:extLst>
      <p:ext uri="{BB962C8B-B14F-4D97-AF65-F5344CB8AC3E}">
        <p14:creationId xmlns:p14="http://schemas.microsoft.com/office/powerpoint/2010/main" val="2982665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83B120-6183-E842-241F-95ECF2B07ACF}"/>
              </a:ext>
            </a:extLst>
          </p:cNvPr>
          <p:cNvSpPr>
            <a:spLocks noGrp="1"/>
          </p:cNvSpPr>
          <p:nvPr>
            <p:ph type="title"/>
          </p:nvPr>
        </p:nvSpPr>
        <p:spPr/>
        <p:txBody>
          <a:bodyPr/>
          <a:lstStyle/>
          <a:p>
            <a:r>
              <a:rPr lang="en-US" dirty="0"/>
              <a:t>Example of Boolean</a:t>
            </a:r>
          </a:p>
        </p:txBody>
      </p:sp>
      <p:sp>
        <p:nvSpPr>
          <p:cNvPr id="3" name="Content Placeholder 2">
            <a:extLst>
              <a:ext uri="{FF2B5EF4-FFF2-40B4-BE49-F238E27FC236}">
                <a16:creationId xmlns:a16="http://schemas.microsoft.com/office/drawing/2014/main" xmlns="" id="{671ACFC6-761B-0DC1-6B19-027D1F34A7FA}"/>
              </a:ext>
            </a:extLst>
          </p:cNvPr>
          <p:cNvSpPr>
            <a:spLocks noGrp="1"/>
          </p:cNvSpPr>
          <p:nvPr>
            <p:ph idx="1"/>
          </p:nvPr>
        </p:nvSpPr>
        <p:spPr/>
        <p:txBody>
          <a:bodyPr/>
          <a:lstStyle/>
          <a:p>
            <a:r>
              <a:rPr lang="en-US" dirty="0"/>
              <a:t>bool() is a built-in function that converts a value to a Boolean (True or False). </a:t>
            </a:r>
          </a:p>
          <a:p>
            <a:r>
              <a:rPr lang="en-US" dirty="0"/>
              <a:t>The Boolean data type is fundamental in programming and is commonly used in conditional statements, loops and logical operations. </a:t>
            </a:r>
          </a:p>
          <a:p>
            <a:r>
              <a:rPr lang="en-US" dirty="0"/>
              <a:t>The bool() function evaluates the truthiness or falseness of a value and returns either True or False.</a:t>
            </a:r>
          </a:p>
          <a:p>
            <a:r>
              <a:rPr lang="en-US" dirty="0">
                <a:solidFill>
                  <a:srgbClr val="FF0000"/>
                </a:solidFill>
              </a:rPr>
              <a:t>Example 1: </a:t>
            </a:r>
            <a:endParaRPr lang="es-ES" dirty="0">
              <a:solidFill>
                <a:srgbClr val="FF0000"/>
              </a:solidFill>
            </a:endParaRPr>
          </a:p>
          <a:p>
            <a:pPr marL="544512" lvl="1" indent="0">
              <a:buNone/>
            </a:pPr>
            <a:r>
              <a:rPr lang="es-ES" dirty="0"/>
              <a:t>x = "False"</a:t>
            </a:r>
          </a:p>
          <a:p>
            <a:pPr marL="544512" lvl="1" indent="0">
              <a:buNone/>
            </a:pPr>
            <a:r>
              <a:rPr lang="es-ES" dirty="0"/>
              <a:t>y = </a:t>
            </a:r>
            <a:r>
              <a:rPr lang="es-ES" dirty="0" err="1"/>
              <a:t>bool</a:t>
            </a:r>
            <a:r>
              <a:rPr lang="es-ES" dirty="0"/>
              <a:t>(x)</a:t>
            </a:r>
          </a:p>
          <a:p>
            <a:pPr marL="544512" lvl="1" indent="0">
              <a:buNone/>
            </a:pPr>
            <a:r>
              <a:rPr lang="es-ES" dirty="0" err="1"/>
              <a:t>print</a:t>
            </a:r>
            <a:r>
              <a:rPr lang="es-ES" dirty="0"/>
              <a:t>(y)</a:t>
            </a:r>
            <a:endParaRPr lang="en-US" dirty="0"/>
          </a:p>
        </p:txBody>
      </p:sp>
      <p:sp>
        <p:nvSpPr>
          <p:cNvPr id="5" name="Rectangle: Rounded Corners 4">
            <a:extLst>
              <a:ext uri="{FF2B5EF4-FFF2-40B4-BE49-F238E27FC236}">
                <a16:creationId xmlns:a16="http://schemas.microsoft.com/office/drawing/2014/main" xmlns="" id="{D6900B54-6305-4F3A-9805-6421CF3986FC}"/>
              </a:ext>
            </a:extLst>
          </p:cNvPr>
          <p:cNvSpPr/>
          <p:nvPr/>
        </p:nvSpPr>
        <p:spPr>
          <a:xfrm>
            <a:off x="3261946" y="2453054"/>
            <a:ext cx="3024554" cy="40708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rPr>
              <a:t>print(bool(True))    </a:t>
            </a:r>
          </a:p>
          <a:p>
            <a:r>
              <a:rPr lang="en-US" sz="1600" b="1" dirty="0">
                <a:solidFill>
                  <a:schemeClr val="bg1"/>
                </a:solidFill>
              </a:rPr>
              <a:t>print(bool(False))   </a:t>
            </a:r>
          </a:p>
          <a:p>
            <a:r>
              <a:rPr lang="en-US" sz="1600" b="1" dirty="0">
                <a:solidFill>
                  <a:schemeClr val="bg1"/>
                </a:solidFill>
              </a:rPr>
              <a:t>print(bool(0))       </a:t>
            </a:r>
          </a:p>
          <a:p>
            <a:r>
              <a:rPr lang="en-US" sz="1600" b="1" dirty="0">
                <a:solidFill>
                  <a:schemeClr val="bg1"/>
                </a:solidFill>
              </a:rPr>
              <a:t>print(bool(1))       </a:t>
            </a:r>
          </a:p>
          <a:p>
            <a:r>
              <a:rPr lang="en-US" sz="1600" b="1" dirty="0">
                <a:solidFill>
                  <a:schemeClr val="bg1"/>
                </a:solidFill>
              </a:rPr>
              <a:t>print(bool(-1))      </a:t>
            </a:r>
          </a:p>
          <a:p>
            <a:r>
              <a:rPr lang="en-US" sz="1600" b="1" dirty="0">
                <a:solidFill>
                  <a:schemeClr val="bg1"/>
                </a:solidFill>
              </a:rPr>
              <a:t>print(bool(0.0))     </a:t>
            </a:r>
          </a:p>
          <a:p>
            <a:r>
              <a:rPr lang="en-US" sz="1600" b="1" dirty="0">
                <a:solidFill>
                  <a:schemeClr val="bg1"/>
                </a:solidFill>
              </a:rPr>
              <a:t>print(bool(3.14))    </a:t>
            </a:r>
          </a:p>
          <a:p>
            <a:r>
              <a:rPr lang="en-US" sz="1600" b="1" dirty="0">
                <a:solidFill>
                  <a:schemeClr val="bg1"/>
                </a:solidFill>
              </a:rPr>
              <a:t>print(bool(""))      </a:t>
            </a:r>
          </a:p>
          <a:p>
            <a:r>
              <a:rPr lang="en-US" sz="1600" b="1" dirty="0">
                <a:solidFill>
                  <a:schemeClr val="bg1"/>
                </a:solidFill>
              </a:rPr>
              <a:t>print(bool("Hello")) </a:t>
            </a:r>
          </a:p>
          <a:p>
            <a:r>
              <a:rPr lang="en-US" sz="1600" b="1" dirty="0">
                <a:solidFill>
                  <a:schemeClr val="bg1"/>
                </a:solidFill>
              </a:rPr>
              <a:t>print(bool([]))      </a:t>
            </a:r>
          </a:p>
          <a:p>
            <a:r>
              <a:rPr lang="en-US" sz="1600" b="1" dirty="0">
                <a:solidFill>
                  <a:schemeClr val="bg1"/>
                </a:solidFill>
              </a:rPr>
              <a:t>print(bool([1, 2]))  </a:t>
            </a:r>
          </a:p>
          <a:p>
            <a:r>
              <a:rPr lang="en-US" sz="1600" b="1" dirty="0">
                <a:solidFill>
                  <a:schemeClr val="bg1"/>
                </a:solidFill>
              </a:rPr>
              <a:t>print(bool({}))      </a:t>
            </a:r>
          </a:p>
          <a:p>
            <a:r>
              <a:rPr lang="en-US" sz="1600" b="1" dirty="0">
                <a:solidFill>
                  <a:schemeClr val="bg1"/>
                </a:solidFill>
              </a:rPr>
              <a:t>print(bool({"a": 1}))</a:t>
            </a:r>
          </a:p>
          <a:p>
            <a:r>
              <a:rPr lang="en-US" sz="1600" b="1" dirty="0">
                <a:solidFill>
                  <a:schemeClr val="bg1"/>
                </a:solidFill>
              </a:rPr>
              <a:t>print(bool(None))</a:t>
            </a:r>
          </a:p>
        </p:txBody>
      </p:sp>
    </p:spTree>
    <p:extLst>
      <p:ext uri="{BB962C8B-B14F-4D97-AF65-F5344CB8AC3E}">
        <p14:creationId xmlns:p14="http://schemas.microsoft.com/office/powerpoint/2010/main" val="19997652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6CF956-9BE2-A552-D32F-07A80206A202}"/>
              </a:ext>
            </a:extLst>
          </p:cNvPr>
          <p:cNvSpPr>
            <a:spLocks noGrp="1"/>
          </p:cNvSpPr>
          <p:nvPr>
            <p:ph type="title"/>
          </p:nvPr>
        </p:nvSpPr>
        <p:spPr/>
        <p:txBody>
          <a:bodyPr/>
          <a:lstStyle/>
          <a:p>
            <a:r>
              <a:rPr lang="en-US" dirty="0"/>
              <a:t>Keywords</a:t>
            </a:r>
          </a:p>
        </p:txBody>
      </p:sp>
      <p:sp>
        <p:nvSpPr>
          <p:cNvPr id="3" name="Content Placeholder 2">
            <a:extLst>
              <a:ext uri="{FF2B5EF4-FFF2-40B4-BE49-F238E27FC236}">
                <a16:creationId xmlns:a16="http://schemas.microsoft.com/office/drawing/2014/main" xmlns="" id="{A7E72FB4-A7F2-959C-894B-5A4FC0A76761}"/>
              </a:ext>
            </a:extLst>
          </p:cNvPr>
          <p:cNvSpPr>
            <a:spLocks noGrp="1"/>
          </p:cNvSpPr>
          <p:nvPr>
            <p:ph idx="1"/>
          </p:nvPr>
        </p:nvSpPr>
        <p:spPr/>
        <p:txBody>
          <a:bodyPr/>
          <a:lstStyle/>
          <a:p>
            <a:r>
              <a:rPr lang="en-US" dirty="0"/>
              <a:t>The keyword module provides:</a:t>
            </a:r>
          </a:p>
          <a:p>
            <a:pPr lvl="1"/>
            <a:r>
              <a:rPr lang="en-US" dirty="0" err="1"/>
              <a:t>iskeyword</a:t>
            </a:r>
            <a:r>
              <a:rPr lang="en-US" dirty="0"/>
              <a:t>(): checks if a string is a keyword.</a:t>
            </a:r>
          </a:p>
          <a:p>
            <a:pPr lvl="1"/>
            <a:r>
              <a:rPr lang="en-US" dirty="0" err="1"/>
              <a:t>kwlist</a:t>
            </a:r>
            <a:r>
              <a:rPr lang="en-US" dirty="0"/>
              <a:t>: returns the list of all keywords.</a:t>
            </a:r>
          </a:p>
          <a:p>
            <a:r>
              <a:rPr lang="en-US" dirty="0"/>
              <a:t>Rules for Keywords in Python:</a:t>
            </a:r>
          </a:p>
          <a:p>
            <a:pPr lvl="1"/>
            <a:r>
              <a:rPr lang="en-US" dirty="0"/>
              <a:t>Python keywords cannot be used as identifiers.</a:t>
            </a:r>
          </a:p>
          <a:p>
            <a:pPr lvl="1"/>
            <a:r>
              <a:rPr lang="en-US" dirty="0"/>
              <a:t>All the keywords in Python should be in lowercase except True and False.</a:t>
            </a:r>
          </a:p>
        </p:txBody>
      </p:sp>
      <p:pic>
        <p:nvPicPr>
          <p:cNvPr id="5" name="Picture 4">
            <a:extLst>
              <a:ext uri="{FF2B5EF4-FFF2-40B4-BE49-F238E27FC236}">
                <a16:creationId xmlns:a16="http://schemas.microsoft.com/office/drawing/2014/main" xmlns="" id="{0DC33EB2-FA3B-9EC1-EB9F-4A667FBD176F}"/>
              </a:ext>
            </a:extLst>
          </p:cNvPr>
          <p:cNvPicPr>
            <a:picLocks noChangeAspect="1"/>
          </p:cNvPicPr>
          <p:nvPr/>
        </p:nvPicPr>
        <p:blipFill>
          <a:blip r:embed="rId2"/>
          <a:stretch>
            <a:fillRect/>
          </a:stretch>
        </p:blipFill>
        <p:spPr>
          <a:xfrm>
            <a:off x="0" y="3336756"/>
            <a:ext cx="12192000" cy="1169225"/>
          </a:xfrm>
          <a:prstGeom prst="rect">
            <a:avLst/>
          </a:prstGeom>
        </p:spPr>
      </p:pic>
    </p:spTree>
    <p:extLst>
      <p:ext uri="{BB962C8B-B14F-4D97-AF65-F5344CB8AC3E}">
        <p14:creationId xmlns:p14="http://schemas.microsoft.com/office/powerpoint/2010/main" val="1129828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in python</a:t>
            </a:r>
            <a:endParaRPr lang="en-US" dirty="0"/>
          </a:p>
        </p:txBody>
      </p:sp>
      <p:sp>
        <p:nvSpPr>
          <p:cNvPr id="3" name="Content Placeholder 2"/>
          <p:cNvSpPr>
            <a:spLocks noGrp="1"/>
          </p:cNvSpPr>
          <p:nvPr>
            <p:ph idx="1"/>
          </p:nvPr>
        </p:nvSpPr>
        <p:spPr/>
        <p:txBody>
          <a:bodyPr/>
          <a:lstStyle/>
          <a:p>
            <a:r>
              <a:rPr lang="en-US" dirty="0"/>
              <a:t>String is </a:t>
            </a:r>
            <a:r>
              <a:rPr lang="en-US" b="1" dirty="0"/>
              <a:t>Ordered Sequence of character </a:t>
            </a:r>
            <a:r>
              <a:rPr lang="en-US" dirty="0"/>
              <a:t>such as “ABC”, ‘</a:t>
            </a:r>
            <a:r>
              <a:rPr lang="en-US" dirty="0" err="1"/>
              <a:t>abc</a:t>
            </a:r>
            <a:r>
              <a:rPr lang="en-US" dirty="0"/>
              <a:t>’, “</a:t>
            </a:r>
            <a:r>
              <a:rPr lang="en-US" dirty="0" err="1"/>
              <a:t>abcdef</a:t>
            </a:r>
            <a:r>
              <a:rPr lang="en-US" dirty="0"/>
              <a:t>” etc..</a:t>
            </a:r>
          </a:p>
          <a:p>
            <a:r>
              <a:rPr lang="en-US" dirty="0"/>
              <a:t>Strings</a:t>
            </a:r>
            <a:r>
              <a:rPr lang="en-US" b="1" dirty="0"/>
              <a:t> </a:t>
            </a:r>
            <a:r>
              <a:rPr lang="en-US" dirty="0"/>
              <a:t>are </a:t>
            </a:r>
            <a:r>
              <a:rPr lang="en-US" b="1" dirty="0"/>
              <a:t>arrays of bytes </a:t>
            </a:r>
            <a:r>
              <a:rPr lang="en-US" dirty="0"/>
              <a:t>representing </a:t>
            </a:r>
            <a:r>
              <a:rPr lang="en-US" b="1" dirty="0"/>
              <a:t>Unicode </a:t>
            </a:r>
            <a:r>
              <a:rPr lang="en-US" dirty="0"/>
              <a:t>characters.</a:t>
            </a:r>
          </a:p>
          <a:p>
            <a:r>
              <a:rPr lang="en-IN" dirty="0"/>
              <a:t>String can be represented as single, double quotes.</a:t>
            </a:r>
          </a:p>
          <a:p>
            <a:pPr fontAlgn="base"/>
            <a:r>
              <a:rPr lang="en-IN" dirty="0"/>
              <a:t>String in python is </a:t>
            </a:r>
            <a:r>
              <a:rPr lang="en-IN" b="1" dirty="0"/>
              <a:t>immutable</a:t>
            </a:r>
            <a:r>
              <a:rPr lang="en-IN" dirty="0"/>
              <a:t>.</a:t>
            </a:r>
            <a:endParaRPr lang="en-US" dirty="0"/>
          </a:p>
          <a:p>
            <a:r>
              <a:rPr lang="en-US" dirty="0"/>
              <a:t>Square brackets can be used to access elements of the string, Ex. “bijal88”[1] = </a:t>
            </a:r>
            <a:r>
              <a:rPr lang="en-US" dirty="0" err="1"/>
              <a:t>i</a:t>
            </a:r>
            <a:r>
              <a:rPr lang="en-US" dirty="0"/>
              <a:t>, characters can also be accessed with reverse index like “bijal88”[-1] = 8.</a:t>
            </a:r>
            <a:endParaRPr lang="en-IN" dirty="0"/>
          </a:p>
          <a:p>
            <a:endParaRPr lang="en-US" dirty="0"/>
          </a:p>
          <a:p>
            <a:endParaRPr lang="en-US" dirty="0"/>
          </a:p>
        </p:txBody>
      </p:sp>
      <p:sp>
        <p:nvSpPr>
          <p:cNvPr id="7" name="Rectangle 6">
            <a:extLst>
              <a:ext uri="{FF2B5EF4-FFF2-40B4-BE49-F238E27FC236}">
                <a16:creationId xmlns:a16="http://schemas.microsoft.com/office/drawing/2014/main" xmlns="" id="{D456EBDA-49A4-A843-A786-6989C63A54AA}"/>
              </a:ext>
            </a:extLst>
          </p:cNvPr>
          <p:cNvSpPr/>
          <p:nvPr/>
        </p:nvSpPr>
        <p:spPr>
          <a:xfrm>
            <a:off x="452435" y="4255264"/>
            <a:ext cx="10869686" cy="1569660"/>
          </a:xfrm>
          <a:prstGeom prst="rect">
            <a:avLst/>
          </a:prstGeom>
          <a:solidFill>
            <a:schemeClr val="bg1">
              <a:lumMod val="95000"/>
            </a:schemeClr>
          </a:solidFill>
          <a:ln>
            <a:noFill/>
          </a:ln>
        </p:spPr>
        <p:txBody>
          <a:bodyPr wrap="square">
            <a:spAutoFit/>
          </a:bodyPr>
          <a:lstStyle/>
          <a:p>
            <a:r>
              <a:rPr lang="en-US" sz="3200" b="1" dirty="0">
                <a:latin typeface="Consolas" pitchFamily="49" charset="0"/>
                <a:cs typeface="Consolas" panose="020B0609020204030204" pitchFamily="49" charset="0"/>
              </a:rPr>
              <a:t>            x = "  b  </a:t>
            </a:r>
            <a:r>
              <a:rPr lang="en-US" sz="3200" b="1" dirty="0" err="1">
                <a:latin typeface="Consolas" pitchFamily="49" charset="0"/>
                <a:cs typeface="Consolas" panose="020B0609020204030204" pitchFamily="49" charset="0"/>
              </a:rPr>
              <a:t>i</a:t>
            </a:r>
            <a:r>
              <a:rPr lang="en-US" sz="3200" b="1" dirty="0">
                <a:latin typeface="Consolas" pitchFamily="49" charset="0"/>
                <a:cs typeface="Consolas" panose="020B0609020204030204" pitchFamily="49" charset="0"/>
              </a:rPr>
              <a:t>  j  a  l  8  8  "</a:t>
            </a:r>
          </a:p>
          <a:p>
            <a:r>
              <a:rPr lang="en-IN" sz="3200" b="1" dirty="0">
                <a:latin typeface="Consolas" pitchFamily="49" charset="0"/>
                <a:cs typeface="Consolas" panose="020B0609020204030204" pitchFamily="49" charset="0"/>
              </a:rPr>
              <a:t>        index =    0  1  2  3  4  5  6</a:t>
            </a:r>
          </a:p>
          <a:p>
            <a:r>
              <a:rPr lang="en-IN" sz="3200" b="1" dirty="0">
                <a:latin typeface="Consolas" pitchFamily="49" charset="0"/>
                <a:cs typeface="Consolas" panose="020B0609020204030204" pitchFamily="49" charset="0"/>
              </a:rPr>
              <a:t>Reverse index =    0 -6 -5 -4 -3 -2 -1 </a:t>
            </a:r>
          </a:p>
        </p:txBody>
      </p:sp>
      <p:sp>
        <p:nvSpPr>
          <p:cNvPr id="9" name="Rectangle: Top Corners Rounded 6">
            <a:extLst>
              <a:ext uri="{FF2B5EF4-FFF2-40B4-BE49-F238E27FC236}">
                <a16:creationId xmlns:a16="http://schemas.microsoft.com/office/drawing/2014/main" xmlns="" id="{0336C271-A2A3-9445-9946-5006F0A250F4}"/>
              </a:ext>
            </a:extLst>
          </p:cNvPr>
          <p:cNvSpPr/>
          <p:nvPr/>
        </p:nvSpPr>
        <p:spPr>
          <a:xfrm>
            <a:off x="452435" y="3926080"/>
            <a:ext cx="155102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index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bg/>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uiExpand="1" build="p"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functions in python </a:t>
            </a:r>
            <a:endParaRPr lang="en-US" dirty="0"/>
          </a:p>
        </p:txBody>
      </p:sp>
      <p:sp>
        <p:nvSpPr>
          <p:cNvPr id="3" name="Content Placeholder 2"/>
          <p:cNvSpPr>
            <a:spLocks noGrp="1"/>
          </p:cNvSpPr>
          <p:nvPr>
            <p:ph idx="1"/>
          </p:nvPr>
        </p:nvSpPr>
        <p:spPr/>
        <p:txBody>
          <a:bodyPr/>
          <a:lstStyle/>
          <a:p>
            <a:r>
              <a:rPr lang="en-US" dirty="0"/>
              <a:t>Python has lots of built-in methods that you can use on strings, we are going to cover some frequently used methods for string like</a:t>
            </a:r>
          </a:p>
          <a:p>
            <a:pPr lvl="1"/>
            <a:r>
              <a:rPr lang="en-IN" b="1" dirty="0" err="1">
                <a:solidFill>
                  <a:srgbClr val="C00000"/>
                </a:solidFill>
              </a:rPr>
              <a:t>len</a:t>
            </a:r>
            <a:r>
              <a:rPr lang="en-IN" b="1" dirty="0">
                <a:solidFill>
                  <a:srgbClr val="C00000"/>
                </a:solidFill>
              </a:rPr>
              <a:t>()</a:t>
            </a:r>
          </a:p>
          <a:p>
            <a:pPr lvl="1"/>
            <a:r>
              <a:rPr lang="en-IN" dirty="0"/>
              <a:t>count()</a:t>
            </a:r>
          </a:p>
          <a:p>
            <a:pPr lvl="1"/>
            <a:r>
              <a:rPr lang="en-IN" dirty="0"/>
              <a:t>capitalize(), lower(), upper()</a:t>
            </a:r>
          </a:p>
          <a:p>
            <a:pPr lvl="1"/>
            <a:r>
              <a:rPr lang="en-IN" dirty="0" err="1"/>
              <a:t>istitle</a:t>
            </a:r>
            <a:r>
              <a:rPr lang="en-IN" dirty="0"/>
              <a:t>(), </a:t>
            </a:r>
            <a:r>
              <a:rPr lang="en-IN" dirty="0" err="1"/>
              <a:t>islower</a:t>
            </a:r>
            <a:r>
              <a:rPr lang="en-IN" dirty="0"/>
              <a:t>(), </a:t>
            </a:r>
            <a:r>
              <a:rPr lang="en-IN" dirty="0" err="1"/>
              <a:t>isupper</a:t>
            </a:r>
            <a:r>
              <a:rPr lang="en-IN" dirty="0"/>
              <a:t>()</a:t>
            </a:r>
          </a:p>
          <a:p>
            <a:pPr lvl="1"/>
            <a:r>
              <a:rPr lang="en-IN" dirty="0"/>
              <a:t>find(), </a:t>
            </a:r>
            <a:r>
              <a:rPr lang="en-IN" dirty="0" err="1"/>
              <a:t>rfind</a:t>
            </a:r>
            <a:r>
              <a:rPr lang="en-IN" dirty="0"/>
              <a:t>(), replace()</a:t>
            </a:r>
          </a:p>
          <a:p>
            <a:pPr lvl="1"/>
            <a:r>
              <a:rPr lang="en-IN" dirty="0"/>
              <a:t>index(), </a:t>
            </a:r>
            <a:r>
              <a:rPr lang="en-IN" dirty="0" err="1"/>
              <a:t>rindex</a:t>
            </a:r>
            <a:r>
              <a:rPr lang="en-IN" dirty="0"/>
              <a:t>()</a:t>
            </a:r>
          </a:p>
          <a:p>
            <a:pPr lvl="1"/>
            <a:r>
              <a:rPr lang="en-IN" dirty="0"/>
              <a:t>Methods for validations like</a:t>
            </a:r>
          </a:p>
          <a:p>
            <a:pPr lvl="2"/>
            <a:r>
              <a:rPr lang="en-IN" dirty="0" err="1"/>
              <a:t>isalpha</a:t>
            </a:r>
            <a:r>
              <a:rPr lang="en-IN" dirty="0"/>
              <a:t>(), </a:t>
            </a:r>
            <a:r>
              <a:rPr lang="en-IN" dirty="0" err="1"/>
              <a:t>isalnum</a:t>
            </a:r>
            <a:r>
              <a:rPr lang="en-IN" dirty="0"/>
              <a:t>(), </a:t>
            </a:r>
            <a:r>
              <a:rPr lang="en-IN" dirty="0" err="1"/>
              <a:t>isdecimal</a:t>
            </a:r>
            <a:r>
              <a:rPr lang="en-IN" dirty="0"/>
              <a:t>(), </a:t>
            </a:r>
            <a:r>
              <a:rPr lang="en-IN" dirty="0" err="1"/>
              <a:t>isdigit</a:t>
            </a:r>
            <a:r>
              <a:rPr lang="en-IN" dirty="0"/>
              <a:t>()</a:t>
            </a:r>
          </a:p>
          <a:p>
            <a:pPr lvl="1"/>
            <a:r>
              <a:rPr lang="en-IN" dirty="0"/>
              <a:t>strip(), </a:t>
            </a:r>
            <a:r>
              <a:rPr lang="en-IN" dirty="0" err="1"/>
              <a:t>lstrip</a:t>
            </a:r>
            <a:r>
              <a:rPr lang="en-IN" dirty="0"/>
              <a:t>(), </a:t>
            </a:r>
            <a:r>
              <a:rPr lang="en-IN" dirty="0" err="1"/>
              <a:t>rstrip</a:t>
            </a:r>
            <a:r>
              <a:rPr lang="en-IN" dirty="0"/>
              <a:t>()</a:t>
            </a:r>
          </a:p>
          <a:p>
            <a:pPr lvl="1"/>
            <a:r>
              <a:rPr lang="en-IN" dirty="0"/>
              <a:t>Etc..</a:t>
            </a:r>
          </a:p>
          <a:p>
            <a:r>
              <a:rPr lang="en-IN" b="1" dirty="0"/>
              <a:t>Note</a:t>
            </a:r>
            <a:r>
              <a:rPr lang="en-IN" dirty="0"/>
              <a:t> : </a:t>
            </a:r>
            <a:r>
              <a:rPr lang="en-IN" dirty="0" err="1"/>
              <a:t>len</a:t>
            </a:r>
            <a:r>
              <a:rPr lang="en-IN" dirty="0"/>
              <a:t>() is not the method of the string but can be used to get the length of the string</a:t>
            </a:r>
          </a:p>
          <a:p>
            <a:pPr lvl="1">
              <a:buNone/>
            </a:pPr>
            <a:endParaRPr lang="en-US"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5811383"/>
            <a:ext cx="8472276"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bijal88</a:t>
            </a:r>
            <a:endParaRPr lang="en-US" sz="1600" dirty="0">
              <a:solidFill>
                <a:srgbClr val="000000"/>
              </a:solidFill>
              <a:latin typeface="Consolas"/>
            </a:endParaRPr>
          </a:p>
          <a:p>
            <a:r>
              <a:rPr lang="en-US" sz="1600" dirty="0">
                <a:solidFill>
                  <a:srgbClr val="000000"/>
                </a:solidFill>
                <a:latin typeface="Consolas"/>
              </a:rPr>
              <a:t>print(</a:t>
            </a:r>
            <a:r>
              <a:rPr lang="en-US" sz="1600" dirty="0" err="1">
                <a:solidFill>
                  <a:srgbClr val="000000"/>
                </a:solidFill>
                <a:latin typeface="Consolas"/>
              </a:rPr>
              <a:t>len</a:t>
            </a:r>
            <a:r>
              <a:rPr lang="en-US" sz="1600" dirty="0">
                <a:solidFill>
                  <a:srgbClr val="000000"/>
                </a:solidFill>
                <a:latin typeface="Consolas"/>
              </a:rPr>
              <a:t>(x))</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5811383"/>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5482199"/>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lendemo.py</a:t>
            </a:r>
          </a:p>
        </p:txBody>
      </p:sp>
      <p:sp>
        <p:nvSpPr>
          <p:cNvPr id="7" name="Line Callout 1 6"/>
          <p:cNvSpPr/>
          <p:nvPr/>
        </p:nvSpPr>
        <p:spPr>
          <a:xfrm>
            <a:off x="3356891" y="5615874"/>
            <a:ext cx="4495800" cy="626533"/>
          </a:xfrm>
          <a:prstGeom prst="borderCallout1">
            <a:avLst>
              <a:gd name="adj1" fmla="val 53885"/>
              <a:gd name="adj2" fmla="val -612"/>
              <a:gd name="adj3" fmla="val 89527"/>
              <a:gd name="adj4" fmla="val -1479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7 (length of “bijal88”)</a:t>
            </a:r>
            <a:endParaRPr 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bg/>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animBg="1"/>
      <p:bldP spid="7" grpId="1"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methods (cont.)</a:t>
            </a:r>
            <a:endParaRPr lang="en-US" dirty="0"/>
          </a:p>
        </p:txBody>
      </p:sp>
      <p:sp>
        <p:nvSpPr>
          <p:cNvPr id="3" name="Content Placeholder 2"/>
          <p:cNvSpPr>
            <a:spLocks noGrp="1"/>
          </p:cNvSpPr>
          <p:nvPr>
            <p:ph idx="1"/>
          </p:nvPr>
        </p:nvSpPr>
        <p:spPr/>
        <p:txBody>
          <a:bodyPr/>
          <a:lstStyle/>
          <a:p>
            <a:r>
              <a:rPr lang="en-IN" b="1" dirty="0"/>
              <a:t>count</a:t>
            </a:r>
            <a:r>
              <a:rPr lang="en-IN" dirty="0"/>
              <a:t>() method will </a:t>
            </a:r>
            <a:r>
              <a:rPr lang="en-US" dirty="0"/>
              <a:t>returns the number of times a specified value occurs in a string.</a:t>
            </a:r>
          </a:p>
          <a:p>
            <a:endParaRPr lang="en-IN" dirty="0"/>
          </a:p>
          <a:p>
            <a:endParaRPr lang="en-IN" dirty="0"/>
          </a:p>
          <a:p>
            <a:endParaRPr lang="en-IN" dirty="0"/>
          </a:p>
          <a:p>
            <a:pPr marL="265113" lvl="1" indent="-265113">
              <a:spcBef>
                <a:spcPts val="1000"/>
              </a:spcBef>
              <a:buFont typeface="Wingdings 3" panose="05040102010807070707" pitchFamily="18" charset="2"/>
              <a:buChar char=""/>
            </a:pPr>
            <a:r>
              <a:rPr lang="en-IN" sz="2400" b="1" dirty="0"/>
              <a:t>title</a:t>
            </a:r>
            <a:r>
              <a:rPr lang="en-IN" sz="2400" dirty="0"/>
              <a:t>(), </a:t>
            </a:r>
            <a:r>
              <a:rPr lang="en-IN" sz="2400" b="1" dirty="0"/>
              <a:t>lower</a:t>
            </a:r>
            <a:r>
              <a:rPr lang="en-IN" sz="2400" dirty="0"/>
              <a:t>(), </a:t>
            </a:r>
            <a:r>
              <a:rPr lang="en-IN" sz="2400" b="1" dirty="0"/>
              <a:t>upper</a:t>
            </a:r>
            <a:r>
              <a:rPr lang="en-IN" sz="2400" dirty="0"/>
              <a:t>()</a:t>
            </a:r>
            <a:r>
              <a:rPr lang="en-US" sz="2400" dirty="0"/>
              <a:t> will returns capitalized, lower case and upper case string respectively.</a:t>
            </a:r>
          </a:p>
          <a:p>
            <a:pPr marL="265113" lvl="1" indent="-265113">
              <a:spcBef>
                <a:spcPts val="1000"/>
              </a:spcBef>
              <a:buFont typeface="Wingdings 3" panose="05040102010807070707" pitchFamily="18" charset="2"/>
              <a:buChar char=""/>
            </a:pPr>
            <a:endParaRPr lang="en-IN" sz="2400"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1598979"/>
            <a:ext cx="8472276" cy="858471"/>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bijal88</a:t>
            </a:r>
            <a:endParaRPr lang="en-US" sz="1600" dirty="0">
              <a:solidFill>
                <a:srgbClr val="000000"/>
              </a:solidFill>
              <a:latin typeface="Consolas"/>
            </a:endParaRPr>
          </a:p>
          <a:p>
            <a:r>
              <a:rPr lang="en-US" sz="1600" dirty="0">
                <a:solidFill>
                  <a:srgbClr val="000000"/>
                </a:solidFill>
                <a:latin typeface="Consolas"/>
              </a:rPr>
              <a:t>ca = </a:t>
            </a:r>
            <a:r>
              <a:rPr lang="en-US" sz="1600" dirty="0" err="1">
                <a:solidFill>
                  <a:srgbClr val="000000"/>
                </a:solidFill>
                <a:latin typeface="Consolas"/>
              </a:rPr>
              <a:t>x.count</a:t>
            </a:r>
            <a:r>
              <a:rPr lang="en-US" sz="1600" dirty="0">
                <a:solidFill>
                  <a:srgbClr val="000000"/>
                </a:solidFill>
                <a:latin typeface="Consolas"/>
              </a:rPr>
              <a:t>(</a:t>
            </a:r>
            <a:r>
              <a:rPr lang="en-US" sz="1600" dirty="0">
                <a:solidFill>
                  <a:srgbClr val="A31515"/>
                </a:solidFill>
                <a:latin typeface="Consolas"/>
              </a:rPr>
              <a:t>'a'</a:t>
            </a:r>
            <a:r>
              <a:rPr lang="en-US" sz="1600" dirty="0">
                <a:solidFill>
                  <a:srgbClr val="000000"/>
                </a:solidFill>
                <a:latin typeface="Consolas"/>
              </a:rPr>
              <a:t>)</a:t>
            </a:r>
          </a:p>
          <a:p>
            <a:r>
              <a:rPr lang="en-US" sz="1600" dirty="0">
                <a:solidFill>
                  <a:srgbClr val="000000"/>
                </a:solidFill>
                <a:latin typeface="Consolas"/>
              </a:rPr>
              <a:t>print(ca)</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1598979"/>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126979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countdemo.py</a:t>
            </a:r>
          </a:p>
        </p:txBody>
      </p:sp>
      <p:sp>
        <p:nvSpPr>
          <p:cNvPr id="7" name="Line Callout 1 6"/>
          <p:cNvSpPr/>
          <p:nvPr/>
        </p:nvSpPr>
        <p:spPr>
          <a:xfrm>
            <a:off x="3728366" y="1679695"/>
            <a:ext cx="4495800" cy="626533"/>
          </a:xfrm>
          <a:prstGeom prst="borderCallout1">
            <a:avLst>
              <a:gd name="adj1" fmla="val 53885"/>
              <a:gd name="adj2" fmla="val -612"/>
              <a:gd name="adj3" fmla="val 98649"/>
              <a:gd name="adj4" fmla="val -33436"/>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2 (occurrence of ‘a’ in “’bijal88”)</a:t>
            </a:r>
            <a:endParaRPr lang="en-US" b="1" dirty="0">
              <a:solidFill>
                <a:srgbClr val="FF0000"/>
              </a:solidFill>
            </a:endParaRPr>
          </a:p>
        </p:txBody>
      </p:sp>
      <p:sp>
        <p:nvSpPr>
          <p:cNvPr id="8" name="Rectangle 7">
            <a:extLst>
              <a:ext uri="{FF2B5EF4-FFF2-40B4-BE49-F238E27FC236}">
                <a16:creationId xmlns:a16="http://schemas.microsoft.com/office/drawing/2014/main" xmlns="" id="{D456EBDA-49A4-A843-A786-6989C63A54AA}"/>
              </a:ext>
            </a:extLst>
          </p:cNvPr>
          <p:cNvSpPr/>
          <p:nvPr/>
        </p:nvSpPr>
        <p:spPr>
          <a:xfrm>
            <a:off x="1022635" y="3826759"/>
            <a:ext cx="8472276" cy="1846659"/>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a:t>
            </a:r>
            <a:r>
              <a:rPr lang="en-US" sz="1600" dirty="0" err="1">
                <a:solidFill>
                  <a:srgbClr val="A31515"/>
                </a:solidFill>
                <a:latin typeface="Consolas"/>
              </a:rPr>
              <a:t>Gec</a:t>
            </a:r>
            <a:r>
              <a:rPr lang="en-US" sz="1600" dirty="0">
                <a:solidFill>
                  <a:srgbClr val="A31515"/>
                </a:solidFill>
                <a:latin typeface="Consolas"/>
              </a:rPr>
              <a:t> </a:t>
            </a:r>
            <a:r>
              <a:rPr lang="en-US" sz="1600" dirty="0" err="1">
                <a:solidFill>
                  <a:srgbClr val="A31515"/>
                </a:solidFill>
                <a:latin typeface="Consolas"/>
              </a:rPr>
              <a:t>Gandhinagar</a:t>
            </a:r>
            <a:r>
              <a:rPr lang="en-US" sz="1600" dirty="0">
                <a:solidFill>
                  <a:srgbClr val="A31515"/>
                </a:solidFill>
                <a:latin typeface="Consolas"/>
              </a:rPr>
              <a:t>, </a:t>
            </a:r>
            <a:r>
              <a:rPr lang="en-US" sz="1600" dirty="0" err="1">
                <a:solidFill>
                  <a:srgbClr val="A31515"/>
                </a:solidFill>
                <a:latin typeface="Consolas"/>
              </a:rPr>
              <a:t>Secotr</a:t>
            </a:r>
            <a:r>
              <a:rPr lang="en-US" sz="1600" dirty="0">
                <a:solidFill>
                  <a:srgbClr val="A31515"/>
                </a:solidFill>
                <a:latin typeface="Consolas"/>
              </a:rPr>
              <a:t> 28"</a:t>
            </a:r>
            <a:endParaRPr lang="en-US" sz="1600" dirty="0">
              <a:solidFill>
                <a:srgbClr val="000000"/>
              </a:solidFill>
              <a:latin typeface="Consolas"/>
            </a:endParaRPr>
          </a:p>
          <a:p>
            <a:r>
              <a:rPr lang="en-US" sz="1600" dirty="0">
                <a:solidFill>
                  <a:srgbClr val="000000"/>
                </a:solidFill>
                <a:latin typeface="Consolas"/>
              </a:rPr>
              <a:t>c = </a:t>
            </a:r>
            <a:r>
              <a:rPr lang="en-US" sz="1600" dirty="0" err="1">
                <a:solidFill>
                  <a:srgbClr val="000000"/>
                </a:solidFill>
                <a:latin typeface="Consolas"/>
              </a:rPr>
              <a:t>x.title</a:t>
            </a:r>
            <a:r>
              <a:rPr lang="en-US" sz="1600" dirty="0">
                <a:solidFill>
                  <a:srgbClr val="000000"/>
                </a:solidFill>
                <a:latin typeface="Consolas"/>
              </a:rPr>
              <a:t>()</a:t>
            </a:r>
          </a:p>
          <a:p>
            <a:r>
              <a:rPr lang="en-US" sz="1600" dirty="0">
                <a:solidFill>
                  <a:srgbClr val="000000"/>
                </a:solidFill>
                <a:latin typeface="Consolas"/>
              </a:rPr>
              <a:t>l = </a:t>
            </a:r>
            <a:r>
              <a:rPr lang="en-US" sz="1600" dirty="0" err="1">
                <a:solidFill>
                  <a:srgbClr val="000000"/>
                </a:solidFill>
                <a:latin typeface="Consolas"/>
              </a:rPr>
              <a:t>x.lower</a:t>
            </a:r>
            <a:r>
              <a:rPr lang="en-US" sz="1600" dirty="0">
                <a:solidFill>
                  <a:srgbClr val="000000"/>
                </a:solidFill>
                <a:latin typeface="Consolas"/>
              </a:rPr>
              <a:t>()</a:t>
            </a:r>
          </a:p>
          <a:p>
            <a:r>
              <a:rPr lang="en-US" sz="1600" dirty="0">
                <a:solidFill>
                  <a:srgbClr val="000000"/>
                </a:solidFill>
                <a:latin typeface="Consolas"/>
              </a:rPr>
              <a:t>u = </a:t>
            </a:r>
            <a:r>
              <a:rPr lang="en-US" sz="1600" dirty="0" err="1">
                <a:solidFill>
                  <a:srgbClr val="000000"/>
                </a:solidFill>
                <a:latin typeface="Consolas"/>
              </a:rPr>
              <a:t>x.upper</a:t>
            </a:r>
            <a:r>
              <a:rPr lang="en-US" sz="1600" dirty="0">
                <a:solidFill>
                  <a:srgbClr val="000000"/>
                </a:solidFill>
                <a:latin typeface="Consolas"/>
              </a:rPr>
              <a:t>()</a:t>
            </a:r>
          </a:p>
          <a:p>
            <a:r>
              <a:rPr lang="en-US" sz="1600" dirty="0">
                <a:solidFill>
                  <a:srgbClr val="000000"/>
                </a:solidFill>
                <a:latin typeface="Consolas"/>
              </a:rPr>
              <a:t>print(c)</a:t>
            </a:r>
          </a:p>
          <a:p>
            <a:r>
              <a:rPr lang="en-US" sz="1600" dirty="0">
                <a:solidFill>
                  <a:srgbClr val="000000"/>
                </a:solidFill>
                <a:latin typeface="Consolas"/>
              </a:rPr>
              <a:t>print(l)</a:t>
            </a:r>
          </a:p>
          <a:p>
            <a:r>
              <a:rPr lang="en-US" sz="1600" dirty="0">
                <a:solidFill>
                  <a:srgbClr val="000000"/>
                </a:solidFill>
                <a:latin typeface="Consolas"/>
              </a:rPr>
              <a:t>print(u)</a:t>
            </a:r>
            <a:endParaRPr lang="en-US" sz="1600" b="0" dirty="0">
              <a:solidFill>
                <a:srgbClr val="000000"/>
              </a:solidFill>
              <a:latin typeface="Consolas"/>
            </a:endParaRPr>
          </a:p>
        </p:txBody>
      </p:sp>
      <p:sp>
        <p:nvSpPr>
          <p:cNvPr id="9" name="Rectangle 8">
            <a:extLst>
              <a:ext uri="{FF2B5EF4-FFF2-40B4-BE49-F238E27FC236}">
                <a16:creationId xmlns:a16="http://schemas.microsoft.com/office/drawing/2014/main" xmlns="" id="{35F9F4A0-4592-C04D-B2D0-0BF66A3BFA20}"/>
              </a:ext>
            </a:extLst>
          </p:cNvPr>
          <p:cNvSpPr/>
          <p:nvPr/>
        </p:nvSpPr>
        <p:spPr>
          <a:xfrm>
            <a:off x="541478" y="3826759"/>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endParaRPr lang="en-US" sz="1600" b="1" dirty="0">
              <a:solidFill>
                <a:schemeClr val="tx1">
                  <a:lumMod val="75000"/>
                  <a:lumOff val="25000"/>
                </a:schemeClr>
              </a:solidFill>
              <a:latin typeface="Consolas" panose="020B0609020204030204" pitchFamily="49" charset="0"/>
            </a:endParaRPr>
          </a:p>
        </p:txBody>
      </p:sp>
      <p:sp>
        <p:nvSpPr>
          <p:cNvPr id="10" name="Rectangle: Top Corners Rounded 6">
            <a:extLst>
              <a:ext uri="{FF2B5EF4-FFF2-40B4-BE49-F238E27FC236}">
                <a16:creationId xmlns:a16="http://schemas.microsoft.com/office/drawing/2014/main" xmlns="" id="{0336C271-A2A3-9445-9946-5006F0A250F4}"/>
              </a:ext>
            </a:extLst>
          </p:cNvPr>
          <p:cNvSpPr/>
          <p:nvPr/>
        </p:nvSpPr>
        <p:spPr>
          <a:xfrm>
            <a:off x="541478" y="349757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changecase.py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7"/>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bg/>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animBg="1"/>
      <p:bldP spid="7" grpId="1" animBg="1"/>
      <p:bldP spid="8" grpId="0" build="p" animBg="1"/>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methods (cont.)</a:t>
            </a:r>
            <a:endParaRPr lang="en-US" dirty="0"/>
          </a:p>
        </p:txBody>
      </p:sp>
      <p:sp>
        <p:nvSpPr>
          <p:cNvPr id="3" name="Content Placeholder 2"/>
          <p:cNvSpPr>
            <a:spLocks noGrp="1"/>
          </p:cNvSpPr>
          <p:nvPr>
            <p:ph idx="1"/>
          </p:nvPr>
        </p:nvSpPr>
        <p:spPr/>
        <p:txBody>
          <a:bodyPr/>
          <a:lstStyle/>
          <a:p>
            <a:pPr marL="265113" lvl="1" indent="-265113">
              <a:spcBef>
                <a:spcPts val="1000"/>
              </a:spcBef>
              <a:buFont typeface="Wingdings 3" panose="05040102010807070707" pitchFamily="18" charset="2"/>
              <a:buChar char=""/>
            </a:pPr>
            <a:r>
              <a:rPr lang="en-IN" sz="2400" b="1" dirty="0" err="1"/>
              <a:t>istitle</a:t>
            </a:r>
            <a:r>
              <a:rPr lang="en-IN" sz="2400" dirty="0"/>
              <a:t>(), </a:t>
            </a:r>
            <a:r>
              <a:rPr lang="en-IN" sz="2400" b="1" dirty="0" err="1"/>
              <a:t>islower</a:t>
            </a:r>
            <a:r>
              <a:rPr lang="en-IN" sz="2400" dirty="0"/>
              <a:t>(), </a:t>
            </a:r>
            <a:r>
              <a:rPr lang="en-IN" sz="2400" b="1" dirty="0" err="1"/>
              <a:t>isupper</a:t>
            </a:r>
            <a:r>
              <a:rPr lang="en-IN" sz="2400" dirty="0"/>
              <a:t>()</a:t>
            </a:r>
            <a:r>
              <a:rPr lang="en-US" sz="2400" dirty="0"/>
              <a:t> will returns True if the given string is capitalized, lower case and upper case respectively.</a:t>
            </a:r>
          </a:p>
          <a:p>
            <a:endParaRPr lang="en-IN" dirty="0"/>
          </a:p>
          <a:p>
            <a:endParaRPr lang="en-IN" dirty="0"/>
          </a:p>
          <a:p>
            <a:endParaRPr lang="en-IN" dirty="0"/>
          </a:p>
          <a:p>
            <a:pPr marL="265113" lvl="1" indent="-265113">
              <a:spcBef>
                <a:spcPts val="1000"/>
              </a:spcBef>
              <a:buFont typeface="Wingdings 3" panose="05040102010807070707" pitchFamily="18" charset="2"/>
              <a:buChar char=""/>
            </a:pPr>
            <a:endParaRPr lang="en-IN" sz="2400" dirty="0"/>
          </a:p>
          <a:p>
            <a:pPr marL="265113" lvl="1" indent="-265113">
              <a:spcBef>
                <a:spcPts val="1000"/>
              </a:spcBef>
              <a:buFont typeface="Wingdings 3" panose="05040102010807070707" pitchFamily="18" charset="2"/>
              <a:buChar char=""/>
            </a:pPr>
            <a:endParaRPr lang="en-IN" sz="2400" dirty="0"/>
          </a:p>
          <a:p>
            <a:pPr marL="265113" lvl="1" indent="-265113">
              <a:spcBef>
                <a:spcPts val="1000"/>
              </a:spcBef>
              <a:buFont typeface="Wingdings 3" panose="05040102010807070707" pitchFamily="18" charset="2"/>
              <a:buChar char=""/>
            </a:pPr>
            <a:r>
              <a:rPr lang="en-IN" sz="2400" b="1" dirty="0"/>
              <a:t>strip</a:t>
            </a:r>
            <a:r>
              <a:rPr lang="en-IN" sz="2400" dirty="0"/>
              <a:t>() method will </a:t>
            </a:r>
            <a:r>
              <a:rPr lang="en-US" sz="2400" dirty="0"/>
              <a:t>remove whitespaces from both side of the string and returns the string.</a:t>
            </a:r>
          </a:p>
          <a:p>
            <a:pPr marL="265113" lvl="1" indent="-265113">
              <a:spcBef>
                <a:spcPts val="1000"/>
              </a:spcBef>
              <a:buFont typeface="Wingdings 3" panose="05040102010807070707" pitchFamily="18" charset="2"/>
              <a:buChar char=""/>
            </a:pPr>
            <a:endParaRPr lang="en-IN" sz="2400" dirty="0"/>
          </a:p>
          <a:p>
            <a:pPr marL="265113" lvl="1" indent="-265113">
              <a:spcBef>
                <a:spcPts val="1000"/>
              </a:spcBef>
              <a:buFont typeface="Wingdings 3" panose="05040102010807070707" pitchFamily="18" charset="2"/>
              <a:buChar char=""/>
            </a:pPr>
            <a:endParaRPr lang="en-IN" sz="2400" dirty="0"/>
          </a:p>
          <a:p>
            <a:pPr marL="265113" lvl="1" indent="-265113">
              <a:spcBef>
                <a:spcPts val="1000"/>
              </a:spcBef>
              <a:buFont typeface="Wingdings 3" panose="05040102010807070707" pitchFamily="18" charset="2"/>
              <a:buChar char=""/>
            </a:pPr>
            <a:endParaRPr lang="en-IN" sz="2400" dirty="0"/>
          </a:p>
          <a:p>
            <a:pPr marL="265113" lvl="1" indent="-265113">
              <a:spcBef>
                <a:spcPts val="1000"/>
              </a:spcBef>
              <a:buFont typeface="Wingdings 3" panose="05040102010807070707" pitchFamily="18" charset="2"/>
              <a:buChar char=""/>
            </a:pPr>
            <a:r>
              <a:rPr lang="en-IN" sz="2400" b="1" dirty="0" err="1"/>
              <a:t>rstrip</a:t>
            </a:r>
            <a:r>
              <a:rPr lang="en-IN" sz="2400" dirty="0"/>
              <a:t>() and </a:t>
            </a:r>
            <a:r>
              <a:rPr lang="en-IN" sz="2400" b="1" dirty="0" err="1"/>
              <a:t>lstrip</a:t>
            </a:r>
            <a:r>
              <a:rPr lang="en-IN" sz="2400" dirty="0"/>
              <a:t>() will remove whitespaces from right and left side respectively.</a:t>
            </a:r>
          </a:p>
        </p:txBody>
      </p:sp>
      <p:sp>
        <p:nvSpPr>
          <p:cNvPr id="4" name="Rectangle 3">
            <a:extLst>
              <a:ext uri="{FF2B5EF4-FFF2-40B4-BE49-F238E27FC236}">
                <a16:creationId xmlns:a16="http://schemas.microsoft.com/office/drawing/2014/main" xmlns="" id="{D456EBDA-49A4-A843-A786-6989C63A54AA}"/>
              </a:ext>
            </a:extLst>
          </p:cNvPr>
          <p:cNvSpPr/>
          <p:nvPr/>
        </p:nvSpPr>
        <p:spPr>
          <a:xfrm>
            <a:off x="1005702" y="4771862"/>
            <a:ext cx="8472276" cy="86177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     bijal88  '</a:t>
            </a:r>
            <a:endParaRPr lang="en-US" sz="1600" dirty="0">
              <a:solidFill>
                <a:srgbClr val="000000"/>
              </a:solidFill>
              <a:latin typeface="Consolas"/>
            </a:endParaRPr>
          </a:p>
          <a:p>
            <a:r>
              <a:rPr lang="en-US" sz="1600" dirty="0">
                <a:solidFill>
                  <a:srgbClr val="000000"/>
                </a:solidFill>
                <a:latin typeface="Consolas"/>
              </a:rPr>
              <a:t>f = </a:t>
            </a:r>
            <a:r>
              <a:rPr lang="en-US" sz="1600" dirty="0" err="1">
                <a:solidFill>
                  <a:srgbClr val="000000"/>
                </a:solidFill>
                <a:latin typeface="Consolas"/>
              </a:rPr>
              <a:t>x.strip</a:t>
            </a:r>
            <a:r>
              <a:rPr lang="en-US" sz="1600" dirty="0">
                <a:solidFill>
                  <a:srgbClr val="000000"/>
                </a:solidFill>
                <a:latin typeface="Consolas"/>
              </a:rPr>
              <a:t>()</a:t>
            </a:r>
          </a:p>
          <a:p>
            <a:r>
              <a:rPr lang="en-US" sz="1600" dirty="0">
                <a:solidFill>
                  <a:srgbClr val="000000"/>
                </a:solidFill>
                <a:latin typeface="Consolas"/>
              </a:rPr>
              <a:t>print(f)</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05709" y="4771862"/>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05709" y="444267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stripdemo.py</a:t>
            </a:r>
          </a:p>
        </p:txBody>
      </p:sp>
      <p:sp>
        <p:nvSpPr>
          <p:cNvPr id="8" name="Rectangle 7">
            <a:extLst>
              <a:ext uri="{FF2B5EF4-FFF2-40B4-BE49-F238E27FC236}">
                <a16:creationId xmlns:a16="http://schemas.microsoft.com/office/drawing/2014/main" xmlns="" id="{D456EBDA-49A4-A843-A786-6989C63A54AA}"/>
              </a:ext>
            </a:extLst>
          </p:cNvPr>
          <p:cNvSpPr/>
          <p:nvPr/>
        </p:nvSpPr>
        <p:spPr>
          <a:xfrm>
            <a:off x="1041471" y="1964093"/>
            <a:ext cx="8472276" cy="1846659"/>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 ‘”</a:t>
            </a:r>
            <a:r>
              <a:rPr lang="en-US" sz="1600" dirty="0" err="1">
                <a:solidFill>
                  <a:srgbClr val="A31515"/>
                </a:solidFill>
                <a:latin typeface="Consolas"/>
              </a:rPr>
              <a:t>Gec</a:t>
            </a:r>
            <a:r>
              <a:rPr lang="en-US" sz="1600" dirty="0">
                <a:solidFill>
                  <a:srgbClr val="A31515"/>
                </a:solidFill>
                <a:latin typeface="Consolas"/>
              </a:rPr>
              <a:t> </a:t>
            </a:r>
            <a:r>
              <a:rPr lang="en-US" sz="1600" dirty="0" err="1">
                <a:solidFill>
                  <a:srgbClr val="A31515"/>
                </a:solidFill>
                <a:latin typeface="Consolas"/>
              </a:rPr>
              <a:t>Gandhinagar</a:t>
            </a:r>
            <a:r>
              <a:rPr lang="en-US" sz="1600" dirty="0">
                <a:solidFill>
                  <a:srgbClr val="A31515"/>
                </a:solidFill>
                <a:latin typeface="Consolas"/>
              </a:rPr>
              <a:t>, </a:t>
            </a:r>
            <a:r>
              <a:rPr lang="en-US" sz="1600" dirty="0" err="1">
                <a:solidFill>
                  <a:srgbClr val="A31515"/>
                </a:solidFill>
                <a:latin typeface="Consolas"/>
              </a:rPr>
              <a:t>Secotr</a:t>
            </a:r>
            <a:r>
              <a:rPr lang="en-US" sz="1600" dirty="0">
                <a:solidFill>
                  <a:srgbClr val="A31515"/>
                </a:solidFill>
                <a:latin typeface="Consolas"/>
              </a:rPr>
              <a:t> 28</a:t>
            </a:r>
            <a:endParaRPr lang="en-US" sz="1600" dirty="0">
              <a:solidFill>
                <a:srgbClr val="000000"/>
              </a:solidFill>
              <a:latin typeface="Consolas"/>
            </a:endParaRPr>
          </a:p>
          <a:p>
            <a:r>
              <a:rPr lang="en-US" sz="1600" dirty="0">
                <a:solidFill>
                  <a:srgbClr val="000000"/>
                </a:solidFill>
                <a:latin typeface="Consolas"/>
              </a:rPr>
              <a:t>c = </a:t>
            </a:r>
            <a:r>
              <a:rPr lang="en-US" sz="1600" dirty="0" err="1">
                <a:solidFill>
                  <a:srgbClr val="000000"/>
                </a:solidFill>
                <a:latin typeface="Consolas"/>
              </a:rPr>
              <a:t>x.istitle</a:t>
            </a:r>
            <a:r>
              <a:rPr lang="en-US" sz="1600" dirty="0">
                <a:solidFill>
                  <a:srgbClr val="000000"/>
                </a:solidFill>
                <a:latin typeface="Consolas"/>
              </a:rPr>
              <a:t>()</a:t>
            </a:r>
          </a:p>
          <a:p>
            <a:r>
              <a:rPr lang="en-US" sz="1600" dirty="0">
                <a:solidFill>
                  <a:srgbClr val="000000"/>
                </a:solidFill>
                <a:latin typeface="Consolas"/>
              </a:rPr>
              <a:t>l = </a:t>
            </a:r>
            <a:r>
              <a:rPr lang="en-US" sz="1600" dirty="0" err="1">
                <a:solidFill>
                  <a:srgbClr val="000000"/>
                </a:solidFill>
                <a:latin typeface="Consolas"/>
              </a:rPr>
              <a:t>x.islower</a:t>
            </a:r>
            <a:r>
              <a:rPr lang="en-US" sz="1600" dirty="0">
                <a:solidFill>
                  <a:srgbClr val="000000"/>
                </a:solidFill>
                <a:latin typeface="Consolas"/>
              </a:rPr>
              <a:t>()</a:t>
            </a:r>
          </a:p>
          <a:p>
            <a:r>
              <a:rPr lang="en-US" sz="1600" dirty="0">
                <a:solidFill>
                  <a:srgbClr val="000000"/>
                </a:solidFill>
                <a:latin typeface="Consolas"/>
              </a:rPr>
              <a:t>u = </a:t>
            </a:r>
            <a:r>
              <a:rPr lang="en-US" sz="1600" dirty="0" err="1">
                <a:solidFill>
                  <a:srgbClr val="000000"/>
                </a:solidFill>
                <a:latin typeface="Consolas"/>
              </a:rPr>
              <a:t>x.isupper</a:t>
            </a:r>
            <a:r>
              <a:rPr lang="en-US" sz="1600" dirty="0">
                <a:solidFill>
                  <a:srgbClr val="000000"/>
                </a:solidFill>
                <a:latin typeface="Consolas"/>
              </a:rPr>
              <a:t>()</a:t>
            </a:r>
          </a:p>
          <a:p>
            <a:r>
              <a:rPr lang="en-US" sz="1600" dirty="0">
                <a:solidFill>
                  <a:srgbClr val="000000"/>
                </a:solidFill>
                <a:latin typeface="Consolas"/>
              </a:rPr>
              <a:t>print(c)</a:t>
            </a:r>
          </a:p>
          <a:p>
            <a:r>
              <a:rPr lang="en-US" sz="1600" dirty="0">
                <a:solidFill>
                  <a:srgbClr val="000000"/>
                </a:solidFill>
                <a:latin typeface="Consolas"/>
              </a:rPr>
              <a:t>print(l)</a:t>
            </a:r>
          </a:p>
          <a:p>
            <a:r>
              <a:rPr lang="en-US" sz="1600" dirty="0">
                <a:solidFill>
                  <a:srgbClr val="000000"/>
                </a:solidFill>
                <a:latin typeface="Consolas"/>
              </a:rPr>
              <a:t>print(u)</a:t>
            </a:r>
            <a:endParaRPr lang="en-US" sz="1600" b="0" dirty="0">
              <a:solidFill>
                <a:srgbClr val="000000"/>
              </a:solidFill>
              <a:latin typeface="Consolas"/>
            </a:endParaRPr>
          </a:p>
        </p:txBody>
      </p:sp>
      <p:sp>
        <p:nvSpPr>
          <p:cNvPr id="9" name="Rectangle 8">
            <a:extLst>
              <a:ext uri="{FF2B5EF4-FFF2-40B4-BE49-F238E27FC236}">
                <a16:creationId xmlns:a16="http://schemas.microsoft.com/office/drawing/2014/main" xmlns="" id="{35F9F4A0-4592-C04D-B2D0-0BF66A3BFA20}"/>
              </a:ext>
            </a:extLst>
          </p:cNvPr>
          <p:cNvSpPr/>
          <p:nvPr/>
        </p:nvSpPr>
        <p:spPr>
          <a:xfrm>
            <a:off x="541478" y="1964093"/>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endParaRPr lang="en-US" sz="1600" b="1" dirty="0">
              <a:solidFill>
                <a:schemeClr val="tx1">
                  <a:lumMod val="75000"/>
                  <a:lumOff val="25000"/>
                </a:schemeClr>
              </a:solidFill>
              <a:latin typeface="Consolas" panose="020B0609020204030204" pitchFamily="49" charset="0"/>
            </a:endParaRPr>
          </a:p>
        </p:txBody>
      </p:sp>
      <p:sp>
        <p:nvSpPr>
          <p:cNvPr id="10" name="Rectangle: Top Corners Rounded 6">
            <a:extLst>
              <a:ext uri="{FF2B5EF4-FFF2-40B4-BE49-F238E27FC236}">
                <a16:creationId xmlns:a16="http://schemas.microsoft.com/office/drawing/2014/main" xmlns="" id="{0336C271-A2A3-9445-9946-5006F0A250F4}"/>
              </a:ext>
            </a:extLst>
          </p:cNvPr>
          <p:cNvSpPr/>
          <p:nvPr/>
        </p:nvSpPr>
        <p:spPr>
          <a:xfrm>
            <a:off x="541478" y="1634909"/>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checkcase.py</a:t>
            </a:r>
          </a:p>
        </p:txBody>
      </p:sp>
      <p:sp>
        <p:nvSpPr>
          <p:cNvPr id="11" name="Line Callout 1 10"/>
          <p:cNvSpPr/>
          <p:nvPr/>
        </p:nvSpPr>
        <p:spPr>
          <a:xfrm>
            <a:off x="4723247" y="2055085"/>
            <a:ext cx="4495800" cy="510412"/>
          </a:xfrm>
          <a:prstGeom prst="borderCallout1">
            <a:avLst>
              <a:gd name="adj1" fmla="val 53885"/>
              <a:gd name="adj2" fmla="val -612"/>
              <a:gd name="adj3" fmla="val 204649"/>
              <a:gd name="adj4" fmla="val -59031"/>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False</a:t>
            </a:r>
            <a:endParaRPr lang="en-US" b="1" i="1" dirty="0">
              <a:solidFill>
                <a:srgbClr val="FF0000"/>
              </a:solidFill>
            </a:endParaRPr>
          </a:p>
        </p:txBody>
      </p:sp>
      <p:sp>
        <p:nvSpPr>
          <p:cNvPr id="12" name="Line Callout 1 11"/>
          <p:cNvSpPr/>
          <p:nvPr/>
        </p:nvSpPr>
        <p:spPr>
          <a:xfrm>
            <a:off x="4721535" y="2639000"/>
            <a:ext cx="4495800" cy="510412"/>
          </a:xfrm>
          <a:prstGeom prst="borderCallout1">
            <a:avLst>
              <a:gd name="adj1" fmla="val 53885"/>
              <a:gd name="adj2" fmla="val -612"/>
              <a:gd name="adj3" fmla="val 140236"/>
              <a:gd name="adj4" fmla="val -59031"/>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True</a:t>
            </a:r>
            <a:endParaRPr lang="en-US" b="1" i="1" dirty="0">
              <a:solidFill>
                <a:srgbClr val="FF0000"/>
              </a:solidFill>
            </a:endParaRPr>
          </a:p>
        </p:txBody>
      </p:sp>
      <p:sp>
        <p:nvSpPr>
          <p:cNvPr id="13" name="Line Callout 1 12"/>
          <p:cNvSpPr/>
          <p:nvPr/>
        </p:nvSpPr>
        <p:spPr>
          <a:xfrm>
            <a:off x="4740371" y="3222914"/>
            <a:ext cx="4495800" cy="510412"/>
          </a:xfrm>
          <a:prstGeom prst="borderCallout1">
            <a:avLst>
              <a:gd name="adj1" fmla="val 53885"/>
              <a:gd name="adj2" fmla="val -612"/>
              <a:gd name="adj3" fmla="val 71797"/>
              <a:gd name="adj4" fmla="val -5948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False</a:t>
            </a:r>
            <a:endParaRPr lang="en-US" b="1" i="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
                                            <p:bg/>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8" grpId="0" uiExpand="1" build="p" animBg="1"/>
      <p:bldP spid="9" grpId="0" animBg="1"/>
      <p:bldP spid="10" grpId="0" animBg="1"/>
      <p:bldP spid="11" grpId="0" animBg="1"/>
      <p:bldP spid="11" grpId="1" animBg="1"/>
      <p:bldP spid="12" grpId="0" animBg="1"/>
      <p:bldP spid="12" grpId="1" animBg="1"/>
      <p:bldP spid="13" grpId="0" animBg="1"/>
      <p:bldP spid="13" grpId="1"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methods (cont.)</a:t>
            </a:r>
            <a:endParaRPr lang="en-US" dirty="0"/>
          </a:p>
        </p:txBody>
      </p:sp>
      <p:sp>
        <p:nvSpPr>
          <p:cNvPr id="3" name="Content Placeholder 2"/>
          <p:cNvSpPr>
            <a:spLocks noGrp="1"/>
          </p:cNvSpPr>
          <p:nvPr>
            <p:ph idx="1"/>
          </p:nvPr>
        </p:nvSpPr>
        <p:spPr/>
        <p:txBody>
          <a:bodyPr/>
          <a:lstStyle/>
          <a:p>
            <a:r>
              <a:rPr lang="en-IN" b="1" dirty="0"/>
              <a:t>find</a:t>
            </a:r>
            <a:r>
              <a:rPr lang="en-IN" dirty="0"/>
              <a:t>() method will search the string and </a:t>
            </a:r>
            <a:r>
              <a:rPr lang="en-US" dirty="0"/>
              <a:t>returns the index at which they find the specified value</a:t>
            </a:r>
          </a:p>
          <a:p>
            <a:endParaRPr lang="en-IN" dirty="0"/>
          </a:p>
          <a:p>
            <a:endParaRPr lang="en-IN" dirty="0"/>
          </a:p>
          <a:p>
            <a:endParaRPr lang="en-IN" dirty="0"/>
          </a:p>
          <a:p>
            <a:r>
              <a:rPr lang="en-IN" b="1" dirty="0" err="1"/>
              <a:t>rfind</a:t>
            </a:r>
            <a:r>
              <a:rPr lang="en-IN" dirty="0"/>
              <a:t>() will search the string and </a:t>
            </a:r>
            <a:r>
              <a:rPr lang="en-US" dirty="0"/>
              <a:t>returns the last index at which they find the specified value</a:t>
            </a:r>
          </a:p>
          <a:p>
            <a:endParaRPr lang="en-IN" dirty="0"/>
          </a:p>
          <a:p>
            <a:endParaRPr lang="en-IN" dirty="0"/>
          </a:p>
          <a:p>
            <a:endParaRPr lang="en-IN" dirty="0"/>
          </a:p>
          <a:p>
            <a:pPr marL="265113" lvl="1" indent="-265113">
              <a:spcBef>
                <a:spcPts val="1000"/>
              </a:spcBef>
              <a:buFont typeface="Wingdings 3" panose="05040102010807070707" pitchFamily="18" charset="2"/>
              <a:buChar char=""/>
            </a:pPr>
            <a:r>
              <a:rPr lang="en-IN" sz="2400" b="1" dirty="0"/>
              <a:t>Note</a:t>
            </a:r>
            <a:r>
              <a:rPr lang="en-IN" sz="2400" dirty="0"/>
              <a:t> : </a:t>
            </a:r>
            <a:r>
              <a:rPr lang="en-IN" sz="2400" b="1" dirty="0"/>
              <a:t>find</a:t>
            </a:r>
            <a:r>
              <a:rPr lang="en-IN" sz="2400" dirty="0"/>
              <a:t>() and </a:t>
            </a:r>
            <a:r>
              <a:rPr lang="en-IN" sz="2400" b="1" dirty="0" err="1"/>
              <a:t>rfind</a:t>
            </a:r>
            <a:r>
              <a:rPr lang="en-IN" sz="2400" dirty="0"/>
              <a:t>() will </a:t>
            </a:r>
            <a:r>
              <a:rPr lang="en-IN" sz="2400" b="1" dirty="0"/>
              <a:t>return -1</a:t>
            </a:r>
            <a:r>
              <a:rPr lang="en-IN" sz="2400" dirty="0"/>
              <a:t> if they are unable to find the given string.</a:t>
            </a:r>
          </a:p>
          <a:p>
            <a:pPr marL="265113" lvl="1" indent="-265113">
              <a:spcBef>
                <a:spcPts val="1000"/>
              </a:spcBef>
              <a:buFont typeface="Wingdings 3" panose="05040102010807070707" pitchFamily="18" charset="2"/>
              <a:buChar char=""/>
            </a:pPr>
            <a:r>
              <a:rPr lang="en-IN" sz="2400" b="1" dirty="0"/>
              <a:t>replace</a:t>
            </a:r>
            <a:r>
              <a:rPr lang="en-IN" sz="2400" dirty="0"/>
              <a:t>() will </a:t>
            </a:r>
            <a:r>
              <a:rPr lang="en-US" sz="2400" dirty="0"/>
              <a:t>replace str1 with str2 from our string and return the updated string</a:t>
            </a:r>
            <a:endParaRPr lang="en-IN" sz="2400"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1598979"/>
            <a:ext cx="8472276" cy="86177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a:t>
            </a:r>
            <a:r>
              <a:rPr lang="en-US" sz="1600" dirty="0" err="1">
                <a:solidFill>
                  <a:srgbClr val="A31515"/>
                </a:solidFill>
                <a:latin typeface="Consolas"/>
              </a:rPr>
              <a:t>Gec</a:t>
            </a:r>
            <a:r>
              <a:rPr lang="en-US" sz="1600" dirty="0">
                <a:solidFill>
                  <a:srgbClr val="A31515"/>
                </a:solidFill>
                <a:latin typeface="Consolas"/>
              </a:rPr>
              <a:t> </a:t>
            </a:r>
            <a:r>
              <a:rPr lang="en-US" sz="1600" dirty="0" err="1">
                <a:solidFill>
                  <a:srgbClr val="A31515"/>
                </a:solidFill>
                <a:latin typeface="Consolas"/>
              </a:rPr>
              <a:t>Gandhinagara</a:t>
            </a:r>
            <a:r>
              <a:rPr lang="en-US" sz="1600" dirty="0">
                <a:solidFill>
                  <a:srgbClr val="A31515"/>
                </a:solidFill>
                <a:latin typeface="Consolas"/>
              </a:rPr>
              <a:t>, </a:t>
            </a:r>
            <a:r>
              <a:rPr lang="en-US" sz="1600" dirty="0" err="1">
                <a:solidFill>
                  <a:srgbClr val="A31515"/>
                </a:solidFill>
                <a:latin typeface="Consolas"/>
              </a:rPr>
              <a:t>Secotr</a:t>
            </a:r>
            <a:r>
              <a:rPr lang="en-US" sz="1600" dirty="0">
                <a:solidFill>
                  <a:srgbClr val="A31515"/>
                </a:solidFill>
                <a:latin typeface="Consolas"/>
              </a:rPr>
              <a:t> 28, Gujarat'</a:t>
            </a:r>
            <a:endParaRPr lang="en-US" sz="1600" dirty="0">
              <a:solidFill>
                <a:srgbClr val="000000"/>
              </a:solidFill>
              <a:latin typeface="Consolas"/>
            </a:endParaRPr>
          </a:p>
          <a:p>
            <a:r>
              <a:rPr lang="en-US" sz="1600" dirty="0">
                <a:solidFill>
                  <a:srgbClr val="000000"/>
                </a:solidFill>
                <a:latin typeface="Consolas"/>
              </a:rPr>
              <a:t>f = </a:t>
            </a:r>
            <a:r>
              <a:rPr lang="en-US" sz="1600" dirty="0" err="1">
                <a:solidFill>
                  <a:srgbClr val="000000"/>
                </a:solidFill>
                <a:latin typeface="Consolas"/>
              </a:rPr>
              <a:t>x.find</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ra</a:t>
            </a:r>
            <a:r>
              <a:rPr lang="en-US" sz="1600" dirty="0">
                <a:solidFill>
                  <a:srgbClr val="A31515"/>
                </a:solidFill>
                <a:latin typeface="Consolas"/>
              </a:rPr>
              <a:t>'</a:t>
            </a:r>
            <a:r>
              <a:rPr lang="en-US" sz="1600" dirty="0">
                <a:solidFill>
                  <a:srgbClr val="000000"/>
                </a:solidFill>
                <a:latin typeface="Consolas"/>
              </a:rPr>
              <a:t>)</a:t>
            </a:r>
          </a:p>
          <a:p>
            <a:r>
              <a:rPr lang="en-US" sz="1600" dirty="0">
                <a:solidFill>
                  <a:srgbClr val="000000"/>
                </a:solidFill>
                <a:latin typeface="Consolas"/>
              </a:rPr>
              <a:t>print(f)</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1598979"/>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126979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finddemo.py</a:t>
            </a:r>
          </a:p>
        </p:txBody>
      </p:sp>
      <p:sp>
        <p:nvSpPr>
          <p:cNvPr id="14" name="Rectangle 13">
            <a:extLst>
              <a:ext uri="{FF2B5EF4-FFF2-40B4-BE49-F238E27FC236}">
                <a16:creationId xmlns:a16="http://schemas.microsoft.com/office/drawing/2014/main" xmlns="" id="{D456EBDA-49A4-A843-A786-6989C63A54AA}"/>
              </a:ext>
            </a:extLst>
          </p:cNvPr>
          <p:cNvSpPr/>
          <p:nvPr/>
        </p:nvSpPr>
        <p:spPr>
          <a:xfrm>
            <a:off x="1022635" y="3427778"/>
            <a:ext cx="8472276"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 '</a:t>
            </a:r>
            <a:r>
              <a:rPr lang="en-US" sz="1600" dirty="0" err="1">
                <a:solidFill>
                  <a:srgbClr val="A31515"/>
                </a:solidFill>
                <a:latin typeface="Consolas"/>
              </a:rPr>
              <a:t>Gec</a:t>
            </a:r>
            <a:r>
              <a:rPr lang="en-US" sz="1600" dirty="0">
                <a:solidFill>
                  <a:srgbClr val="A31515"/>
                </a:solidFill>
                <a:latin typeface="Consolas"/>
              </a:rPr>
              <a:t> </a:t>
            </a:r>
            <a:r>
              <a:rPr lang="en-US" sz="1600" dirty="0" err="1">
                <a:solidFill>
                  <a:srgbClr val="A31515"/>
                </a:solidFill>
                <a:latin typeface="Consolas"/>
              </a:rPr>
              <a:t>Gandhinagara</a:t>
            </a:r>
            <a:r>
              <a:rPr lang="en-US" sz="1600" dirty="0">
                <a:solidFill>
                  <a:srgbClr val="A31515"/>
                </a:solidFill>
                <a:latin typeface="Consolas"/>
              </a:rPr>
              <a:t>, </a:t>
            </a:r>
            <a:r>
              <a:rPr lang="en-US" sz="1600" dirty="0" err="1">
                <a:solidFill>
                  <a:srgbClr val="A31515"/>
                </a:solidFill>
                <a:latin typeface="Consolas"/>
              </a:rPr>
              <a:t>Secotr</a:t>
            </a:r>
            <a:r>
              <a:rPr lang="en-US" sz="1600" dirty="0">
                <a:solidFill>
                  <a:srgbClr val="A31515"/>
                </a:solidFill>
                <a:latin typeface="Consolas"/>
              </a:rPr>
              <a:t> 28, Gujarat' </a:t>
            </a:r>
          </a:p>
          <a:p>
            <a:r>
              <a:rPr lang="en-US" sz="1600" dirty="0">
                <a:solidFill>
                  <a:srgbClr val="000000"/>
                </a:solidFill>
                <a:latin typeface="Consolas"/>
              </a:rPr>
              <a:t>r = </a:t>
            </a:r>
            <a:r>
              <a:rPr lang="en-US" sz="1600" dirty="0" err="1">
                <a:solidFill>
                  <a:srgbClr val="000000"/>
                </a:solidFill>
                <a:latin typeface="Consolas"/>
              </a:rPr>
              <a:t>x.rfind</a:t>
            </a:r>
            <a:r>
              <a:rPr lang="en-US" sz="1600" dirty="0">
                <a:solidFill>
                  <a:srgbClr val="000000"/>
                </a:solidFill>
                <a:latin typeface="Consolas"/>
              </a:rPr>
              <a:t>(</a:t>
            </a:r>
            <a:r>
              <a:rPr lang="en-US" sz="1600" dirty="0">
                <a:solidFill>
                  <a:srgbClr val="A31515"/>
                </a:solidFill>
                <a:latin typeface="Consolas"/>
              </a:rPr>
              <a:t>'in'</a:t>
            </a:r>
            <a:r>
              <a:rPr lang="en-US" sz="1600" dirty="0">
                <a:solidFill>
                  <a:srgbClr val="000000"/>
                </a:solidFill>
                <a:latin typeface="Consolas"/>
              </a:rPr>
              <a:t>)</a:t>
            </a:r>
          </a:p>
          <a:p>
            <a:r>
              <a:rPr lang="en-US" sz="1600" dirty="0">
                <a:solidFill>
                  <a:srgbClr val="000000"/>
                </a:solidFill>
                <a:latin typeface="Consolas"/>
              </a:rPr>
              <a:t>print(r)</a:t>
            </a:r>
            <a:endParaRPr lang="en-US" sz="1600" b="0" dirty="0">
              <a:solidFill>
                <a:srgbClr val="000000"/>
              </a:solidFill>
              <a:latin typeface="Consolas"/>
            </a:endParaRPr>
          </a:p>
        </p:txBody>
      </p:sp>
      <p:sp>
        <p:nvSpPr>
          <p:cNvPr id="15" name="Rectangle 14">
            <a:extLst>
              <a:ext uri="{FF2B5EF4-FFF2-40B4-BE49-F238E27FC236}">
                <a16:creationId xmlns:a16="http://schemas.microsoft.com/office/drawing/2014/main" xmlns="" id="{35F9F4A0-4592-C04D-B2D0-0BF66A3BFA20}"/>
              </a:ext>
            </a:extLst>
          </p:cNvPr>
          <p:cNvSpPr/>
          <p:nvPr/>
        </p:nvSpPr>
        <p:spPr>
          <a:xfrm>
            <a:off x="522642" y="3427778"/>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16" name="Rectangle: Top Corners Rounded 6">
            <a:extLst>
              <a:ext uri="{FF2B5EF4-FFF2-40B4-BE49-F238E27FC236}">
                <a16:creationId xmlns:a16="http://schemas.microsoft.com/office/drawing/2014/main" xmlns="" id="{0336C271-A2A3-9445-9946-5006F0A250F4}"/>
              </a:ext>
            </a:extLst>
          </p:cNvPr>
          <p:cNvSpPr/>
          <p:nvPr/>
        </p:nvSpPr>
        <p:spPr>
          <a:xfrm>
            <a:off x="522642" y="3098594"/>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rfinddemo.py</a:t>
            </a:r>
          </a:p>
        </p:txBody>
      </p:sp>
      <p:sp>
        <p:nvSpPr>
          <p:cNvPr id="18" name="Rectangle 17">
            <a:extLst>
              <a:ext uri="{FF2B5EF4-FFF2-40B4-BE49-F238E27FC236}">
                <a16:creationId xmlns:a16="http://schemas.microsoft.com/office/drawing/2014/main" xmlns="" id="{D456EBDA-49A4-A843-A786-6989C63A54AA}"/>
              </a:ext>
            </a:extLst>
          </p:cNvPr>
          <p:cNvSpPr/>
          <p:nvPr/>
        </p:nvSpPr>
        <p:spPr>
          <a:xfrm>
            <a:off x="1022635" y="5696863"/>
            <a:ext cx="8472276"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 '</a:t>
            </a:r>
            <a:r>
              <a:rPr lang="en-US" sz="1600" dirty="0" err="1">
                <a:solidFill>
                  <a:srgbClr val="A31515"/>
                </a:solidFill>
                <a:latin typeface="Consolas"/>
              </a:rPr>
              <a:t>Gec</a:t>
            </a:r>
            <a:r>
              <a:rPr lang="en-US" sz="1600" dirty="0">
                <a:solidFill>
                  <a:srgbClr val="A31515"/>
                </a:solidFill>
                <a:latin typeface="Consolas"/>
              </a:rPr>
              <a:t> </a:t>
            </a:r>
            <a:r>
              <a:rPr lang="en-US" sz="1600" dirty="0" err="1">
                <a:solidFill>
                  <a:srgbClr val="A31515"/>
                </a:solidFill>
                <a:latin typeface="Consolas"/>
              </a:rPr>
              <a:t>Gandhinagara</a:t>
            </a:r>
            <a:r>
              <a:rPr lang="en-US" sz="1600" dirty="0">
                <a:solidFill>
                  <a:srgbClr val="A31515"/>
                </a:solidFill>
                <a:latin typeface="Consolas"/>
              </a:rPr>
              <a:t>, </a:t>
            </a:r>
            <a:r>
              <a:rPr lang="en-US" sz="1600" dirty="0" err="1">
                <a:solidFill>
                  <a:srgbClr val="A31515"/>
                </a:solidFill>
                <a:latin typeface="Consolas"/>
              </a:rPr>
              <a:t>Secotr</a:t>
            </a:r>
            <a:r>
              <a:rPr lang="en-US" sz="1600" dirty="0">
                <a:solidFill>
                  <a:srgbClr val="A31515"/>
                </a:solidFill>
                <a:latin typeface="Consolas"/>
              </a:rPr>
              <a:t> 28, Gujarat' </a:t>
            </a:r>
          </a:p>
          <a:p>
            <a:r>
              <a:rPr lang="en-US" sz="1600" dirty="0">
                <a:solidFill>
                  <a:srgbClr val="000000"/>
                </a:solidFill>
                <a:latin typeface="Consolas"/>
              </a:rPr>
              <a:t>r = </a:t>
            </a:r>
            <a:r>
              <a:rPr lang="en-US" sz="1600" dirty="0" err="1">
                <a:solidFill>
                  <a:srgbClr val="000000"/>
                </a:solidFill>
                <a:latin typeface="Consolas"/>
              </a:rPr>
              <a:t>x.replace</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gujarat</a:t>
            </a:r>
            <a:r>
              <a:rPr lang="en-US" sz="1600" dirty="0">
                <a:solidFill>
                  <a:srgbClr val="A31515"/>
                </a:solidFill>
                <a:latin typeface="Consolas"/>
              </a:rPr>
              <a:t>'</a:t>
            </a:r>
            <a:r>
              <a:rPr lang="en-US" sz="1600" dirty="0">
                <a:solidFill>
                  <a:srgbClr val="000000"/>
                </a:solidFill>
                <a:latin typeface="Consolas"/>
              </a:rPr>
              <a:t>,</a:t>
            </a:r>
            <a:r>
              <a:rPr lang="en-US" sz="1600" dirty="0">
                <a:solidFill>
                  <a:srgbClr val="A31515"/>
                </a:solidFill>
                <a:latin typeface="Consolas"/>
              </a:rPr>
              <a:t>'INDIA'</a:t>
            </a:r>
            <a:r>
              <a:rPr lang="en-US" sz="1600" dirty="0">
                <a:solidFill>
                  <a:srgbClr val="000000"/>
                </a:solidFill>
                <a:latin typeface="Consolas"/>
              </a:rPr>
              <a:t>)</a:t>
            </a:r>
          </a:p>
          <a:p>
            <a:r>
              <a:rPr lang="en-US" sz="1600" dirty="0">
                <a:solidFill>
                  <a:srgbClr val="000000"/>
                </a:solidFill>
                <a:latin typeface="Consolas"/>
              </a:rPr>
              <a:t>print(r)</a:t>
            </a:r>
            <a:endParaRPr lang="en-US" sz="1600" b="0" dirty="0">
              <a:solidFill>
                <a:srgbClr val="000000"/>
              </a:solidFill>
              <a:latin typeface="Consolas"/>
            </a:endParaRPr>
          </a:p>
        </p:txBody>
      </p:sp>
      <p:sp>
        <p:nvSpPr>
          <p:cNvPr id="19" name="Rectangle 18">
            <a:extLst>
              <a:ext uri="{FF2B5EF4-FFF2-40B4-BE49-F238E27FC236}">
                <a16:creationId xmlns:a16="http://schemas.microsoft.com/office/drawing/2014/main" xmlns="" id="{35F9F4A0-4592-C04D-B2D0-0BF66A3BFA20}"/>
              </a:ext>
            </a:extLst>
          </p:cNvPr>
          <p:cNvSpPr/>
          <p:nvPr/>
        </p:nvSpPr>
        <p:spPr>
          <a:xfrm>
            <a:off x="522642" y="5688396"/>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20" name="Rectangle: Top Corners Rounded 6">
            <a:extLst>
              <a:ext uri="{FF2B5EF4-FFF2-40B4-BE49-F238E27FC236}">
                <a16:creationId xmlns:a16="http://schemas.microsoft.com/office/drawing/2014/main" xmlns="" id="{0336C271-A2A3-9445-9946-5006F0A250F4}"/>
              </a:ext>
            </a:extLst>
          </p:cNvPr>
          <p:cNvSpPr/>
          <p:nvPr/>
        </p:nvSpPr>
        <p:spPr>
          <a:xfrm>
            <a:off x="522642" y="535921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replacedemo.py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8">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14" grpId="0" build="p" animBg="1"/>
      <p:bldP spid="15" grpId="0" animBg="1"/>
      <p:bldP spid="16" grpId="0" animBg="1"/>
      <p:bldP spid="18" grpId="0" build="p" animBg="1"/>
      <p:bldP spid="19"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methods (cont.)</a:t>
            </a:r>
            <a:endParaRPr lang="en-US" dirty="0"/>
          </a:p>
        </p:txBody>
      </p:sp>
      <p:sp>
        <p:nvSpPr>
          <p:cNvPr id="3" name="Content Placeholder 2"/>
          <p:cNvSpPr>
            <a:spLocks noGrp="1"/>
          </p:cNvSpPr>
          <p:nvPr>
            <p:ph idx="1"/>
          </p:nvPr>
        </p:nvSpPr>
        <p:spPr/>
        <p:txBody>
          <a:bodyPr/>
          <a:lstStyle/>
          <a:p>
            <a:r>
              <a:rPr lang="en-IN" b="1" dirty="0"/>
              <a:t>index</a:t>
            </a:r>
            <a:r>
              <a:rPr lang="en-IN" dirty="0"/>
              <a:t>() method will search the string and </a:t>
            </a:r>
            <a:r>
              <a:rPr lang="en-US" dirty="0"/>
              <a:t>returns the index at which they find the specified value, but if they are unable to find the string it will raise an exception.</a:t>
            </a:r>
          </a:p>
          <a:p>
            <a:endParaRPr lang="en-IN" dirty="0"/>
          </a:p>
          <a:p>
            <a:endParaRPr lang="en-IN" dirty="0"/>
          </a:p>
          <a:p>
            <a:endParaRPr lang="en-IN" dirty="0"/>
          </a:p>
          <a:p>
            <a:r>
              <a:rPr lang="en-IN" b="1" dirty="0" err="1"/>
              <a:t>rindex</a:t>
            </a:r>
            <a:r>
              <a:rPr lang="en-IN" dirty="0"/>
              <a:t>() will search the string and </a:t>
            </a:r>
            <a:r>
              <a:rPr lang="en-US" dirty="0"/>
              <a:t>returns the last index at which they find the specified value , but if they are unable to find the string it will raise an exception.</a:t>
            </a:r>
          </a:p>
          <a:p>
            <a:endParaRPr lang="en-IN" dirty="0"/>
          </a:p>
          <a:p>
            <a:endParaRPr lang="en-IN" dirty="0"/>
          </a:p>
          <a:p>
            <a:endParaRPr lang="en-IN" dirty="0"/>
          </a:p>
          <a:p>
            <a:r>
              <a:rPr lang="en-IN" dirty="0"/>
              <a:t>Note : </a:t>
            </a:r>
            <a:r>
              <a:rPr lang="en-IN" b="1" dirty="0"/>
              <a:t>find</a:t>
            </a:r>
            <a:r>
              <a:rPr lang="en-IN" dirty="0"/>
              <a:t>() and </a:t>
            </a:r>
            <a:r>
              <a:rPr lang="en-IN" b="1" dirty="0"/>
              <a:t>index</a:t>
            </a:r>
            <a:r>
              <a:rPr lang="en-IN" dirty="0"/>
              <a:t>() are almost same, the only difference is if </a:t>
            </a:r>
            <a:r>
              <a:rPr lang="en-IN" b="1" dirty="0"/>
              <a:t>find</a:t>
            </a:r>
            <a:r>
              <a:rPr lang="en-IN" dirty="0"/>
              <a:t>() is unable to find the string it will return -1 and if </a:t>
            </a:r>
            <a:r>
              <a:rPr lang="en-IN" b="1" dirty="0"/>
              <a:t>index</a:t>
            </a:r>
            <a:r>
              <a:rPr lang="en-IN" dirty="0"/>
              <a:t>() is unable to find the string it will raise an exception.</a:t>
            </a:r>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1895324"/>
            <a:ext cx="8472276" cy="86177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a:t>
            </a:r>
            <a:r>
              <a:rPr lang="en-US" sz="1600" dirty="0">
                <a:solidFill>
                  <a:srgbClr val="A31515"/>
                </a:solidFill>
                <a:latin typeface="Consolas"/>
              </a:rPr>
              <a:t>'</a:t>
            </a:r>
            <a:r>
              <a:rPr lang="en-US" sz="1600" dirty="0" err="1">
                <a:solidFill>
                  <a:srgbClr val="A31515"/>
                </a:solidFill>
                <a:latin typeface="Consolas"/>
              </a:rPr>
              <a:t>Gec</a:t>
            </a:r>
            <a:r>
              <a:rPr lang="en-US" sz="1600" dirty="0">
                <a:solidFill>
                  <a:srgbClr val="A31515"/>
                </a:solidFill>
                <a:latin typeface="Consolas"/>
              </a:rPr>
              <a:t> </a:t>
            </a:r>
            <a:r>
              <a:rPr lang="en-US" sz="1600" dirty="0" err="1">
                <a:solidFill>
                  <a:srgbClr val="A31515"/>
                </a:solidFill>
                <a:latin typeface="Consolas"/>
              </a:rPr>
              <a:t>Gandhinagara</a:t>
            </a:r>
            <a:r>
              <a:rPr lang="en-US" sz="1600" dirty="0">
                <a:solidFill>
                  <a:srgbClr val="A31515"/>
                </a:solidFill>
                <a:latin typeface="Consolas"/>
              </a:rPr>
              <a:t>, </a:t>
            </a:r>
            <a:r>
              <a:rPr lang="en-US" sz="1600" dirty="0" err="1">
                <a:solidFill>
                  <a:srgbClr val="A31515"/>
                </a:solidFill>
                <a:latin typeface="Consolas"/>
              </a:rPr>
              <a:t>Secotr</a:t>
            </a:r>
            <a:r>
              <a:rPr lang="en-US" sz="1600" dirty="0">
                <a:solidFill>
                  <a:srgbClr val="A31515"/>
                </a:solidFill>
                <a:latin typeface="Consolas"/>
              </a:rPr>
              <a:t> 28, Gujarat'</a:t>
            </a:r>
            <a:endParaRPr lang="en-US" sz="1600" dirty="0">
              <a:solidFill>
                <a:srgbClr val="000000"/>
              </a:solidFill>
              <a:latin typeface="Consolas"/>
            </a:endParaRPr>
          </a:p>
          <a:p>
            <a:r>
              <a:rPr lang="en-US" sz="1600" dirty="0">
                <a:solidFill>
                  <a:srgbClr val="000000"/>
                </a:solidFill>
                <a:latin typeface="Consolas"/>
              </a:rPr>
              <a:t>f=</a:t>
            </a:r>
            <a:r>
              <a:rPr lang="en-US" sz="1600" dirty="0" err="1">
                <a:solidFill>
                  <a:srgbClr val="000000"/>
                </a:solidFill>
                <a:latin typeface="Consolas"/>
              </a:rPr>
              <a:t>x.index</a:t>
            </a:r>
            <a:r>
              <a:rPr lang="en-US" sz="1600" dirty="0">
                <a:solidFill>
                  <a:srgbClr val="000000"/>
                </a:solidFill>
                <a:latin typeface="Consolas"/>
              </a:rPr>
              <a:t>(</a:t>
            </a:r>
            <a:r>
              <a:rPr lang="en-US" sz="1600" dirty="0">
                <a:solidFill>
                  <a:srgbClr val="A31515"/>
                </a:solidFill>
                <a:latin typeface="Consolas"/>
              </a:rPr>
              <a:t>'in'</a:t>
            </a:r>
            <a:r>
              <a:rPr lang="en-US" sz="1600" dirty="0">
                <a:solidFill>
                  <a:srgbClr val="000000"/>
                </a:solidFill>
                <a:latin typeface="Consolas"/>
              </a:rPr>
              <a:t>)</a:t>
            </a:r>
          </a:p>
          <a:p>
            <a:r>
              <a:rPr lang="en-US" sz="1600" dirty="0">
                <a:solidFill>
                  <a:srgbClr val="000000"/>
                </a:solidFill>
                <a:latin typeface="Consolas"/>
              </a:rPr>
              <a:t>print(f)</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1895324"/>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15661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indexdemo.py</a:t>
            </a:r>
          </a:p>
        </p:txBody>
      </p:sp>
      <p:sp>
        <p:nvSpPr>
          <p:cNvPr id="14" name="Rectangle 13">
            <a:extLst>
              <a:ext uri="{FF2B5EF4-FFF2-40B4-BE49-F238E27FC236}">
                <a16:creationId xmlns:a16="http://schemas.microsoft.com/office/drawing/2014/main" xmlns="" id="{D456EBDA-49A4-A843-A786-6989C63A54AA}"/>
              </a:ext>
            </a:extLst>
          </p:cNvPr>
          <p:cNvSpPr/>
          <p:nvPr/>
        </p:nvSpPr>
        <p:spPr>
          <a:xfrm>
            <a:off x="1022635" y="4139006"/>
            <a:ext cx="8472276" cy="86177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a:t>
            </a:r>
            <a:r>
              <a:rPr lang="en-US" sz="1600" dirty="0">
                <a:solidFill>
                  <a:srgbClr val="A31515"/>
                </a:solidFill>
                <a:latin typeface="Consolas"/>
              </a:rPr>
              <a:t>'</a:t>
            </a:r>
            <a:r>
              <a:rPr lang="en-US" sz="1600" dirty="0" err="1">
                <a:solidFill>
                  <a:srgbClr val="A31515"/>
                </a:solidFill>
                <a:latin typeface="Consolas"/>
              </a:rPr>
              <a:t>Gec</a:t>
            </a:r>
            <a:r>
              <a:rPr lang="en-US" sz="1600" dirty="0">
                <a:solidFill>
                  <a:srgbClr val="A31515"/>
                </a:solidFill>
                <a:latin typeface="Consolas"/>
              </a:rPr>
              <a:t> </a:t>
            </a:r>
            <a:r>
              <a:rPr lang="en-US" sz="1600" dirty="0" err="1">
                <a:solidFill>
                  <a:srgbClr val="A31515"/>
                </a:solidFill>
                <a:latin typeface="Consolas"/>
              </a:rPr>
              <a:t>Gandhinagara</a:t>
            </a:r>
            <a:r>
              <a:rPr lang="en-US" sz="1600" dirty="0">
                <a:solidFill>
                  <a:srgbClr val="A31515"/>
                </a:solidFill>
                <a:latin typeface="Consolas"/>
              </a:rPr>
              <a:t>, </a:t>
            </a:r>
            <a:r>
              <a:rPr lang="en-US" sz="1600" dirty="0" err="1">
                <a:solidFill>
                  <a:srgbClr val="A31515"/>
                </a:solidFill>
                <a:latin typeface="Consolas"/>
              </a:rPr>
              <a:t>Secotr</a:t>
            </a:r>
            <a:r>
              <a:rPr lang="en-US" sz="1600" dirty="0">
                <a:solidFill>
                  <a:srgbClr val="A31515"/>
                </a:solidFill>
                <a:latin typeface="Consolas"/>
              </a:rPr>
              <a:t> 28, Gujarat'</a:t>
            </a:r>
            <a:endParaRPr lang="en-US" sz="1600" dirty="0">
              <a:solidFill>
                <a:srgbClr val="000000"/>
              </a:solidFill>
              <a:latin typeface="Consolas"/>
            </a:endParaRPr>
          </a:p>
          <a:p>
            <a:r>
              <a:rPr lang="en-US" sz="1600" dirty="0">
                <a:solidFill>
                  <a:srgbClr val="000000"/>
                </a:solidFill>
                <a:latin typeface="Consolas"/>
              </a:rPr>
              <a:t>r=</a:t>
            </a:r>
            <a:r>
              <a:rPr lang="en-US" sz="1600" dirty="0" err="1">
                <a:solidFill>
                  <a:srgbClr val="000000"/>
                </a:solidFill>
                <a:latin typeface="Consolas"/>
              </a:rPr>
              <a:t>x.rindex</a:t>
            </a:r>
            <a:r>
              <a:rPr lang="en-US" sz="1600" dirty="0">
                <a:solidFill>
                  <a:srgbClr val="000000"/>
                </a:solidFill>
                <a:latin typeface="Consolas"/>
              </a:rPr>
              <a:t>(</a:t>
            </a:r>
            <a:r>
              <a:rPr lang="en-US" sz="1600" dirty="0">
                <a:solidFill>
                  <a:srgbClr val="A31515"/>
                </a:solidFill>
                <a:latin typeface="Consolas"/>
              </a:rPr>
              <a:t>'in'</a:t>
            </a:r>
            <a:r>
              <a:rPr lang="en-US" sz="1600" dirty="0">
                <a:solidFill>
                  <a:srgbClr val="000000"/>
                </a:solidFill>
                <a:latin typeface="Consolas"/>
              </a:rPr>
              <a:t>)</a:t>
            </a:r>
          </a:p>
          <a:p>
            <a:r>
              <a:rPr lang="en-US" sz="1600" dirty="0">
                <a:solidFill>
                  <a:srgbClr val="000000"/>
                </a:solidFill>
                <a:latin typeface="Consolas"/>
              </a:rPr>
              <a:t>print(r)</a:t>
            </a:r>
            <a:endParaRPr lang="en-US" sz="1600" b="0" dirty="0">
              <a:solidFill>
                <a:srgbClr val="000000"/>
              </a:solidFill>
              <a:latin typeface="Consolas"/>
            </a:endParaRPr>
          </a:p>
        </p:txBody>
      </p:sp>
      <p:sp>
        <p:nvSpPr>
          <p:cNvPr id="15" name="Rectangle 14">
            <a:extLst>
              <a:ext uri="{FF2B5EF4-FFF2-40B4-BE49-F238E27FC236}">
                <a16:creationId xmlns:a16="http://schemas.microsoft.com/office/drawing/2014/main" xmlns="" id="{35F9F4A0-4592-C04D-B2D0-0BF66A3BFA20}"/>
              </a:ext>
            </a:extLst>
          </p:cNvPr>
          <p:cNvSpPr/>
          <p:nvPr/>
        </p:nvSpPr>
        <p:spPr>
          <a:xfrm>
            <a:off x="522642" y="4139006"/>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16" name="Rectangle: Top Corners Rounded 6">
            <a:extLst>
              <a:ext uri="{FF2B5EF4-FFF2-40B4-BE49-F238E27FC236}">
                <a16:creationId xmlns:a16="http://schemas.microsoft.com/office/drawing/2014/main" xmlns="" id="{0336C271-A2A3-9445-9946-5006F0A250F4}"/>
              </a:ext>
            </a:extLst>
          </p:cNvPr>
          <p:cNvSpPr/>
          <p:nvPr/>
        </p:nvSpPr>
        <p:spPr>
          <a:xfrm>
            <a:off x="522642" y="380982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rindexdemo.py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14" grpId="0" build="p"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methods (cont.)</a:t>
            </a:r>
            <a:endParaRPr lang="en-US" dirty="0"/>
          </a:p>
        </p:txBody>
      </p:sp>
      <p:sp>
        <p:nvSpPr>
          <p:cNvPr id="3" name="Content Placeholder 2"/>
          <p:cNvSpPr>
            <a:spLocks noGrp="1"/>
          </p:cNvSpPr>
          <p:nvPr>
            <p:ph idx="1"/>
          </p:nvPr>
        </p:nvSpPr>
        <p:spPr/>
        <p:txBody>
          <a:bodyPr/>
          <a:lstStyle/>
          <a:p>
            <a:r>
              <a:rPr lang="en-IN" b="1" dirty="0" err="1"/>
              <a:t>isalnum</a:t>
            </a:r>
            <a:r>
              <a:rPr lang="en-IN" dirty="0"/>
              <a:t>() method will </a:t>
            </a:r>
            <a:r>
              <a:rPr lang="en-US" dirty="0"/>
              <a:t>return true if all the characters in the string are alphanumeric (</a:t>
            </a:r>
            <a:r>
              <a:rPr lang="en-US" dirty="0" err="1"/>
              <a:t>i.e</a:t>
            </a:r>
            <a:r>
              <a:rPr lang="en-US" dirty="0"/>
              <a:t> either alphabets or numeric).</a:t>
            </a:r>
          </a:p>
          <a:p>
            <a:endParaRPr lang="en-IN" dirty="0"/>
          </a:p>
          <a:p>
            <a:endParaRPr lang="en-IN" dirty="0"/>
          </a:p>
          <a:p>
            <a:endParaRPr lang="en-IN" dirty="0"/>
          </a:p>
          <a:p>
            <a:r>
              <a:rPr lang="en-IN" b="1" dirty="0" err="1"/>
              <a:t>isalpha</a:t>
            </a:r>
            <a:r>
              <a:rPr lang="en-IN" dirty="0"/>
              <a:t>() and </a:t>
            </a:r>
            <a:r>
              <a:rPr lang="en-IN" b="1" dirty="0"/>
              <a:t>is</a:t>
            </a:r>
            <a:r>
              <a:rPr lang="en-US" b="1" dirty="0"/>
              <a:t>numeric</a:t>
            </a:r>
            <a:r>
              <a:rPr lang="en-IN" dirty="0"/>
              <a:t>() will return true if all the characters in the string are only alphabets and </a:t>
            </a:r>
            <a:r>
              <a:rPr lang="en-US" dirty="0"/>
              <a:t>numeric respectively.</a:t>
            </a:r>
            <a:endParaRPr lang="en-IN" dirty="0"/>
          </a:p>
          <a:p>
            <a:r>
              <a:rPr lang="en-IN" b="1" dirty="0" err="1"/>
              <a:t>isdecimal</a:t>
            </a:r>
            <a:r>
              <a:rPr lang="en-IN" dirty="0"/>
              <a:t>() will </a:t>
            </a:r>
            <a:r>
              <a:rPr lang="en-US" dirty="0"/>
              <a:t>return true is all the characters in the string are decimal.</a:t>
            </a:r>
          </a:p>
          <a:p>
            <a:endParaRPr lang="en-IN" dirty="0"/>
          </a:p>
          <a:p>
            <a:endParaRPr lang="en-IN" dirty="0"/>
          </a:p>
          <a:p>
            <a:endParaRPr lang="en-IN" dirty="0"/>
          </a:p>
          <a:p>
            <a:r>
              <a:rPr lang="en-IN" b="1" dirty="0"/>
              <a:t>Note</a:t>
            </a:r>
            <a:r>
              <a:rPr lang="en-IN" dirty="0"/>
              <a:t> : </a:t>
            </a:r>
            <a:r>
              <a:rPr lang="en-IN" b="1" dirty="0" err="1"/>
              <a:t>isnumeric</a:t>
            </a:r>
            <a:r>
              <a:rPr lang="en-IN" dirty="0"/>
              <a:t>() and </a:t>
            </a:r>
            <a:r>
              <a:rPr lang="en-IN" b="1" dirty="0" err="1"/>
              <a:t>isdigit</a:t>
            </a:r>
            <a:r>
              <a:rPr lang="en-IN" dirty="0"/>
              <a:t>() are almost same, you suppose to find the difference as Home work assignment for the string methods.</a:t>
            </a:r>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1895324"/>
            <a:ext cx="8472276" cy="86177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bijal88</a:t>
            </a:r>
            <a:endParaRPr lang="en-US" sz="1600" dirty="0">
              <a:solidFill>
                <a:srgbClr val="000000"/>
              </a:solidFill>
              <a:latin typeface="Consolas"/>
            </a:endParaRPr>
          </a:p>
          <a:p>
            <a:r>
              <a:rPr lang="en-US" sz="1600" dirty="0">
                <a:solidFill>
                  <a:srgbClr val="000000"/>
                </a:solidFill>
                <a:latin typeface="Consolas"/>
              </a:rPr>
              <a:t>f = </a:t>
            </a:r>
            <a:r>
              <a:rPr lang="en-US" sz="1600" dirty="0" err="1">
                <a:solidFill>
                  <a:srgbClr val="000000"/>
                </a:solidFill>
                <a:latin typeface="Consolas"/>
              </a:rPr>
              <a:t>x.isalnum</a:t>
            </a:r>
            <a:r>
              <a:rPr lang="en-US" sz="1600" dirty="0">
                <a:solidFill>
                  <a:srgbClr val="000000"/>
                </a:solidFill>
                <a:latin typeface="Consolas"/>
              </a:rPr>
              <a:t>()</a:t>
            </a:r>
          </a:p>
          <a:p>
            <a:r>
              <a:rPr lang="en-US" sz="1600" dirty="0">
                <a:solidFill>
                  <a:srgbClr val="000000"/>
                </a:solidFill>
                <a:latin typeface="Consolas"/>
              </a:rPr>
              <a:t>print(f)</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1895324"/>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15661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isalnumdemo.py</a:t>
            </a:r>
          </a:p>
        </p:txBody>
      </p:sp>
      <p:sp>
        <p:nvSpPr>
          <p:cNvPr id="7" name="Line Callout 1 6"/>
          <p:cNvSpPr/>
          <p:nvPr/>
        </p:nvSpPr>
        <p:spPr>
          <a:xfrm>
            <a:off x="5794233" y="1984506"/>
            <a:ext cx="4495800" cy="626533"/>
          </a:xfrm>
          <a:prstGeom prst="borderCallout1">
            <a:avLst>
              <a:gd name="adj1" fmla="val 53885"/>
              <a:gd name="adj2" fmla="val -612"/>
              <a:gd name="adj3" fmla="val 100001"/>
              <a:gd name="adj4" fmla="val -82966"/>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True</a:t>
            </a:r>
            <a:endParaRPr lang="en-US" b="1" i="1" dirty="0">
              <a:solidFill>
                <a:srgbClr val="FF0000"/>
              </a:solidFill>
            </a:endParaRPr>
          </a:p>
        </p:txBody>
      </p:sp>
      <p:sp>
        <p:nvSpPr>
          <p:cNvPr id="14" name="Rectangle 13">
            <a:extLst>
              <a:ext uri="{FF2B5EF4-FFF2-40B4-BE49-F238E27FC236}">
                <a16:creationId xmlns:a16="http://schemas.microsoft.com/office/drawing/2014/main" xmlns="" id="{D456EBDA-49A4-A843-A786-6989C63A54AA}"/>
              </a:ext>
            </a:extLst>
          </p:cNvPr>
          <p:cNvSpPr/>
          <p:nvPr/>
        </p:nvSpPr>
        <p:spPr>
          <a:xfrm>
            <a:off x="1022635" y="4587739"/>
            <a:ext cx="8472276" cy="86177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'123.5'</a:t>
            </a:r>
            <a:endParaRPr lang="en-US" sz="1600" dirty="0">
              <a:solidFill>
                <a:srgbClr val="000000"/>
              </a:solidFill>
              <a:latin typeface="Consolas"/>
            </a:endParaRPr>
          </a:p>
          <a:p>
            <a:r>
              <a:rPr lang="en-US" sz="1600" dirty="0">
                <a:solidFill>
                  <a:srgbClr val="000000"/>
                </a:solidFill>
                <a:latin typeface="Consolas"/>
              </a:rPr>
              <a:t>r = </a:t>
            </a:r>
            <a:r>
              <a:rPr lang="en-US" sz="1600" dirty="0" err="1">
                <a:solidFill>
                  <a:srgbClr val="000000"/>
                </a:solidFill>
                <a:latin typeface="Consolas"/>
              </a:rPr>
              <a:t>x.isdecimal</a:t>
            </a:r>
            <a:r>
              <a:rPr lang="en-US" sz="1600" dirty="0">
                <a:solidFill>
                  <a:srgbClr val="000000"/>
                </a:solidFill>
                <a:latin typeface="Consolas"/>
              </a:rPr>
              <a:t>()</a:t>
            </a:r>
          </a:p>
          <a:p>
            <a:r>
              <a:rPr lang="en-US" sz="1600" dirty="0">
                <a:solidFill>
                  <a:srgbClr val="000000"/>
                </a:solidFill>
                <a:latin typeface="Consolas"/>
              </a:rPr>
              <a:t>print(r)</a:t>
            </a:r>
            <a:endParaRPr lang="en-US" sz="1600" b="0" dirty="0">
              <a:solidFill>
                <a:srgbClr val="000000"/>
              </a:solidFill>
              <a:latin typeface="Consolas"/>
            </a:endParaRPr>
          </a:p>
        </p:txBody>
      </p:sp>
      <p:sp>
        <p:nvSpPr>
          <p:cNvPr id="15" name="Rectangle 14">
            <a:extLst>
              <a:ext uri="{FF2B5EF4-FFF2-40B4-BE49-F238E27FC236}">
                <a16:creationId xmlns:a16="http://schemas.microsoft.com/office/drawing/2014/main" xmlns="" id="{35F9F4A0-4592-C04D-B2D0-0BF66A3BFA20}"/>
              </a:ext>
            </a:extLst>
          </p:cNvPr>
          <p:cNvSpPr/>
          <p:nvPr/>
        </p:nvSpPr>
        <p:spPr>
          <a:xfrm>
            <a:off x="522642" y="4587739"/>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endParaRPr lang="en-US" sz="1600" b="1" dirty="0">
              <a:solidFill>
                <a:schemeClr val="tx1">
                  <a:lumMod val="75000"/>
                  <a:lumOff val="25000"/>
                </a:schemeClr>
              </a:solidFill>
              <a:latin typeface="Consolas" panose="020B0609020204030204" pitchFamily="49" charset="0"/>
            </a:endParaRPr>
          </a:p>
        </p:txBody>
      </p:sp>
      <p:sp>
        <p:nvSpPr>
          <p:cNvPr id="16" name="Rectangle: Top Corners Rounded 6">
            <a:extLst>
              <a:ext uri="{FF2B5EF4-FFF2-40B4-BE49-F238E27FC236}">
                <a16:creationId xmlns:a16="http://schemas.microsoft.com/office/drawing/2014/main" xmlns="" id="{0336C271-A2A3-9445-9946-5006F0A250F4}"/>
              </a:ext>
            </a:extLst>
          </p:cNvPr>
          <p:cNvSpPr/>
          <p:nvPr/>
        </p:nvSpPr>
        <p:spPr>
          <a:xfrm>
            <a:off x="522642" y="425855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isdecimaldemo.py</a:t>
            </a:r>
          </a:p>
        </p:txBody>
      </p:sp>
      <p:sp>
        <p:nvSpPr>
          <p:cNvPr id="17" name="Line Callout 1 16"/>
          <p:cNvSpPr/>
          <p:nvPr/>
        </p:nvSpPr>
        <p:spPr>
          <a:xfrm>
            <a:off x="5794233" y="4676921"/>
            <a:ext cx="4495800" cy="626533"/>
          </a:xfrm>
          <a:prstGeom prst="borderCallout1">
            <a:avLst>
              <a:gd name="adj1" fmla="val 53885"/>
              <a:gd name="adj2" fmla="val -612"/>
              <a:gd name="adj3" fmla="val 100001"/>
              <a:gd name="adj4" fmla="val -82966"/>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True</a:t>
            </a:r>
            <a:endParaRPr lang="en-US" b="1" i="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17"/>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animBg="1"/>
      <p:bldP spid="7" grpId="1" animBg="1"/>
      <p:bldP spid="14" grpId="0" build="p" animBg="1"/>
      <p:bldP spid="15" grpId="0" animBg="1"/>
      <p:bldP spid="16" grpId="0" animBg="1"/>
      <p:bldP spid="17" grpId="0" animBg="1"/>
      <p:bldP spid="17" grpId="1"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Slicing </a:t>
            </a:r>
            <a:endParaRPr lang="en-US" dirty="0"/>
          </a:p>
        </p:txBody>
      </p:sp>
      <p:sp>
        <p:nvSpPr>
          <p:cNvPr id="3" name="Content Placeholder 2"/>
          <p:cNvSpPr>
            <a:spLocks noGrp="1"/>
          </p:cNvSpPr>
          <p:nvPr>
            <p:ph idx="1"/>
          </p:nvPr>
        </p:nvSpPr>
        <p:spPr/>
        <p:txBody>
          <a:bodyPr/>
          <a:lstStyle/>
          <a:p>
            <a:r>
              <a:rPr lang="en-US" dirty="0"/>
              <a:t>We can get the substring in python using string slicing, we can specify start index, end index and steps (colon separated) to slice the string.</a:t>
            </a:r>
          </a:p>
          <a:p>
            <a:endParaRPr lang="en-IN" dirty="0"/>
          </a:p>
          <a:p>
            <a:endParaRPr lang="en-IN" dirty="0"/>
          </a:p>
          <a:p>
            <a:pPr>
              <a:buNone/>
            </a:pPr>
            <a:endParaRPr lang="en-IN" dirty="0"/>
          </a:p>
          <a:p>
            <a:endParaRPr lang="en-IN" dirty="0"/>
          </a:p>
          <a:p>
            <a:endParaRPr lang="en-IN" dirty="0"/>
          </a:p>
          <a:p>
            <a:pPr>
              <a:buNone/>
            </a:pPr>
            <a:endParaRPr lang="en-IN" b="1"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522641" y="1895324"/>
            <a:ext cx="10238491"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‘Government Engineering College, </a:t>
            </a:r>
            <a:r>
              <a:rPr lang="en-US" sz="1600" dirty="0" err="1">
                <a:solidFill>
                  <a:srgbClr val="A31515"/>
                </a:solidFill>
                <a:latin typeface="Consolas"/>
              </a:rPr>
              <a:t>Gandhinagar</a:t>
            </a:r>
            <a:r>
              <a:rPr lang="en-US" sz="1600" dirty="0">
                <a:solidFill>
                  <a:srgbClr val="A31515"/>
                </a:solidFill>
                <a:latin typeface="Consolas"/>
              </a:rPr>
              <a:t>, </a:t>
            </a:r>
            <a:r>
              <a:rPr lang="en-US" sz="1600" dirty="0" err="1">
                <a:solidFill>
                  <a:srgbClr val="A31515"/>
                </a:solidFill>
                <a:latin typeface="Consolas"/>
              </a:rPr>
              <a:t>gujarat</a:t>
            </a:r>
            <a:r>
              <a:rPr lang="en-US" sz="1600" dirty="0">
                <a:solidFill>
                  <a:srgbClr val="A31515"/>
                </a:solidFill>
                <a:latin typeface="Consolas"/>
              </a:rPr>
              <a:t>, INDIA'</a:t>
            </a:r>
          </a:p>
          <a:p>
            <a:r>
              <a:rPr lang="en-US" sz="1600" dirty="0" err="1">
                <a:solidFill>
                  <a:srgbClr val="000000"/>
                </a:solidFill>
                <a:latin typeface="Consolas"/>
              </a:rPr>
              <a:t>subx</a:t>
            </a:r>
            <a:r>
              <a:rPr lang="en-US" sz="1600" dirty="0">
                <a:solidFill>
                  <a:srgbClr val="000000"/>
                </a:solidFill>
                <a:latin typeface="Consolas"/>
              </a:rPr>
              <a:t> = x[</a:t>
            </a:r>
            <a:r>
              <a:rPr lang="en-US" sz="1600" dirty="0" err="1">
                <a:solidFill>
                  <a:srgbClr val="000000"/>
                </a:solidFill>
                <a:latin typeface="Consolas"/>
              </a:rPr>
              <a:t>startindex:endindex:steps</a:t>
            </a:r>
            <a:r>
              <a:rPr lang="en-US" sz="1600" dirty="0">
                <a:solidFill>
                  <a:srgbClr val="000000"/>
                </a:solidFill>
                <a:latin typeface="Consolas"/>
              </a:rPr>
              <a:t>]</a:t>
            </a:r>
            <a:endParaRPr lang="en-US" sz="1600" b="0" dirty="0">
              <a:solidFill>
                <a:srgbClr val="000000"/>
              </a:solidFill>
              <a:latin typeface="Consolas"/>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15661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4" name="Rectangle 13">
            <a:extLst>
              <a:ext uri="{FF2B5EF4-FFF2-40B4-BE49-F238E27FC236}">
                <a16:creationId xmlns:a16="http://schemas.microsoft.com/office/drawing/2014/main" xmlns="" id="{D456EBDA-49A4-A843-A786-6989C63A54AA}"/>
              </a:ext>
            </a:extLst>
          </p:cNvPr>
          <p:cNvSpPr/>
          <p:nvPr/>
        </p:nvSpPr>
        <p:spPr>
          <a:xfrm>
            <a:off x="1081900" y="3305715"/>
            <a:ext cx="9679232" cy="280076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'Government Engineering College, </a:t>
            </a:r>
            <a:r>
              <a:rPr lang="en-US" sz="1600" dirty="0" err="1">
                <a:solidFill>
                  <a:srgbClr val="A31515"/>
                </a:solidFill>
                <a:latin typeface="Consolas"/>
              </a:rPr>
              <a:t>Gandhinagar</a:t>
            </a:r>
            <a:r>
              <a:rPr lang="en-US" sz="1600" dirty="0">
                <a:solidFill>
                  <a:srgbClr val="A31515"/>
                </a:solidFill>
                <a:latin typeface="Consolas"/>
              </a:rPr>
              <a:t>, </a:t>
            </a:r>
            <a:r>
              <a:rPr lang="en-US" sz="1600" dirty="0" err="1">
                <a:solidFill>
                  <a:srgbClr val="A31515"/>
                </a:solidFill>
                <a:latin typeface="Consolas"/>
              </a:rPr>
              <a:t>gujarat</a:t>
            </a:r>
            <a:r>
              <a:rPr lang="en-US" sz="1600" dirty="0">
                <a:solidFill>
                  <a:srgbClr val="A31515"/>
                </a:solidFill>
                <a:latin typeface="Consolas"/>
              </a:rPr>
              <a:t>, INDIA '</a:t>
            </a:r>
            <a:endParaRPr lang="en-US" sz="1600" dirty="0">
              <a:solidFill>
                <a:srgbClr val="000000"/>
              </a:solidFill>
              <a:latin typeface="Consolas"/>
            </a:endParaRPr>
          </a:p>
          <a:p>
            <a:r>
              <a:rPr lang="en-US" sz="1600" dirty="0">
                <a:solidFill>
                  <a:srgbClr val="000000"/>
                </a:solidFill>
                <a:latin typeface="Consolas"/>
              </a:rPr>
              <a:t>subx1 = x[</a:t>
            </a:r>
            <a:r>
              <a:rPr lang="en-US" sz="1600" dirty="0">
                <a:solidFill>
                  <a:srgbClr val="098658"/>
                </a:solidFill>
                <a:latin typeface="Consolas"/>
              </a:rPr>
              <a:t>0</a:t>
            </a:r>
            <a:r>
              <a:rPr lang="en-US" sz="1600" dirty="0">
                <a:solidFill>
                  <a:srgbClr val="000000"/>
                </a:solidFill>
                <a:latin typeface="Consolas"/>
              </a:rPr>
              <a:t>:</a:t>
            </a:r>
            <a:r>
              <a:rPr lang="en-US" sz="1600" dirty="0">
                <a:solidFill>
                  <a:srgbClr val="098658"/>
                </a:solidFill>
                <a:latin typeface="Consolas"/>
              </a:rPr>
              <a:t>7</a:t>
            </a:r>
            <a:r>
              <a:rPr lang="en-US" sz="1600" dirty="0">
                <a:solidFill>
                  <a:srgbClr val="000000"/>
                </a:solidFill>
                <a:latin typeface="Consolas"/>
              </a:rPr>
              <a:t>]</a:t>
            </a:r>
          </a:p>
          <a:p>
            <a:r>
              <a:rPr lang="en-US" sz="1600" dirty="0">
                <a:solidFill>
                  <a:srgbClr val="000000"/>
                </a:solidFill>
                <a:latin typeface="Consolas"/>
              </a:rPr>
              <a:t>subx2 = x[</a:t>
            </a:r>
            <a:r>
              <a:rPr lang="en-US" sz="1600" dirty="0">
                <a:solidFill>
                  <a:srgbClr val="098658"/>
                </a:solidFill>
                <a:latin typeface="Consolas"/>
              </a:rPr>
              <a:t>49</a:t>
            </a:r>
            <a:r>
              <a:rPr lang="en-US" sz="1600" dirty="0">
                <a:solidFill>
                  <a:srgbClr val="000000"/>
                </a:solidFill>
                <a:latin typeface="Consolas"/>
              </a:rPr>
              <a:t>:</a:t>
            </a:r>
            <a:r>
              <a:rPr lang="en-US" sz="1600" dirty="0">
                <a:solidFill>
                  <a:srgbClr val="098658"/>
                </a:solidFill>
                <a:latin typeface="Consolas"/>
              </a:rPr>
              <a:t>55</a:t>
            </a:r>
            <a:r>
              <a:rPr lang="en-US" sz="1600" dirty="0">
                <a:solidFill>
                  <a:srgbClr val="000000"/>
                </a:solidFill>
                <a:latin typeface="Consolas"/>
              </a:rPr>
              <a:t>]</a:t>
            </a:r>
          </a:p>
          <a:p>
            <a:r>
              <a:rPr lang="en-US" sz="1600" dirty="0">
                <a:solidFill>
                  <a:srgbClr val="000000"/>
                </a:solidFill>
                <a:latin typeface="Consolas"/>
              </a:rPr>
              <a:t>subx3 = x[</a:t>
            </a:r>
            <a:r>
              <a:rPr lang="en-US" sz="1600" dirty="0">
                <a:solidFill>
                  <a:srgbClr val="098658"/>
                </a:solidFill>
                <a:latin typeface="Consolas"/>
              </a:rPr>
              <a:t>66</a:t>
            </a:r>
            <a:r>
              <a:rPr lang="en-US" sz="1600" dirty="0">
                <a:solidFill>
                  <a:srgbClr val="000000"/>
                </a:solidFill>
                <a:latin typeface="Consolas"/>
              </a:rPr>
              <a:t>:]</a:t>
            </a:r>
          </a:p>
          <a:p>
            <a:r>
              <a:rPr lang="en-US" sz="1600" dirty="0">
                <a:solidFill>
                  <a:srgbClr val="000000"/>
                </a:solidFill>
                <a:latin typeface="Consolas"/>
              </a:rPr>
              <a:t>subx4 = x[::</a:t>
            </a:r>
            <a:r>
              <a:rPr lang="en-US" sz="1600" dirty="0">
                <a:solidFill>
                  <a:srgbClr val="098658"/>
                </a:solidFill>
                <a:latin typeface="Consolas"/>
              </a:rPr>
              <a:t>2</a:t>
            </a:r>
            <a:r>
              <a:rPr lang="en-US" sz="1600" dirty="0">
                <a:solidFill>
                  <a:srgbClr val="000000"/>
                </a:solidFill>
                <a:latin typeface="Consolas"/>
              </a:rPr>
              <a:t>]</a:t>
            </a:r>
          </a:p>
          <a:p>
            <a:r>
              <a:rPr lang="en-US" sz="1600" dirty="0">
                <a:solidFill>
                  <a:srgbClr val="000000"/>
                </a:solidFill>
                <a:latin typeface="Consolas"/>
              </a:rPr>
              <a:t>subx5 = x[::-</a:t>
            </a:r>
            <a:r>
              <a:rPr lang="en-US" sz="1600" dirty="0">
                <a:solidFill>
                  <a:srgbClr val="098658"/>
                </a:solidFill>
                <a:latin typeface="Consolas"/>
              </a:rPr>
              <a:t>1</a:t>
            </a:r>
            <a:r>
              <a:rPr lang="en-US" sz="1600" dirty="0">
                <a:solidFill>
                  <a:srgbClr val="000000"/>
                </a:solidFill>
                <a:latin typeface="Consolas"/>
              </a:rPr>
              <a:t>]</a:t>
            </a:r>
          </a:p>
          <a:p>
            <a:r>
              <a:rPr lang="en-US" sz="1600" dirty="0">
                <a:solidFill>
                  <a:srgbClr val="000000"/>
                </a:solidFill>
                <a:latin typeface="Consolas"/>
              </a:rPr>
              <a:t>print(subx1)</a:t>
            </a:r>
          </a:p>
          <a:p>
            <a:r>
              <a:rPr lang="en-US" sz="1600" dirty="0">
                <a:solidFill>
                  <a:srgbClr val="000000"/>
                </a:solidFill>
                <a:latin typeface="Consolas"/>
              </a:rPr>
              <a:t>print(subx2)</a:t>
            </a:r>
          </a:p>
          <a:p>
            <a:r>
              <a:rPr lang="en-US" sz="1600" dirty="0">
                <a:solidFill>
                  <a:srgbClr val="000000"/>
                </a:solidFill>
                <a:latin typeface="Consolas"/>
              </a:rPr>
              <a:t>print(subx3)</a:t>
            </a:r>
          </a:p>
          <a:p>
            <a:r>
              <a:rPr lang="en-US" sz="1600" dirty="0">
                <a:solidFill>
                  <a:srgbClr val="000000"/>
                </a:solidFill>
                <a:latin typeface="Consolas"/>
              </a:rPr>
              <a:t>print(subx4)</a:t>
            </a:r>
          </a:p>
          <a:p>
            <a:r>
              <a:rPr lang="en-US" sz="1600" dirty="0">
                <a:solidFill>
                  <a:srgbClr val="000000"/>
                </a:solidFill>
                <a:latin typeface="Consolas"/>
              </a:rPr>
              <a:t>print(subx5)</a:t>
            </a:r>
            <a:endParaRPr lang="en-US" sz="1600" b="0" dirty="0">
              <a:solidFill>
                <a:srgbClr val="000000"/>
              </a:solidFill>
              <a:latin typeface="Consolas"/>
            </a:endParaRPr>
          </a:p>
        </p:txBody>
      </p:sp>
      <p:sp>
        <p:nvSpPr>
          <p:cNvPr id="15" name="Rectangle 14">
            <a:extLst>
              <a:ext uri="{FF2B5EF4-FFF2-40B4-BE49-F238E27FC236}">
                <a16:creationId xmlns:a16="http://schemas.microsoft.com/office/drawing/2014/main" xmlns="" id="{35F9F4A0-4592-C04D-B2D0-0BF66A3BFA20}"/>
              </a:ext>
            </a:extLst>
          </p:cNvPr>
          <p:cNvSpPr/>
          <p:nvPr/>
        </p:nvSpPr>
        <p:spPr>
          <a:xfrm>
            <a:off x="522642" y="3165339"/>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p:txBody>
      </p:sp>
      <p:sp>
        <p:nvSpPr>
          <p:cNvPr id="16" name="Rectangle: Top Corners Rounded 6">
            <a:extLst>
              <a:ext uri="{FF2B5EF4-FFF2-40B4-BE49-F238E27FC236}">
                <a16:creationId xmlns:a16="http://schemas.microsoft.com/office/drawing/2014/main" xmlns="" id="{0336C271-A2A3-9445-9946-5006F0A250F4}"/>
              </a:ext>
            </a:extLst>
          </p:cNvPr>
          <p:cNvSpPr/>
          <p:nvPr/>
        </p:nvSpPr>
        <p:spPr>
          <a:xfrm>
            <a:off x="522642" y="283615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strslicedemo.py</a:t>
            </a:r>
          </a:p>
        </p:txBody>
      </p:sp>
      <p:sp>
        <p:nvSpPr>
          <p:cNvPr id="12" name="Line Callout 1 11"/>
          <p:cNvSpPr/>
          <p:nvPr/>
        </p:nvSpPr>
        <p:spPr>
          <a:xfrm>
            <a:off x="5794233" y="2331655"/>
            <a:ext cx="4495800" cy="626533"/>
          </a:xfrm>
          <a:prstGeom prst="borderCallout1">
            <a:avLst>
              <a:gd name="adj1" fmla="val 53885"/>
              <a:gd name="adj2" fmla="val -612"/>
              <a:gd name="adj3" fmla="val 17568"/>
              <a:gd name="adj4" fmla="val -57919"/>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End index will not be included in the substring</a:t>
            </a:r>
            <a:endParaRPr lang="en-US" b="1" i="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6" grpId="0" animBg="1"/>
      <p:bldP spid="14" grpId="0" build="p" animBg="1"/>
      <p:bldP spid="15" grpId="0" animBg="1"/>
      <p:bldP spid="16" grpId="0" animBg="1"/>
      <p:bldP spid="12" grpId="0" animBg="1"/>
      <p:bldP spid="12" grpId="1"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print format</a:t>
            </a:r>
          </a:p>
        </p:txBody>
      </p:sp>
      <p:sp>
        <p:nvSpPr>
          <p:cNvPr id="3" name="Content Placeholder 2"/>
          <p:cNvSpPr>
            <a:spLocks noGrp="1"/>
          </p:cNvSpPr>
          <p:nvPr>
            <p:ph idx="1"/>
          </p:nvPr>
        </p:nvSpPr>
        <p:spPr/>
        <p:txBody>
          <a:bodyPr/>
          <a:lstStyle/>
          <a:p>
            <a:r>
              <a:rPr lang="en-US" b="1" dirty="0" err="1"/>
              <a:t>str.format</a:t>
            </a:r>
            <a:r>
              <a:rPr lang="en-US" b="1" dirty="0"/>
              <a:t>()</a:t>
            </a:r>
            <a:r>
              <a:rPr lang="en-US" dirty="0"/>
              <a:t> is one of the </a:t>
            </a:r>
            <a:r>
              <a:rPr lang="en-US" i="1" dirty="0"/>
              <a:t>string formatting methods</a:t>
            </a:r>
            <a:r>
              <a:rPr lang="en-US" dirty="0"/>
              <a:t> in Python3, which allows multiple substitutions and value formatting. </a:t>
            </a:r>
          </a:p>
          <a:p>
            <a:r>
              <a:rPr lang="en-US" dirty="0"/>
              <a:t>This method lets us concatenate elements within a string through positional formatting.</a:t>
            </a:r>
          </a:p>
          <a:p>
            <a:endParaRPr lang="en-US" dirty="0"/>
          </a:p>
          <a:p>
            <a:endParaRPr lang="en-US" dirty="0"/>
          </a:p>
          <a:p>
            <a:endParaRPr lang="en-US" dirty="0"/>
          </a:p>
          <a:p>
            <a:endParaRPr lang="en-US" dirty="0"/>
          </a:p>
          <a:p>
            <a:pPr marL="0" indent="0">
              <a:buNone/>
            </a:pPr>
            <a:endParaRPr lang="en-US" dirty="0"/>
          </a:p>
        </p:txBody>
      </p:sp>
      <p:sp>
        <p:nvSpPr>
          <p:cNvPr id="7" name="Rectangle 6">
            <a:extLst>
              <a:ext uri="{FF2B5EF4-FFF2-40B4-BE49-F238E27FC236}">
                <a16:creationId xmlns:a16="http://schemas.microsoft.com/office/drawing/2014/main" xmlns="" id="{D456EBDA-49A4-A843-A786-6989C63A54AA}"/>
              </a:ext>
            </a:extLst>
          </p:cNvPr>
          <p:cNvSpPr/>
          <p:nvPr/>
        </p:nvSpPr>
        <p:spPr>
          <a:xfrm>
            <a:off x="1022635" y="2496457"/>
            <a:ext cx="8472276"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a = "</a:t>
            </a:r>
            <a:r>
              <a:rPr lang="en-US" sz="1600" dirty="0" err="1">
                <a:solidFill>
                  <a:srgbClr val="000000"/>
                </a:solidFill>
                <a:latin typeface="Consolas"/>
              </a:rPr>
              <a:t>shakshi</a:t>
            </a:r>
            <a:r>
              <a:rPr lang="en-US" sz="1600" dirty="0">
                <a:solidFill>
                  <a:srgbClr val="000000"/>
                </a:solidFill>
                <a:latin typeface="Consolas"/>
              </a:rPr>
              <a:t>" #name </a:t>
            </a:r>
          </a:p>
          <a:p>
            <a:r>
              <a:rPr lang="en-US" sz="1600" dirty="0">
                <a:solidFill>
                  <a:srgbClr val="000000"/>
                </a:solidFill>
                <a:latin typeface="Consolas"/>
              </a:rPr>
              <a:t>b = 22 # age</a:t>
            </a:r>
          </a:p>
          <a:p>
            <a:r>
              <a:rPr lang="en-US" sz="1600" dirty="0">
                <a:solidFill>
                  <a:srgbClr val="000000"/>
                </a:solidFill>
                <a:latin typeface="Consolas"/>
              </a:rPr>
              <a:t>msg = "My name is {0} and I am {1} years </a:t>
            </a:r>
            <a:r>
              <a:rPr lang="en-US" sz="1600" dirty="0" err="1">
                <a:solidFill>
                  <a:srgbClr val="000000"/>
                </a:solidFill>
                <a:latin typeface="Consolas"/>
              </a:rPr>
              <a:t>old.".format</a:t>
            </a:r>
            <a:r>
              <a:rPr lang="en-US" sz="1600" dirty="0">
                <a:solidFill>
                  <a:srgbClr val="000000"/>
                </a:solidFill>
                <a:latin typeface="Consolas"/>
              </a:rPr>
              <a:t>(</a:t>
            </a:r>
            <a:r>
              <a:rPr lang="en-US" sz="1600" dirty="0" err="1">
                <a:solidFill>
                  <a:srgbClr val="000000"/>
                </a:solidFill>
                <a:latin typeface="Consolas"/>
              </a:rPr>
              <a:t>a,b</a:t>
            </a:r>
            <a:r>
              <a:rPr lang="en-US" sz="1600" dirty="0">
                <a:solidFill>
                  <a:srgbClr val="000000"/>
                </a:solidFill>
                <a:latin typeface="Consolas"/>
              </a:rPr>
              <a:t>)</a:t>
            </a:r>
          </a:p>
          <a:p>
            <a:r>
              <a:rPr lang="en-US" sz="1600" dirty="0">
                <a:solidFill>
                  <a:srgbClr val="000000"/>
                </a:solidFill>
                <a:latin typeface="Consolas"/>
              </a:rPr>
              <a:t>print(msg)</a:t>
            </a:r>
            <a:endParaRPr lang="fr-FR" sz="1600" b="0" dirty="0">
              <a:solidFill>
                <a:srgbClr val="000000"/>
              </a:solidFill>
              <a:latin typeface="Consolas"/>
            </a:endParaRPr>
          </a:p>
        </p:txBody>
      </p:sp>
      <p:sp>
        <p:nvSpPr>
          <p:cNvPr id="8" name="Rectangle 7">
            <a:extLst>
              <a:ext uri="{FF2B5EF4-FFF2-40B4-BE49-F238E27FC236}">
                <a16:creationId xmlns:a16="http://schemas.microsoft.com/office/drawing/2014/main" xmlns="" id="{35F9F4A0-4592-C04D-B2D0-0BF66A3BFA20}"/>
              </a:ext>
            </a:extLst>
          </p:cNvPr>
          <p:cNvSpPr/>
          <p:nvPr/>
        </p:nvSpPr>
        <p:spPr>
          <a:xfrm>
            <a:off x="522642" y="2496457"/>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9" name="Rectangle: Top Corners Rounded 6">
            <a:extLst>
              <a:ext uri="{FF2B5EF4-FFF2-40B4-BE49-F238E27FC236}">
                <a16:creationId xmlns:a16="http://schemas.microsoft.com/office/drawing/2014/main" xmlns="" id="{0336C271-A2A3-9445-9946-5006F0A250F4}"/>
              </a:ext>
            </a:extLst>
          </p:cNvPr>
          <p:cNvSpPr/>
          <p:nvPr/>
        </p:nvSpPr>
        <p:spPr>
          <a:xfrm>
            <a:off x="522642" y="21672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
        <p:nvSpPr>
          <p:cNvPr id="12" name="Rectangle 11">
            <a:extLst>
              <a:ext uri="{FF2B5EF4-FFF2-40B4-BE49-F238E27FC236}">
                <a16:creationId xmlns:a16="http://schemas.microsoft.com/office/drawing/2014/main" xmlns="" id="{D456EBDA-49A4-A843-A786-6989C63A54AA}"/>
              </a:ext>
            </a:extLst>
          </p:cNvPr>
          <p:cNvSpPr/>
          <p:nvPr/>
        </p:nvSpPr>
        <p:spPr>
          <a:xfrm>
            <a:off x="1022635" y="4680857"/>
            <a:ext cx="8472276"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Company,{}'</a:t>
            </a:r>
          </a:p>
          <a:p>
            <a:r>
              <a:rPr lang="en-US" sz="1600" dirty="0">
                <a:solidFill>
                  <a:srgbClr val="000000"/>
                </a:solidFill>
                <a:latin typeface="Consolas"/>
              </a:rPr>
              <a:t>y=</a:t>
            </a:r>
            <a:r>
              <a:rPr lang="en-US" sz="1600" dirty="0" err="1">
                <a:solidFill>
                  <a:srgbClr val="000000"/>
                </a:solidFill>
                <a:latin typeface="Consolas"/>
              </a:rPr>
              <a:t>x.format</a:t>
            </a:r>
            <a:r>
              <a:rPr lang="en-US" sz="1600" dirty="0">
                <a:solidFill>
                  <a:srgbClr val="000000"/>
                </a:solidFill>
                <a:latin typeface="Consolas"/>
              </a:rPr>
              <a:t>('Tops','</a:t>
            </a:r>
            <a:r>
              <a:rPr lang="en-US" sz="1600" dirty="0" err="1">
                <a:solidFill>
                  <a:srgbClr val="000000"/>
                </a:solidFill>
                <a:latin typeface="Consolas"/>
              </a:rPr>
              <a:t>Gandhinagar</a:t>
            </a:r>
            <a:r>
              <a:rPr lang="en-US" sz="1600" dirty="0">
                <a:solidFill>
                  <a:srgbClr val="000000"/>
                </a:solidFill>
                <a:latin typeface="Consolas"/>
              </a:rPr>
              <a:t>')</a:t>
            </a:r>
          </a:p>
          <a:p>
            <a:r>
              <a:rPr lang="en-US" sz="1600" dirty="0">
                <a:solidFill>
                  <a:srgbClr val="000000"/>
                </a:solidFill>
                <a:latin typeface="Consolas"/>
              </a:rPr>
              <a:t>print(y)</a:t>
            </a:r>
          </a:p>
          <a:p>
            <a:r>
              <a:rPr lang="en-US" sz="1600" dirty="0">
                <a:solidFill>
                  <a:srgbClr val="000000"/>
                </a:solidFill>
                <a:latin typeface="Consolas"/>
              </a:rPr>
              <a:t>print(</a:t>
            </a:r>
            <a:r>
              <a:rPr lang="en-US" sz="1600" dirty="0" err="1">
                <a:solidFill>
                  <a:srgbClr val="000000"/>
                </a:solidFill>
                <a:latin typeface="Consolas"/>
              </a:rPr>
              <a:t>x.format</a:t>
            </a:r>
            <a:r>
              <a:rPr lang="en-US" sz="1600" dirty="0">
                <a:solidFill>
                  <a:srgbClr val="000000"/>
                </a:solidFill>
                <a:latin typeface="Consolas"/>
              </a:rPr>
              <a:t>('ABCD','</a:t>
            </a:r>
            <a:r>
              <a:rPr lang="en-US" sz="1600" dirty="0" err="1">
                <a:solidFill>
                  <a:srgbClr val="000000"/>
                </a:solidFill>
                <a:latin typeface="Consolas"/>
              </a:rPr>
              <a:t>ahmedabad</a:t>
            </a:r>
            <a:r>
              <a:rPr lang="en-US" sz="1600" dirty="0">
                <a:solidFill>
                  <a:srgbClr val="000000"/>
                </a:solidFill>
                <a:latin typeface="Consolas"/>
              </a:rPr>
              <a:t>'))</a:t>
            </a:r>
            <a:endParaRPr lang="en-US" sz="1600" b="0" dirty="0">
              <a:solidFill>
                <a:srgbClr val="000000"/>
              </a:solidFill>
              <a:latin typeface="Consolas"/>
            </a:endParaRPr>
          </a:p>
        </p:txBody>
      </p:sp>
      <p:sp>
        <p:nvSpPr>
          <p:cNvPr id="13" name="Rectangle 12">
            <a:extLst>
              <a:ext uri="{FF2B5EF4-FFF2-40B4-BE49-F238E27FC236}">
                <a16:creationId xmlns:a16="http://schemas.microsoft.com/office/drawing/2014/main" xmlns="" id="{35F9F4A0-4592-C04D-B2D0-0BF66A3BFA20}"/>
              </a:ext>
            </a:extLst>
          </p:cNvPr>
          <p:cNvSpPr/>
          <p:nvPr/>
        </p:nvSpPr>
        <p:spPr>
          <a:xfrm>
            <a:off x="522642" y="4680857"/>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14" name="Rectangle: Top Corners Rounded 6">
            <a:extLst>
              <a:ext uri="{FF2B5EF4-FFF2-40B4-BE49-F238E27FC236}">
                <a16:creationId xmlns:a16="http://schemas.microsoft.com/office/drawing/2014/main" xmlns="" id="{0336C271-A2A3-9445-9946-5006F0A250F4}"/>
              </a:ext>
            </a:extLst>
          </p:cNvPr>
          <p:cNvSpPr/>
          <p:nvPr/>
        </p:nvSpPr>
        <p:spPr>
          <a:xfrm>
            <a:off x="522642" y="43516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build="p" animBg="1"/>
      <p:bldP spid="8" grpId="0" animBg="1"/>
      <p:bldP spid="9" grpId="0" animBg="1"/>
      <p:bldP spid="12" grpId="0" build="p" animBg="1"/>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print format (cont.)</a:t>
            </a:r>
          </a:p>
        </p:txBody>
      </p:sp>
      <p:sp>
        <p:nvSpPr>
          <p:cNvPr id="3" name="Content Placeholder 2"/>
          <p:cNvSpPr>
            <a:spLocks noGrp="1"/>
          </p:cNvSpPr>
          <p:nvPr>
            <p:ph idx="1"/>
          </p:nvPr>
        </p:nvSpPr>
        <p:spPr/>
        <p:txBody>
          <a:bodyPr/>
          <a:lstStyle/>
          <a:p>
            <a:r>
              <a:rPr lang="en-US" dirty="0"/>
              <a:t>We can specify the order of parameters in the string</a:t>
            </a:r>
          </a:p>
          <a:p>
            <a:endParaRPr lang="en-US" dirty="0"/>
          </a:p>
          <a:p>
            <a:endParaRPr lang="en-US" dirty="0"/>
          </a:p>
          <a:p>
            <a:pPr marL="0" indent="0">
              <a:buNone/>
            </a:pPr>
            <a:endParaRPr lang="en-US" dirty="0"/>
          </a:p>
          <a:p>
            <a:r>
              <a:rPr lang="en-US" dirty="0"/>
              <a:t>We can also specify alias within the string to specify the order</a:t>
            </a:r>
          </a:p>
          <a:p>
            <a:endParaRPr lang="en-US" dirty="0"/>
          </a:p>
          <a:p>
            <a:pPr>
              <a:buNone/>
            </a:pPr>
            <a:endParaRPr lang="en-US" dirty="0"/>
          </a:p>
          <a:p>
            <a:pPr marL="0" indent="0">
              <a:buNone/>
            </a:pPr>
            <a:endParaRPr lang="en-US" dirty="0"/>
          </a:p>
          <a:p>
            <a:pPr marL="0" indent="0">
              <a:buNone/>
            </a:pPr>
            <a:r>
              <a:rPr lang="en-US" dirty="0"/>
              <a:t>We can format the decimal values using format method</a:t>
            </a:r>
          </a:p>
        </p:txBody>
      </p:sp>
      <p:sp>
        <p:nvSpPr>
          <p:cNvPr id="12" name="Rectangle 11">
            <a:extLst>
              <a:ext uri="{FF2B5EF4-FFF2-40B4-BE49-F238E27FC236}">
                <a16:creationId xmlns:a16="http://schemas.microsoft.com/office/drawing/2014/main" xmlns="" id="{D456EBDA-49A4-A843-A786-6989C63A54AA}"/>
              </a:ext>
            </a:extLst>
          </p:cNvPr>
          <p:cNvSpPr/>
          <p:nvPr/>
        </p:nvSpPr>
        <p:spPr>
          <a:xfrm>
            <a:off x="1022635" y="1641324"/>
            <a:ext cx="8472276"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A31515"/>
                </a:solidFill>
                <a:latin typeface="Consolas"/>
              </a:rPr>
              <a:t>'{1} company, {0}'</a:t>
            </a:r>
            <a:endParaRPr lang="en-US" sz="1600" dirty="0">
              <a:solidFill>
                <a:srgbClr val="000000"/>
              </a:solidFill>
              <a:latin typeface="Consolas"/>
            </a:endParaRPr>
          </a:p>
          <a:p>
            <a:r>
              <a:rPr lang="en-US" sz="1600" dirty="0">
                <a:solidFill>
                  <a:srgbClr val="000000"/>
                </a:solidFill>
                <a:latin typeface="Consolas"/>
              </a:rPr>
              <a:t>y = </a:t>
            </a:r>
            <a:r>
              <a:rPr lang="en-US" sz="1600" dirty="0" err="1">
                <a:solidFill>
                  <a:srgbClr val="000000"/>
                </a:solidFill>
                <a:latin typeface="Consolas"/>
              </a:rPr>
              <a:t>x.format</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Gandhinagar’</a:t>
            </a:r>
            <a:r>
              <a:rPr lang="en-US" sz="1600" dirty="0" err="1">
                <a:solidFill>
                  <a:srgbClr val="000000"/>
                </a:solidFill>
                <a:latin typeface="Consolas"/>
              </a:rPr>
              <a:t>,</a:t>
            </a:r>
            <a:r>
              <a:rPr lang="en-US" sz="1600" dirty="0" err="1">
                <a:solidFill>
                  <a:srgbClr val="A31515"/>
                </a:solidFill>
                <a:latin typeface="Consolas"/>
              </a:rPr>
              <a:t>‘Infosys</a:t>
            </a:r>
            <a:r>
              <a:rPr lang="en-US" sz="1600" dirty="0">
                <a:solidFill>
                  <a:srgbClr val="A31515"/>
                </a:solidFill>
                <a:latin typeface="Consolas"/>
              </a:rPr>
              <a:t>’</a:t>
            </a:r>
            <a:r>
              <a:rPr lang="en-US" sz="1600" dirty="0">
                <a:solidFill>
                  <a:srgbClr val="000000"/>
                </a:solidFill>
                <a:latin typeface="Consolas"/>
              </a:rPr>
              <a:t>)</a:t>
            </a:r>
          </a:p>
          <a:p>
            <a:r>
              <a:rPr lang="en-US" sz="1600" dirty="0">
                <a:solidFill>
                  <a:srgbClr val="000000"/>
                </a:solidFill>
                <a:latin typeface="Consolas"/>
              </a:rPr>
              <a:t>print(y)</a:t>
            </a:r>
          </a:p>
          <a:p>
            <a:r>
              <a:rPr lang="en-US" sz="1600" dirty="0">
                <a:solidFill>
                  <a:srgbClr val="000000"/>
                </a:solidFill>
                <a:latin typeface="Consolas"/>
              </a:rPr>
              <a:t>print(</a:t>
            </a:r>
            <a:r>
              <a:rPr lang="en-US" sz="1600" dirty="0" err="1">
                <a:solidFill>
                  <a:srgbClr val="000000"/>
                </a:solidFill>
                <a:latin typeface="Consolas"/>
              </a:rPr>
              <a:t>x.format</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Infocity</a:t>
            </a:r>
            <a:r>
              <a:rPr lang="en-US" sz="1600" dirty="0">
                <a:solidFill>
                  <a:srgbClr val="A31515"/>
                </a:solidFill>
                <a:latin typeface="Consolas"/>
              </a:rPr>
              <a:t>’</a:t>
            </a:r>
            <a:r>
              <a:rPr lang="en-US" sz="1600" dirty="0">
                <a:solidFill>
                  <a:srgbClr val="000000"/>
                </a:solidFill>
                <a:latin typeface="Consolas"/>
              </a:rPr>
              <a:t>,</a:t>
            </a:r>
            <a:r>
              <a:rPr lang="en-US" sz="1600" dirty="0">
                <a:solidFill>
                  <a:srgbClr val="A31515"/>
                </a:solidFill>
                <a:latin typeface="Consolas"/>
              </a:rPr>
              <a:t>‘TCS’</a:t>
            </a:r>
            <a:r>
              <a:rPr lang="en-US" sz="1600" dirty="0">
                <a:solidFill>
                  <a:srgbClr val="000000"/>
                </a:solidFill>
                <a:latin typeface="Consolas"/>
              </a:rPr>
              <a:t>))</a:t>
            </a:r>
            <a:endParaRPr lang="en-US" sz="1600" b="0" dirty="0">
              <a:solidFill>
                <a:srgbClr val="000000"/>
              </a:solidFill>
              <a:latin typeface="Consolas"/>
            </a:endParaRPr>
          </a:p>
        </p:txBody>
      </p:sp>
      <p:sp>
        <p:nvSpPr>
          <p:cNvPr id="13" name="Rectangle 12">
            <a:extLst>
              <a:ext uri="{FF2B5EF4-FFF2-40B4-BE49-F238E27FC236}">
                <a16:creationId xmlns:a16="http://schemas.microsoft.com/office/drawing/2014/main" xmlns="" id="{35F9F4A0-4592-C04D-B2D0-0BF66A3BFA20}"/>
              </a:ext>
            </a:extLst>
          </p:cNvPr>
          <p:cNvSpPr/>
          <p:nvPr/>
        </p:nvSpPr>
        <p:spPr>
          <a:xfrm>
            <a:off x="522642" y="1641324"/>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14" name="Rectangle: Top Corners Rounded 6">
            <a:extLst>
              <a:ext uri="{FF2B5EF4-FFF2-40B4-BE49-F238E27FC236}">
                <a16:creationId xmlns:a16="http://schemas.microsoft.com/office/drawing/2014/main" xmlns="" id="{0336C271-A2A3-9445-9946-5006F0A250F4}"/>
              </a:ext>
            </a:extLst>
          </p:cNvPr>
          <p:cNvSpPr/>
          <p:nvPr/>
        </p:nvSpPr>
        <p:spPr>
          <a:xfrm>
            <a:off x="522642" y="13121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
        <p:nvSpPr>
          <p:cNvPr id="18" name="Rectangle 17">
            <a:extLst>
              <a:ext uri="{FF2B5EF4-FFF2-40B4-BE49-F238E27FC236}">
                <a16:creationId xmlns:a16="http://schemas.microsoft.com/office/drawing/2014/main" xmlns="" id="{35F9F4A0-4592-C04D-B2D0-0BF66A3BFA20}"/>
              </a:ext>
            </a:extLst>
          </p:cNvPr>
          <p:cNvSpPr/>
          <p:nvPr/>
        </p:nvSpPr>
        <p:spPr>
          <a:xfrm>
            <a:off x="522642" y="3842657"/>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19" name="Rectangle: Top Corners Rounded 6">
            <a:extLst>
              <a:ext uri="{FF2B5EF4-FFF2-40B4-BE49-F238E27FC236}">
                <a16:creationId xmlns:a16="http://schemas.microsoft.com/office/drawing/2014/main" xmlns="" id="{0336C271-A2A3-9445-9946-5006F0A250F4}"/>
              </a:ext>
            </a:extLst>
          </p:cNvPr>
          <p:cNvSpPr/>
          <p:nvPr/>
        </p:nvSpPr>
        <p:spPr>
          <a:xfrm>
            <a:off x="522642" y="35134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
        <p:nvSpPr>
          <p:cNvPr id="22" name="Rectangle 21">
            <a:extLst>
              <a:ext uri="{FF2B5EF4-FFF2-40B4-BE49-F238E27FC236}">
                <a16:creationId xmlns:a16="http://schemas.microsoft.com/office/drawing/2014/main" xmlns="" id="{D456EBDA-49A4-A843-A786-6989C63A54AA}"/>
              </a:ext>
            </a:extLst>
          </p:cNvPr>
          <p:cNvSpPr/>
          <p:nvPr/>
        </p:nvSpPr>
        <p:spPr>
          <a:xfrm>
            <a:off x="1022635" y="5239657"/>
            <a:ext cx="8472276" cy="861774"/>
          </a:xfrm>
          <a:prstGeom prst="rect">
            <a:avLst/>
          </a:prstGeom>
          <a:solidFill>
            <a:schemeClr val="bg1">
              <a:lumMod val="95000"/>
            </a:schemeClr>
          </a:solidFill>
          <a:ln>
            <a:noFill/>
          </a:ln>
        </p:spPr>
        <p:txBody>
          <a:bodyPr wrap="square">
            <a:spAutoFit/>
          </a:bodyPr>
          <a:lstStyle/>
          <a:p>
            <a:r>
              <a:rPr lang="it-IT" sz="1600" dirty="0">
                <a:solidFill>
                  <a:srgbClr val="000000"/>
                </a:solidFill>
                <a:latin typeface="Consolas"/>
              </a:rPr>
              <a:t>per=(438/500)*100</a:t>
            </a:r>
          </a:p>
          <a:p>
            <a:r>
              <a:rPr lang="it-IT" sz="1600" dirty="0">
                <a:solidFill>
                  <a:srgbClr val="000000"/>
                </a:solidFill>
                <a:latin typeface="Consolas"/>
              </a:rPr>
              <a:t>x='result = {r:3.2f} %'.format(r=per)</a:t>
            </a:r>
          </a:p>
          <a:p>
            <a:r>
              <a:rPr lang="it-IT" sz="1600" dirty="0">
                <a:solidFill>
                  <a:srgbClr val="000000"/>
                </a:solidFill>
                <a:latin typeface="Consolas"/>
              </a:rPr>
              <a:t>print(x)</a:t>
            </a:r>
            <a:endParaRPr lang="it-IT" sz="1600" b="0" dirty="0">
              <a:solidFill>
                <a:srgbClr val="000000"/>
              </a:solidFill>
              <a:latin typeface="Consolas"/>
            </a:endParaRPr>
          </a:p>
        </p:txBody>
      </p:sp>
      <p:sp>
        <p:nvSpPr>
          <p:cNvPr id="23" name="Rectangle 22">
            <a:extLst>
              <a:ext uri="{FF2B5EF4-FFF2-40B4-BE49-F238E27FC236}">
                <a16:creationId xmlns:a16="http://schemas.microsoft.com/office/drawing/2014/main" xmlns="" id="{35F9F4A0-4592-C04D-B2D0-0BF66A3BFA20}"/>
              </a:ext>
            </a:extLst>
          </p:cNvPr>
          <p:cNvSpPr/>
          <p:nvPr/>
        </p:nvSpPr>
        <p:spPr>
          <a:xfrm>
            <a:off x="522642" y="5239657"/>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24" name="Rectangle: Top Corners Rounded 6">
            <a:extLst>
              <a:ext uri="{FF2B5EF4-FFF2-40B4-BE49-F238E27FC236}">
                <a16:creationId xmlns:a16="http://schemas.microsoft.com/office/drawing/2014/main" xmlns="" id="{0336C271-A2A3-9445-9946-5006F0A250F4}"/>
              </a:ext>
            </a:extLst>
          </p:cNvPr>
          <p:cNvSpPr/>
          <p:nvPr/>
        </p:nvSpPr>
        <p:spPr>
          <a:xfrm>
            <a:off x="522642" y="49104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
        <p:nvSpPr>
          <p:cNvPr id="25" name="Line Callout 1 24"/>
          <p:cNvSpPr/>
          <p:nvPr/>
        </p:nvSpPr>
        <p:spPr>
          <a:xfrm>
            <a:off x="5997433" y="5481239"/>
            <a:ext cx="3730767" cy="428493"/>
          </a:xfrm>
          <a:prstGeom prst="borderCallout1">
            <a:avLst>
              <a:gd name="adj1" fmla="val 53885"/>
              <a:gd name="adj2" fmla="val -612"/>
              <a:gd name="adj3" fmla="val 114698"/>
              <a:gd name="adj4" fmla="val -10642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result = 87.60 %</a:t>
            </a:r>
            <a:endParaRPr lang="en-US" b="1" i="1" dirty="0">
              <a:solidFill>
                <a:srgbClr val="FF0000"/>
              </a:solidFill>
            </a:endParaRPr>
          </a:p>
        </p:txBody>
      </p:sp>
      <p:sp>
        <p:nvSpPr>
          <p:cNvPr id="26" name="Line Callout 1 25"/>
          <p:cNvSpPr/>
          <p:nvPr/>
        </p:nvSpPr>
        <p:spPr>
          <a:xfrm>
            <a:off x="2559967" y="6124704"/>
            <a:ext cx="835167" cy="428493"/>
          </a:xfrm>
          <a:prstGeom prst="borderCallout1">
            <a:avLst>
              <a:gd name="adj1" fmla="val -3417"/>
              <a:gd name="adj2" fmla="val 50077"/>
              <a:gd name="adj3" fmla="val -101015"/>
              <a:gd name="adj4" fmla="val 3146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width</a:t>
            </a:r>
            <a:endParaRPr lang="en-US" b="1" i="1" dirty="0">
              <a:solidFill>
                <a:srgbClr val="FF0000"/>
              </a:solidFill>
            </a:endParaRPr>
          </a:p>
        </p:txBody>
      </p:sp>
      <p:sp>
        <p:nvSpPr>
          <p:cNvPr id="27" name="Line Callout 1 26"/>
          <p:cNvSpPr/>
          <p:nvPr/>
        </p:nvSpPr>
        <p:spPr>
          <a:xfrm>
            <a:off x="3550567" y="6124704"/>
            <a:ext cx="1309300" cy="428493"/>
          </a:xfrm>
          <a:prstGeom prst="borderCallout1">
            <a:avLst>
              <a:gd name="adj1" fmla="val -3417"/>
              <a:gd name="adj2" fmla="val 50077"/>
              <a:gd name="adj3" fmla="val -88990"/>
              <a:gd name="adj4" fmla="val -3696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precision</a:t>
            </a:r>
            <a:endParaRPr lang="en-US" b="1" i="1" dirty="0">
              <a:solidFill>
                <a:srgbClr val="FF0000"/>
              </a:solidFill>
            </a:endParaRPr>
          </a:p>
        </p:txBody>
      </p:sp>
      <p:sp>
        <p:nvSpPr>
          <p:cNvPr id="6" name="Rectangle 5">
            <a:extLst>
              <a:ext uri="{FF2B5EF4-FFF2-40B4-BE49-F238E27FC236}">
                <a16:creationId xmlns:a16="http://schemas.microsoft.com/office/drawing/2014/main" xmlns="" id="{39BA8D7E-437D-0121-3D8A-5A71AC6B10B5}"/>
              </a:ext>
            </a:extLst>
          </p:cNvPr>
          <p:cNvSpPr/>
          <p:nvPr/>
        </p:nvSpPr>
        <p:spPr>
          <a:xfrm>
            <a:off x="1022635" y="3415522"/>
            <a:ext cx="8472276"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x='{com} Company,{city}'</a:t>
            </a:r>
          </a:p>
          <a:p>
            <a:r>
              <a:rPr lang="en-US" sz="1600" dirty="0">
                <a:solidFill>
                  <a:srgbClr val="000000"/>
                </a:solidFill>
                <a:latin typeface="Consolas"/>
              </a:rPr>
              <a:t>y=</a:t>
            </a:r>
            <a:r>
              <a:rPr lang="en-US" sz="1600" dirty="0" err="1">
                <a:solidFill>
                  <a:srgbClr val="000000"/>
                </a:solidFill>
                <a:latin typeface="Consolas"/>
              </a:rPr>
              <a:t>x.format</a:t>
            </a:r>
            <a:r>
              <a:rPr lang="en-US" sz="1600" dirty="0">
                <a:solidFill>
                  <a:srgbClr val="000000"/>
                </a:solidFill>
                <a:latin typeface="Consolas"/>
              </a:rPr>
              <a:t>(com='</a:t>
            </a:r>
            <a:r>
              <a:rPr lang="en-US" sz="1600" dirty="0" err="1">
                <a:solidFill>
                  <a:srgbClr val="000000"/>
                </a:solidFill>
                <a:latin typeface="Consolas"/>
              </a:rPr>
              <a:t>Tops',city</a:t>
            </a:r>
            <a:r>
              <a:rPr lang="en-US" sz="1600" dirty="0">
                <a:solidFill>
                  <a:srgbClr val="000000"/>
                </a:solidFill>
                <a:latin typeface="Consolas"/>
              </a:rPr>
              <a:t>='</a:t>
            </a:r>
            <a:r>
              <a:rPr lang="en-US" sz="1600" dirty="0" err="1">
                <a:solidFill>
                  <a:srgbClr val="000000"/>
                </a:solidFill>
                <a:latin typeface="Consolas"/>
              </a:rPr>
              <a:t>Gandhinagar</a:t>
            </a:r>
            <a:r>
              <a:rPr lang="en-US" sz="1600" dirty="0">
                <a:solidFill>
                  <a:srgbClr val="000000"/>
                </a:solidFill>
                <a:latin typeface="Consolas"/>
              </a:rPr>
              <a:t>')</a:t>
            </a:r>
          </a:p>
          <a:p>
            <a:r>
              <a:rPr lang="en-US" sz="1600" dirty="0">
                <a:solidFill>
                  <a:srgbClr val="000000"/>
                </a:solidFill>
                <a:latin typeface="Consolas"/>
              </a:rPr>
              <a:t>print(y)</a:t>
            </a:r>
          </a:p>
        </p:txBody>
      </p:sp>
      <p:sp>
        <p:nvSpPr>
          <p:cNvPr id="7" name="Rectangle 6">
            <a:extLst>
              <a:ext uri="{FF2B5EF4-FFF2-40B4-BE49-F238E27FC236}">
                <a16:creationId xmlns:a16="http://schemas.microsoft.com/office/drawing/2014/main" xmlns="" id="{04BC0E05-D76A-76FD-AA6F-6CA202ACABEA}"/>
              </a:ext>
            </a:extLst>
          </p:cNvPr>
          <p:cNvSpPr/>
          <p:nvPr/>
        </p:nvSpPr>
        <p:spPr>
          <a:xfrm>
            <a:off x="522642" y="3415522"/>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8" name="Rectangle: Top Corners Rounded 6">
            <a:extLst>
              <a:ext uri="{FF2B5EF4-FFF2-40B4-BE49-F238E27FC236}">
                <a16:creationId xmlns:a16="http://schemas.microsoft.com/office/drawing/2014/main" xmlns="" id="{36943C0E-F32E-5596-C780-0322FD659846}"/>
              </a:ext>
            </a:extLst>
          </p:cNvPr>
          <p:cNvSpPr/>
          <p:nvPr/>
        </p:nvSpPr>
        <p:spPr>
          <a:xfrm>
            <a:off x="522642" y="308633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6"/>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27"/>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25"/>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
                                            <p:bg/>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build="p" animBg="1"/>
      <p:bldP spid="13" grpId="0" animBg="1"/>
      <p:bldP spid="14" grpId="0" animBg="1"/>
      <p:bldP spid="18" grpId="0" animBg="1"/>
      <p:bldP spid="19" grpId="0" animBg="1"/>
      <p:bldP spid="22" grpId="0" uiExpand="1" build="p" animBg="1"/>
      <p:bldP spid="23" grpId="0" animBg="1"/>
      <p:bldP spid="24" grpId="0" animBg="1"/>
      <p:bldP spid="25" grpId="0" animBg="1"/>
      <p:bldP spid="25" grpId="1" animBg="1"/>
      <p:bldP spid="26" grpId="0" animBg="1"/>
      <p:bldP spid="26" grpId="1" animBg="1"/>
      <p:bldP spid="27" grpId="0" animBg="1"/>
      <p:bldP spid="27" grpId="1" animBg="1"/>
      <p:bldP spid="6" grpId="0" build="p" animBg="1"/>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print format (cont.)</a:t>
            </a:r>
          </a:p>
        </p:txBody>
      </p:sp>
      <p:sp>
        <p:nvSpPr>
          <p:cNvPr id="3" name="Content Placeholder 2"/>
          <p:cNvSpPr>
            <a:spLocks noGrp="1"/>
          </p:cNvSpPr>
          <p:nvPr>
            <p:ph idx="1"/>
          </p:nvPr>
        </p:nvSpPr>
        <p:spPr/>
        <p:txBody>
          <a:bodyPr/>
          <a:lstStyle/>
          <a:p>
            <a:r>
              <a:rPr lang="en-US" dirty="0"/>
              <a:t>We can specify the order of parameters in the string</a:t>
            </a:r>
          </a:p>
          <a:p>
            <a:endParaRPr lang="en-US" dirty="0"/>
          </a:p>
          <a:p>
            <a:endParaRPr lang="en-US" dirty="0"/>
          </a:p>
          <a:p>
            <a:endParaRPr lang="en-US" dirty="0"/>
          </a:p>
          <a:p>
            <a:endParaRPr lang="en-US" dirty="0"/>
          </a:p>
          <a:p>
            <a:r>
              <a:rPr lang="en-US" dirty="0"/>
              <a:t>We can also specify alias within the string to specify the order</a:t>
            </a:r>
          </a:p>
          <a:p>
            <a:endParaRPr lang="en-US" dirty="0"/>
          </a:p>
          <a:p>
            <a:pPr>
              <a:buNone/>
            </a:pPr>
            <a:endParaRPr lang="en-US" dirty="0"/>
          </a:p>
          <a:p>
            <a:pPr marL="0" indent="0">
              <a:buNone/>
            </a:pPr>
            <a:r>
              <a:rPr lang="en-US" dirty="0"/>
              <a:t>We can format the decimal values using format method</a:t>
            </a:r>
          </a:p>
        </p:txBody>
      </p:sp>
      <p:sp>
        <p:nvSpPr>
          <p:cNvPr id="12" name="Rectangle 11">
            <a:extLst>
              <a:ext uri="{FF2B5EF4-FFF2-40B4-BE49-F238E27FC236}">
                <a16:creationId xmlns:a16="http://schemas.microsoft.com/office/drawing/2014/main" xmlns="" id="{D456EBDA-49A4-A843-A786-6989C63A54AA}"/>
              </a:ext>
            </a:extLst>
          </p:cNvPr>
          <p:cNvSpPr/>
          <p:nvPr/>
        </p:nvSpPr>
        <p:spPr>
          <a:xfrm>
            <a:off x="378200" y="1446236"/>
            <a:ext cx="11413205" cy="553998"/>
          </a:xfrm>
          <a:prstGeom prst="rect">
            <a:avLst/>
          </a:prstGeom>
          <a:solidFill>
            <a:schemeClr val="bg1">
              <a:lumMod val="95000"/>
            </a:schemeClr>
          </a:solidFill>
          <a:ln>
            <a:noFill/>
          </a:ln>
        </p:spPr>
        <p:txBody>
          <a:bodyPr wrap="square">
            <a:spAutoFit/>
          </a:bodyPr>
          <a:lstStyle/>
          <a:p>
            <a:r>
              <a:rPr lang="en-US" sz="1400" dirty="0">
                <a:solidFill>
                  <a:srgbClr val="000000"/>
                </a:solidFill>
                <a:latin typeface="Times New Roman" panose="02020603050405020304" pitchFamily="18" charset="0"/>
                <a:cs typeface="Times New Roman" panose="02020603050405020304" pitchFamily="18" charset="0"/>
              </a:rPr>
              <a:t>print("Every {} should know the use of {} {} programming and {}".format("programmer", "Open", "Source", "Operating Systems"))</a:t>
            </a:r>
          </a:p>
          <a:p>
            <a:r>
              <a:rPr lang="en-US" sz="1400" dirty="0">
                <a:solidFill>
                  <a:srgbClr val="000000"/>
                </a:solidFill>
                <a:latin typeface="Times New Roman" panose="02020603050405020304" pitchFamily="18" charset="0"/>
                <a:cs typeface="Times New Roman" panose="02020603050405020304" pitchFamily="18" charset="0"/>
              </a:rPr>
              <a:t>print("Every {3} should know the use of {1} {2} programming and {0}".format(" Operating Systems ", "Open", "Source", "</a:t>
            </a:r>
            <a:r>
              <a:rPr lang="en-US" sz="1600" dirty="0">
                <a:latin typeface="Times New Roman" panose="02020603050405020304" pitchFamily="18" charset="0"/>
                <a:cs typeface="Times New Roman" panose="02020603050405020304" pitchFamily="18" charset="0"/>
              </a:rPr>
              <a:t>programmer</a:t>
            </a:r>
            <a:r>
              <a:rPr lang="en-US" sz="1400" dirty="0">
                <a:solidFill>
                  <a:srgbClr val="000000"/>
                </a:solidFill>
                <a:latin typeface="Times New Roman" panose="02020603050405020304" pitchFamily="18" charset="0"/>
                <a:cs typeface="Times New Roman" panose="02020603050405020304" pitchFamily="18" charset="0"/>
              </a:rPr>
              <a:t>"))</a:t>
            </a:r>
          </a:p>
        </p:txBody>
      </p:sp>
      <p:sp>
        <p:nvSpPr>
          <p:cNvPr id="17" name="Rectangle 16">
            <a:extLst>
              <a:ext uri="{FF2B5EF4-FFF2-40B4-BE49-F238E27FC236}">
                <a16:creationId xmlns:a16="http://schemas.microsoft.com/office/drawing/2014/main" xmlns="" id="{D456EBDA-49A4-A843-A786-6989C63A54AA}"/>
              </a:ext>
            </a:extLst>
          </p:cNvPr>
          <p:cNvSpPr/>
          <p:nvPr/>
        </p:nvSpPr>
        <p:spPr>
          <a:xfrm>
            <a:off x="1022635" y="3842657"/>
            <a:ext cx="8472276"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x='{com} Company,{city}'</a:t>
            </a:r>
          </a:p>
          <a:p>
            <a:r>
              <a:rPr lang="en-US" sz="1600" dirty="0">
                <a:solidFill>
                  <a:srgbClr val="000000"/>
                </a:solidFill>
                <a:latin typeface="Consolas"/>
              </a:rPr>
              <a:t>y=</a:t>
            </a:r>
            <a:r>
              <a:rPr lang="en-US" sz="1600" dirty="0" err="1">
                <a:solidFill>
                  <a:srgbClr val="000000"/>
                </a:solidFill>
                <a:latin typeface="Consolas"/>
              </a:rPr>
              <a:t>x.format</a:t>
            </a:r>
            <a:r>
              <a:rPr lang="en-US" sz="1600" dirty="0">
                <a:solidFill>
                  <a:srgbClr val="000000"/>
                </a:solidFill>
                <a:latin typeface="Consolas"/>
              </a:rPr>
              <a:t>(com='</a:t>
            </a:r>
            <a:r>
              <a:rPr lang="en-US" sz="1600" dirty="0" err="1">
                <a:solidFill>
                  <a:srgbClr val="000000"/>
                </a:solidFill>
                <a:latin typeface="Consolas"/>
              </a:rPr>
              <a:t>Tops',city</a:t>
            </a:r>
            <a:r>
              <a:rPr lang="en-US" sz="1600" dirty="0">
                <a:solidFill>
                  <a:srgbClr val="000000"/>
                </a:solidFill>
                <a:latin typeface="Consolas"/>
              </a:rPr>
              <a:t>='</a:t>
            </a:r>
            <a:r>
              <a:rPr lang="en-US" sz="1600" dirty="0" err="1">
                <a:solidFill>
                  <a:srgbClr val="000000"/>
                </a:solidFill>
                <a:latin typeface="Consolas"/>
              </a:rPr>
              <a:t>Gandhinagar</a:t>
            </a:r>
            <a:r>
              <a:rPr lang="en-US" sz="1600" dirty="0">
                <a:solidFill>
                  <a:srgbClr val="000000"/>
                </a:solidFill>
                <a:latin typeface="Consolas"/>
              </a:rPr>
              <a:t>')</a:t>
            </a:r>
          </a:p>
          <a:p>
            <a:r>
              <a:rPr lang="en-US" sz="1600" dirty="0">
                <a:solidFill>
                  <a:srgbClr val="000000"/>
                </a:solidFill>
                <a:latin typeface="Consolas"/>
              </a:rPr>
              <a:t>print(y)</a:t>
            </a:r>
          </a:p>
        </p:txBody>
      </p:sp>
      <p:sp>
        <p:nvSpPr>
          <p:cNvPr id="18" name="Rectangle 17">
            <a:extLst>
              <a:ext uri="{FF2B5EF4-FFF2-40B4-BE49-F238E27FC236}">
                <a16:creationId xmlns:a16="http://schemas.microsoft.com/office/drawing/2014/main" xmlns="" id="{35F9F4A0-4592-C04D-B2D0-0BF66A3BFA20}"/>
              </a:ext>
            </a:extLst>
          </p:cNvPr>
          <p:cNvSpPr/>
          <p:nvPr/>
        </p:nvSpPr>
        <p:spPr>
          <a:xfrm>
            <a:off x="522642" y="3842657"/>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19" name="Rectangle: Top Corners Rounded 6">
            <a:extLst>
              <a:ext uri="{FF2B5EF4-FFF2-40B4-BE49-F238E27FC236}">
                <a16:creationId xmlns:a16="http://schemas.microsoft.com/office/drawing/2014/main" xmlns="" id="{0336C271-A2A3-9445-9946-5006F0A250F4}"/>
              </a:ext>
            </a:extLst>
          </p:cNvPr>
          <p:cNvSpPr/>
          <p:nvPr/>
        </p:nvSpPr>
        <p:spPr>
          <a:xfrm>
            <a:off x="522642" y="35134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
        <p:nvSpPr>
          <p:cNvPr id="22" name="Rectangle 21">
            <a:extLst>
              <a:ext uri="{FF2B5EF4-FFF2-40B4-BE49-F238E27FC236}">
                <a16:creationId xmlns:a16="http://schemas.microsoft.com/office/drawing/2014/main" xmlns="" id="{D456EBDA-49A4-A843-A786-6989C63A54AA}"/>
              </a:ext>
            </a:extLst>
          </p:cNvPr>
          <p:cNvSpPr/>
          <p:nvPr/>
        </p:nvSpPr>
        <p:spPr>
          <a:xfrm>
            <a:off x="1022635" y="5239657"/>
            <a:ext cx="8472276" cy="861774"/>
          </a:xfrm>
          <a:prstGeom prst="rect">
            <a:avLst/>
          </a:prstGeom>
          <a:solidFill>
            <a:schemeClr val="bg1">
              <a:lumMod val="95000"/>
            </a:schemeClr>
          </a:solidFill>
          <a:ln>
            <a:noFill/>
          </a:ln>
        </p:spPr>
        <p:txBody>
          <a:bodyPr wrap="square">
            <a:spAutoFit/>
          </a:bodyPr>
          <a:lstStyle/>
          <a:p>
            <a:r>
              <a:rPr lang="it-IT" sz="1600" dirty="0">
                <a:solidFill>
                  <a:srgbClr val="000000"/>
                </a:solidFill>
                <a:latin typeface="Consolas"/>
              </a:rPr>
              <a:t>per=(438/500)*100</a:t>
            </a:r>
          </a:p>
          <a:p>
            <a:r>
              <a:rPr lang="it-IT" sz="1600" dirty="0">
                <a:solidFill>
                  <a:srgbClr val="000000"/>
                </a:solidFill>
                <a:latin typeface="Consolas"/>
              </a:rPr>
              <a:t>x='result = {r:3.2f} %'.format(r=per)</a:t>
            </a:r>
          </a:p>
          <a:p>
            <a:r>
              <a:rPr lang="it-IT" sz="1600" dirty="0">
                <a:solidFill>
                  <a:srgbClr val="000000"/>
                </a:solidFill>
                <a:latin typeface="Consolas"/>
              </a:rPr>
              <a:t>print(x)</a:t>
            </a:r>
            <a:endParaRPr lang="it-IT" sz="1600" b="0" dirty="0">
              <a:solidFill>
                <a:srgbClr val="000000"/>
              </a:solidFill>
              <a:latin typeface="Consolas"/>
            </a:endParaRPr>
          </a:p>
        </p:txBody>
      </p:sp>
      <p:sp>
        <p:nvSpPr>
          <p:cNvPr id="23" name="Rectangle 22">
            <a:extLst>
              <a:ext uri="{FF2B5EF4-FFF2-40B4-BE49-F238E27FC236}">
                <a16:creationId xmlns:a16="http://schemas.microsoft.com/office/drawing/2014/main" xmlns="" id="{35F9F4A0-4592-C04D-B2D0-0BF66A3BFA20}"/>
              </a:ext>
            </a:extLst>
          </p:cNvPr>
          <p:cNvSpPr/>
          <p:nvPr/>
        </p:nvSpPr>
        <p:spPr>
          <a:xfrm>
            <a:off x="522642" y="5239657"/>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24" name="Rectangle: Top Corners Rounded 6">
            <a:extLst>
              <a:ext uri="{FF2B5EF4-FFF2-40B4-BE49-F238E27FC236}">
                <a16:creationId xmlns:a16="http://schemas.microsoft.com/office/drawing/2014/main" xmlns="" id="{0336C271-A2A3-9445-9946-5006F0A250F4}"/>
              </a:ext>
            </a:extLst>
          </p:cNvPr>
          <p:cNvSpPr/>
          <p:nvPr/>
        </p:nvSpPr>
        <p:spPr>
          <a:xfrm>
            <a:off x="522642" y="49104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strformat.py</a:t>
            </a:r>
          </a:p>
        </p:txBody>
      </p:sp>
      <p:sp>
        <p:nvSpPr>
          <p:cNvPr id="25" name="Line Callout 1 24"/>
          <p:cNvSpPr/>
          <p:nvPr/>
        </p:nvSpPr>
        <p:spPr>
          <a:xfrm>
            <a:off x="5997433" y="5481239"/>
            <a:ext cx="3730767" cy="428493"/>
          </a:xfrm>
          <a:prstGeom prst="borderCallout1">
            <a:avLst>
              <a:gd name="adj1" fmla="val 53885"/>
              <a:gd name="adj2" fmla="val -612"/>
              <a:gd name="adj3" fmla="val 114698"/>
              <a:gd name="adj4" fmla="val -10642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result = 87.60 %</a:t>
            </a:r>
            <a:endParaRPr lang="en-US" b="1" i="1" dirty="0">
              <a:solidFill>
                <a:srgbClr val="FF0000"/>
              </a:solidFill>
            </a:endParaRPr>
          </a:p>
        </p:txBody>
      </p:sp>
      <p:sp>
        <p:nvSpPr>
          <p:cNvPr id="26" name="Line Callout 1 25"/>
          <p:cNvSpPr/>
          <p:nvPr/>
        </p:nvSpPr>
        <p:spPr>
          <a:xfrm>
            <a:off x="2559967" y="6124704"/>
            <a:ext cx="835167" cy="428493"/>
          </a:xfrm>
          <a:prstGeom prst="borderCallout1">
            <a:avLst>
              <a:gd name="adj1" fmla="val -3417"/>
              <a:gd name="adj2" fmla="val 50077"/>
              <a:gd name="adj3" fmla="val -88821"/>
              <a:gd name="adj4" fmla="val 57536"/>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width</a:t>
            </a:r>
            <a:endParaRPr lang="en-US" b="1" i="1" dirty="0">
              <a:solidFill>
                <a:srgbClr val="FF0000"/>
              </a:solidFill>
            </a:endParaRPr>
          </a:p>
        </p:txBody>
      </p:sp>
      <p:sp>
        <p:nvSpPr>
          <p:cNvPr id="27" name="Line Callout 1 26"/>
          <p:cNvSpPr/>
          <p:nvPr/>
        </p:nvSpPr>
        <p:spPr>
          <a:xfrm>
            <a:off x="3550567" y="6124704"/>
            <a:ext cx="1309300" cy="428493"/>
          </a:xfrm>
          <a:prstGeom prst="borderCallout1">
            <a:avLst>
              <a:gd name="adj1" fmla="val -3417"/>
              <a:gd name="adj2" fmla="val 50077"/>
              <a:gd name="adj3" fmla="val -82893"/>
              <a:gd name="adj4" fmla="val -19669"/>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precision</a:t>
            </a:r>
            <a:endParaRPr lang="en-US" b="1" i="1" dirty="0">
              <a:solidFill>
                <a:srgbClr val="FF0000"/>
              </a:solidFill>
            </a:endParaRPr>
          </a:p>
        </p:txBody>
      </p:sp>
      <p:sp>
        <p:nvSpPr>
          <p:cNvPr id="5" name="TextBox 4">
            <a:extLst>
              <a:ext uri="{FF2B5EF4-FFF2-40B4-BE49-F238E27FC236}">
                <a16:creationId xmlns:a16="http://schemas.microsoft.com/office/drawing/2014/main" xmlns="" id="{CAB4A7B3-E152-4FCA-B497-0EA2DEACF7C9}"/>
              </a:ext>
            </a:extLst>
          </p:cNvPr>
          <p:cNvSpPr txBox="1"/>
          <p:nvPr/>
        </p:nvSpPr>
        <p:spPr>
          <a:xfrm>
            <a:off x="378200" y="2252659"/>
            <a:ext cx="6122124" cy="830997"/>
          </a:xfrm>
          <a:prstGeom prst="rect">
            <a:avLst/>
          </a:prstGeom>
          <a:solidFill>
            <a:schemeClr val="bg2">
              <a:lumMod val="75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a = [100.7689454, 17.232999, 60.98867, 300.83748789]</a:t>
            </a:r>
          </a:p>
          <a:p>
            <a:r>
              <a:rPr lang="en-US" sz="1600" dirty="0">
                <a:latin typeface="Times New Roman" panose="02020603050405020304" pitchFamily="18" charset="0"/>
                <a:cs typeface="Times New Roman" panose="02020603050405020304" pitchFamily="18" charset="0"/>
              </a:rPr>
              <a:t>b = ['{:.2f}'.format(</a:t>
            </a:r>
            <a:r>
              <a:rPr lang="en-US" sz="1600" dirty="0" err="1">
                <a:latin typeface="Times New Roman" panose="02020603050405020304" pitchFamily="18" charset="0"/>
                <a:cs typeface="Times New Roman" panose="02020603050405020304" pitchFamily="18" charset="0"/>
              </a:rPr>
              <a:t>elem</a:t>
            </a:r>
            <a:r>
              <a:rPr lang="en-US" sz="1600" dirty="0">
                <a:latin typeface="Times New Roman" panose="02020603050405020304" pitchFamily="18" charset="0"/>
                <a:cs typeface="Times New Roman" panose="02020603050405020304" pitchFamily="18" charset="0"/>
              </a:rPr>
              <a:t>) for </a:t>
            </a:r>
            <a:r>
              <a:rPr lang="en-US" sz="1600" dirty="0" err="1">
                <a:latin typeface="Times New Roman" panose="02020603050405020304" pitchFamily="18" charset="0"/>
                <a:cs typeface="Times New Roman" panose="02020603050405020304" pitchFamily="18" charset="0"/>
              </a:rPr>
              <a:t>elem</a:t>
            </a:r>
            <a:r>
              <a:rPr lang="en-US" sz="1600" dirty="0">
                <a:latin typeface="Times New Roman" panose="02020603050405020304" pitchFamily="18" charset="0"/>
                <a:cs typeface="Times New Roman" panose="02020603050405020304" pitchFamily="18" charset="0"/>
              </a:rPr>
              <a:t> in a]</a:t>
            </a:r>
          </a:p>
          <a:p>
            <a:r>
              <a:rPr lang="en-US" sz="1600" dirty="0">
                <a:latin typeface="Times New Roman" panose="02020603050405020304" pitchFamily="18" charset="0"/>
                <a:cs typeface="Times New Roman" panose="02020603050405020304" pitchFamily="18" charset="0"/>
              </a:rPr>
              <a:t>print(b)</a:t>
            </a:r>
          </a:p>
        </p:txBody>
      </p:sp>
    </p:spTree>
    <p:extLst>
      <p:ext uri="{BB962C8B-B14F-4D97-AF65-F5344CB8AC3E}">
        <p14:creationId xmlns:p14="http://schemas.microsoft.com/office/powerpoint/2010/main" val="425678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bg/>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26"/>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27"/>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25"/>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build="p" animBg="1"/>
      <p:bldP spid="17" grpId="0" build="p" animBg="1"/>
      <p:bldP spid="18" grpId="0" animBg="1"/>
      <p:bldP spid="19" grpId="0" animBg="1"/>
      <p:bldP spid="22" grpId="0" uiExpand="1" build="p" animBg="1"/>
      <p:bldP spid="23" grpId="0" animBg="1"/>
      <p:bldP spid="24" grpId="0" animBg="1"/>
      <p:bldP spid="25" grpId="0" animBg="1"/>
      <p:bldP spid="25" grpId="1" animBg="1"/>
      <p:bldP spid="26" grpId="0" animBg="1"/>
      <p:bldP spid="26" grpId="1" animBg="1"/>
      <p:bldP spid="27" grpId="0" animBg="1"/>
      <p:bldP spid="27" grpId="1"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B711A5-8FB7-E494-BAA0-373CFA952060}"/>
              </a:ext>
            </a:extLst>
          </p:cNvPr>
          <p:cNvSpPr>
            <a:spLocks noGrp="1"/>
          </p:cNvSpPr>
          <p:nvPr>
            <p:ph type="title"/>
          </p:nvPr>
        </p:nvSpPr>
        <p:spPr/>
        <p:txBody>
          <a:bodyPr/>
          <a:lstStyle/>
          <a:p>
            <a:r>
              <a:rPr lang="en-US" dirty="0"/>
              <a:t>Think of Output:</a:t>
            </a:r>
          </a:p>
        </p:txBody>
      </p:sp>
      <p:sp>
        <p:nvSpPr>
          <p:cNvPr id="3" name="Content Placeholder 2">
            <a:extLst>
              <a:ext uri="{FF2B5EF4-FFF2-40B4-BE49-F238E27FC236}">
                <a16:creationId xmlns:a16="http://schemas.microsoft.com/office/drawing/2014/main" xmlns="" id="{561370FB-4A5C-69DF-B018-0758010200AA}"/>
              </a:ext>
            </a:extLst>
          </p:cNvPr>
          <p:cNvSpPr>
            <a:spLocks noGrp="1"/>
          </p:cNvSpPr>
          <p:nvPr>
            <p:ph idx="1"/>
          </p:nvPr>
        </p:nvSpPr>
        <p:spPr/>
        <p:txBody>
          <a:bodyPr/>
          <a:lstStyle/>
          <a:p>
            <a:pPr marL="0" indent="0">
              <a:buNone/>
            </a:pPr>
            <a:r>
              <a:rPr lang="en-US" dirty="0">
                <a:solidFill>
                  <a:srgbClr val="673BB7"/>
                </a:solidFill>
              </a:rPr>
              <a:t>product</a:t>
            </a:r>
            <a:r>
              <a:rPr lang="en-US" dirty="0"/>
              <a:t>,</a:t>
            </a:r>
            <a:r>
              <a:rPr lang="en-US" dirty="0">
                <a:solidFill>
                  <a:srgbClr val="673BB7"/>
                </a:solidFill>
              </a:rPr>
              <a:t> </a:t>
            </a:r>
            <a:r>
              <a:rPr lang="en-US" dirty="0" err="1">
                <a:solidFill>
                  <a:srgbClr val="673BB7"/>
                </a:solidFill>
              </a:rPr>
              <a:t>brand</a:t>
            </a:r>
            <a:r>
              <a:rPr lang="en-US" dirty="0" err="1"/>
              <a:t>,</a:t>
            </a:r>
            <a:r>
              <a:rPr lang="en-US" dirty="0" err="1">
                <a:solidFill>
                  <a:srgbClr val="673BB7"/>
                </a:solidFill>
              </a:rPr>
              <a:t>price</a:t>
            </a:r>
            <a:r>
              <a:rPr lang="en-US" dirty="0"/>
              <a:t>,</a:t>
            </a:r>
            <a:r>
              <a:rPr lang="en-US" dirty="0">
                <a:solidFill>
                  <a:srgbClr val="673BB7"/>
                </a:solidFill>
              </a:rPr>
              <a:t> color</a:t>
            </a:r>
            <a:r>
              <a:rPr lang="en-US" dirty="0"/>
              <a:t>,</a:t>
            </a:r>
            <a:r>
              <a:rPr lang="en-US" dirty="0">
                <a:solidFill>
                  <a:srgbClr val="673BB7"/>
                </a:solidFill>
              </a:rPr>
              <a:t> warranty </a:t>
            </a:r>
            <a:r>
              <a:rPr lang="en-US" dirty="0"/>
              <a:t>= "</a:t>
            </a:r>
            <a:r>
              <a:rPr lang="en-US" dirty="0">
                <a:solidFill>
                  <a:schemeClr val="accent6"/>
                </a:solidFill>
              </a:rPr>
              <a:t>Laptop</a:t>
            </a:r>
            <a:r>
              <a:rPr lang="en-US" dirty="0"/>
              <a:t>", "</a:t>
            </a:r>
            <a:r>
              <a:rPr lang="en-US" dirty="0">
                <a:solidFill>
                  <a:schemeClr val="accent6"/>
                </a:solidFill>
              </a:rPr>
              <a:t>Dell</a:t>
            </a:r>
            <a:r>
              <a:rPr lang="en-US" dirty="0"/>
              <a:t>", </a:t>
            </a:r>
            <a:r>
              <a:rPr lang="en-US" dirty="0">
                <a:solidFill>
                  <a:schemeClr val="accent1"/>
                </a:solidFill>
              </a:rPr>
              <a:t>65000</a:t>
            </a:r>
            <a:r>
              <a:rPr lang="en-US" dirty="0"/>
              <a:t>, "</a:t>
            </a:r>
            <a:r>
              <a:rPr lang="en-US" dirty="0">
                <a:solidFill>
                  <a:schemeClr val="accent6"/>
                </a:solidFill>
              </a:rPr>
              <a:t>Silver</a:t>
            </a:r>
            <a:r>
              <a:rPr lang="en-US" dirty="0"/>
              <a:t>", "</a:t>
            </a:r>
            <a:r>
              <a:rPr lang="en-US" dirty="0">
                <a:solidFill>
                  <a:schemeClr val="accent6"/>
                </a:solidFill>
              </a:rPr>
              <a:t>2</a:t>
            </a:r>
            <a:r>
              <a:rPr lang="en-US" dirty="0"/>
              <a:t> </a:t>
            </a:r>
            <a:r>
              <a:rPr lang="en-US" dirty="0">
                <a:solidFill>
                  <a:schemeClr val="accent6"/>
                </a:solidFill>
              </a:rPr>
              <a:t>Years</a:t>
            </a:r>
            <a:r>
              <a:rPr lang="en-US" dirty="0"/>
              <a:t>“;</a:t>
            </a:r>
          </a:p>
          <a:p>
            <a:pPr marL="0" indent="0">
              <a:buNone/>
            </a:pPr>
            <a:r>
              <a:rPr lang="en-US" dirty="0">
                <a:solidFill>
                  <a:srgbClr val="673BB7"/>
                </a:solidFill>
              </a:rPr>
              <a:t>print</a:t>
            </a:r>
            <a:r>
              <a:rPr lang="en-US" dirty="0"/>
              <a:t>("{:&lt;20} is a trusted computer </a:t>
            </a:r>
            <a:r>
              <a:rPr lang="en-US" dirty="0" err="1"/>
              <a:t>brand.".format</a:t>
            </a:r>
            <a:r>
              <a:rPr lang="en-US" dirty="0"/>
              <a:t>(</a:t>
            </a:r>
            <a:r>
              <a:rPr lang="en-US" dirty="0">
                <a:solidFill>
                  <a:srgbClr val="673BB7"/>
                </a:solidFill>
              </a:rPr>
              <a:t>brand</a:t>
            </a:r>
            <a:r>
              <a:rPr lang="en-US" dirty="0"/>
              <a:t>))</a:t>
            </a:r>
          </a:p>
          <a:p>
            <a:pPr marL="0" indent="0">
              <a:buNone/>
            </a:pPr>
            <a:r>
              <a:rPr lang="en-US" dirty="0">
                <a:solidFill>
                  <a:srgbClr val="673BB7"/>
                </a:solidFill>
              </a:rPr>
              <a:t>print</a:t>
            </a:r>
            <a:r>
              <a:rPr lang="en-US" dirty="0"/>
              <a:t>("I bought a {} in {} color for {} </a:t>
            </a:r>
            <a:r>
              <a:rPr lang="en-US" dirty="0" err="1"/>
              <a:t>rupees.".format</a:t>
            </a:r>
            <a:r>
              <a:rPr lang="en-US" dirty="0"/>
              <a:t>(</a:t>
            </a:r>
            <a:r>
              <a:rPr lang="en-US" dirty="0">
                <a:solidFill>
                  <a:srgbClr val="673BB7"/>
                </a:solidFill>
              </a:rPr>
              <a:t>product</a:t>
            </a:r>
            <a:r>
              <a:rPr lang="en-US" dirty="0"/>
              <a:t>, </a:t>
            </a:r>
            <a:r>
              <a:rPr lang="en-US" dirty="0">
                <a:solidFill>
                  <a:srgbClr val="673BB7"/>
                </a:solidFill>
              </a:rPr>
              <a:t>color</a:t>
            </a:r>
            <a:r>
              <a:rPr lang="en-US" dirty="0"/>
              <a:t>, </a:t>
            </a:r>
            <a:r>
              <a:rPr lang="en-US" dirty="0">
                <a:solidFill>
                  <a:srgbClr val="673BB7"/>
                </a:solidFill>
              </a:rPr>
              <a:t>price</a:t>
            </a:r>
            <a:r>
              <a:rPr lang="en-US" dirty="0"/>
              <a:t>))</a:t>
            </a:r>
          </a:p>
          <a:p>
            <a:pPr marL="0" indent="0">
              <a:buNone/>
            </a:pPr>
            <a:r>
              <a:rPr lang="en-US" dirty="0">
                <a:solidFill>
                  <a:srgbClr val="673BB7"/>
                </a:solidFill>
              </a:rPr>
              <a:t>print</a:t>
            </a:r>
            <a:r>
              <a:rPr lang="en-US" dirty="0"/>
              <a:t>("It comes with a {} </a:t>
            </a:r>
            <a:r>
              <a:rPr lang="en-US" dirty="0" err="1"/>
              <a:t>warranty.".format</a:t>
            </a:r>
            <a:r>
              <a:rPr lang="en-US" dirty="0"/>
              <a:t>(</a:t>
            </a:r>
            <a:r>
              <a:rPr lang="en-US" dirty="0">
                <a:solidFill>
                  <a:srgbClr val="673BB7"/>
                </a:solidFill>
              </a:rPr>
              <a:t>warranty</a:t>
            </a:r>
            <a:r>
              <a:rPr lang="en-US" dirty="0"/>
              <a:t>))</a:t>
            </a:r>
          </a:p>
          <a:p>
            <a:pPr marL="0" indent="0">
              <a:buNone/>
            </a:pPr>
            <a:r>
              <a:rPr lang="en-US" dirty="0">
                <a:solidFill>
                  <a:srgbClr val="673BB7"/>
                </a:solidFill>
              </a:rPr>
              <a:t>print</a:t>
            </a:r>
            <a:r>
              <a:rPr lang="en-US" dirty="0"/>
              <a:t>("Short product name: {:.4}".format(</a:t>
            </a:r>
            <a:r>
              <a:rPr lang="en-US" dirty="0">
                <a:solidFill>
                  <a:srgbClr val="673BB7"/>
                </a:solidFill>
              </a:rPr>
              <a:t>product</a:t>
            </a:r>
            <a:r>
              <a:rPr lang="en-US" dirty="0"/>
              <a:t>))</a:t>
            </a:r>
          </a:p>
        </p:txBody>
      </p:sp>
    </p:spTree>
    <p:extLst>
      <p:ext uri="{BB962C8B-B14F-4D97-AF65-F5344CB8AC3E}">
        <p14:creationId xmlns:p14="http://schemas.microsoft.com/office/powerpoint/2010/main" val="8536950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Operators in python</a:t>
            </a:r>
            <a:endParaRPr lang="en-US" dirty="0"/>
          </a:p>
        </p:txBody>
      </p:sp>
      <p:sp>
        <p:nvSpPr>
          <p:cNvPr id="3" name="Content Placeholder 2"/>
          <p:cNvSpPr>
            <a:spLocks noGrp="1"/>
          </p:cNvSpPr>
          <p:nvPr>
            <p:ph idx="1"/>
          </p:nvPr>
        </p:nvSpPr>
        <p:spPr/>
        <p:txBody>
          <a:bodyPr/>
          <a:lstStyle/>
          <a:p>
            <a:r>
              <a:rPr lang="en-IN" dirty="0"/>
              <a:t>We can segregate python operators in the following groups</a:t>
            </a:r>
          </a:p>
          <a:p>
            <a:pPr lvl="1"/>
            <a:r>
              <a:rPr lang="en-US" dirty="0"/>
              <a:t>Arithmetic operators</a:t>
            </a:r>
          </a:p>
          <a:p>
            <a:pPr lvl="1"/>
            <a:r>
              <a:rPr lang="en-US" dirty="0"/>
              <a:t>Assignment operators</a:t>
            </a:r>
          </a:p>
          <a:p>
            <a:pPr lvl="1"/>
            <a:r>
              <a:rPr lang="en-US" dirty="0"/>
              <a:t>Comparison operators</a:t>
            </a:r>
          </a:p>
          <a:p>
            <a:pPr lvl="1"/>
            <a:r>
              <a:rPr lang="en-US" dirty="0"/>
              <a:t>Logical operators</a:t>
            </a:r>
          </a:p>
          <a:p>
            <a:pPr lvl="1"/>
            <a:r>
              <a:rPr lang="en-US" dirty="0"/>
              <a:t>Identity operators</a:t>
            </a:r>
          </a:p>
          <a:p>
            <a:pPr lvl="1"/>
            <a:r>
              <a:rPr lang="en-US" dirty="0"/>
              <a:t>Membership operators</a:t>
            </a:r>
          </a:p>
          <a:p>
            <a:pPr lvl="1"/>
            <a:r>
              <a:rPr lang="en-US" dirty="0"/>
              <a:t>Bitwise operators</a:t>
            </a:r>
          </a:p>
          <a:p>
            <a:endParaRPr lang="en-IN" dirty="0"/>
          </a:p>
          <a:p>
            <a:r>
              <a:rPr lang="en-IN" dirty="0"/>
              <a:t>We will discuss some of the operators from the given list in detail in some of next slides.</a:t>
            </a:r>
            <a:endParaRPr lang="en-US" dirty="0"/>
          </a:p>
          <a:p>
            <a:pPr lvl="1"/>
            <a:endParaRPr lang="en-IN" dirty="0"/>
          </a:p>
          <a:p>
            <a:endParaRPr lang="en-US" dirty="0"/>
          </a:p>
        </p:txBody>
      </p:sp>
    </p:spTree>
    <p:extLst>
      <p:ext uri="{BB962C8B-B14F-4D97-AF65-F5344CB8AC3E}">
        <p14:creationId xmlns:p14="http://schemas.microsoft.com/office/powerpoint/2010/main" val="40520945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Arithmetic Operators</a:t>
            </a:r>
            <a:endParaRPr lang="en-US" dirty="0"/>
          </a:p>
        </p:txBody>
      </p:sp>
      <p:sp>
        <p:nvSpPr>
          <p:cNvPr id="3" name="Content Placeholder 2"/>
          <p:cNvSpPr>
            <a:spLocks noGrp="1"/>
          </p:cNvSpPr>
          <p:nvPr>
            <p:ph idx="1"/>
          </p:nvPr>
        </p:nvSpPr>
        <p:spPr/>
        <p:txBody>
          <a:bodyPr/>
          <a:lstStyle/>
          <a:p>
            <a:r>
              <a:rPr lang="en-IN" dirty="0"/>
              <a:t>Note : consider A = 10 and B = 3</a:t>
            </a:r>
            <a:endParaRPr lang="en-US" dirty="0"/>
          </a:p>
        </p:txBody>
      </p:sp>
      <p:graphicFrame>
        <p:nvGraphicFramePr>
          <p:cNvPr id="4" name="Content Placeholder 4">
            <a:extLst>
              <a:ext uri="{FF2B5EF4-FFF2-40B4-BE49-F238E27FC236}">
                <a16:creationId xmlns:a16="http://schemas.microsoft.com/office/drawing/2014/main" xmlns="" id="{2486BC6F-42B7-4A1D-889E-1B1818D1D5FB}"/>
              </a:ext>
            </a:extLst>
          </p:cNvPr>
          <p:cNvGraphicFramePr>
            <a:graphicFrameLocks/>
          </p:cNvGraphicFramePr>
          <p:nvPr/>
        </p:nvGraphicFramePr>
        <p:xfrm>
          <a:off x="348125" y="1379978"/>
          <a:ext cx="11413357" cy="3291840"/>
        </p:xfrm>
        <a:graphic>
          <a:graphicData uri="http://schemas.openxmlformats.org/drawingml/2006/table">
            <a:tbl>
              <a:tblPr firstRow="1" bandRow="1">
                <a:tableStyleId>{8EC20E35-A176-4012-BC5E-935CFFF8708E}</a:tableStyleId>
              </a:tblPr>
              <a:tblGrid>
                <a:gridCol w="1429875">
                  <a:extLst>
                    <a:ext uri="{9D8B030D-6E8A-4147-A177-3AD203B41FA5}">
                      <a16:colId xmlns:a16="http://schemas.microsoft.com/office/drawing/2014/main" xmlns="" val="20000"/>
                    </a:ext>
                  </a:extLst>
                </a:gridCol>
                <a:gridCol w="4394200">
                  <a:extLst>
                    <a:ext uri="{9D8B030D-6E8A-4147-A177-3AD203B41FA5}">
                      <a16:colId xmlns:a16="http://schemas.microsoft.com/office/drawing/2014/main" xmlns="" val="20001"/>
                    </a:ext>
                  </a:extLst>
                </a:gridCol>
                <a:gridCol w="2921000">
                  <a:extLst>
                    <a:ext uri="{9D8B030D-6E8A-4147-A177-3AD203B41FA5}">
                      <a16:colId xmlns:a16="http://schemas.microsoft.com/office/drawing/2014/main" xmlns="" val="20003"/>
                    </a:ext>
                  </a:extLst>
                </a:gridCol>
                <a:gridCol w="2668282">
                  <a:extLst>
                    <a:ext uri="{9D8B030D-6E8A-4147-A177-3AD203B41FA5}">
                      <a16:colId xmlns:a16="http://schemas.microsoft.com/office/drawing/2014/main" xmlns="" val="20002"/>
                    </a:ext>
                  </a:extLst>
                </a:gridCol>
              </a:tblGrid>
              <a:tr h="411480">
                <a:tc>
                  <a:txBody>
                    <a:bodyPr/>
                    <a:lstStyle/>
                    <a:p>
                      <a:pPr algn="ctr"/>
                      <a:r>
                        <a:rPr lang="en-US" b="1" dirty="0">
                          <a:solidFill>
                            <a:schemeClr val="tx1"/>
                          </a:solidFill>
                        </a:rPr>
                        <a:t>Operator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IN" sz="1800" b="1" kern="1200" dirty="0">
                          <a:solidFill>
                            <a:schemeClr val="tx1"/>
                          </a:solidFill>
                          <a:latin typeface="+mn-lt"/>
                          <a:ea typeface="+mn-ea"/>
                          <a:cs typeface="+mn-cs"/>
                        </a:rPr>
                        <a:t>Example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Output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val="10001"/>
                  </a:ext>
                </a:extLst>
              </a:tr>
              <a:tr h="411480">
                <a:tc>
                  <a:txBody>
                    <a:bodyPr/>
                    <a:lstStyle/>
                    <a:p>
                      <a:pPr algn="ctr"/>
                      <a:r>
                        <a:rPr lang="en-US" sz="19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Addition</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 B</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13</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11480">
                <a:tc>
                  <a:txBody>
                    <a:bodyPr/>
                    <a:lstStyle/>
                    <a:p>
                      <a:pPr algn="ctr"/>
                      <a:r>
                        <a:rPr lang="en-US" sz="19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Subtraction</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 B</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7</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11480">
                <a:tc>
                  <a:txBody>
                    <a:bodyPr/>
                    <a:lstStyle/>
                    <a:p>
                      <a:pPr algn="ctr"/>
                      <a:r>
                        <a:rPr lang="en-US" sz="19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Division</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 B</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t>3.3333333333333335</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411480">
                <a:tc>
                  <a:txBody>
                    <a:bodyPr/>
                    <a:lstStyle/>
                    <a:p>
                      <a:pPr algn="ctr"/>
                      <a:r>
                        <a:rPr lang="en-US" sz="19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Multiplication</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a:t>
                      </a:r>
                      <a:r>
                        <a:rPr lang="en-IN" sz="2000" baseline="0" dirty="0">
                          <a:solidFill>
                            <a:schemeClr val="tx1"/>
                          </a:solidFill>
                        </a:rPr>
                        <a:t> * B</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30</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6"/>
                  </a:ext>
                </a:extLst>
              </a:tr>
              <a:tr h="411480">
                <a:tc>
                  <a:txBody>
                    <a:bodyPr/>
                    <a:lstStyle/>
                    <a:p>
                      <a:pPr algn="ctr"/>
                      <a:r>
                        <a:rPr lang="en-US" sz="19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Modulus return the remainder</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0" dirty="0">
                          <a:solidFill>
                            <a:schemeClr val="tx1"/>
                          </a:solidFill>
                        </a:rPr>
                        <a:t>A % B</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0" dirty="0">
                          <a:solidFill>
                            <a:schemeClr val="tx1"/>
                          </a:solidFill>
                        </a:rPr>
                        <a:t>1</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7"/>
                  </a:ext>
                </a:extLst>
              </a:tr>
              <a:tr h="411480">
                <a:tc>
                  <a:txBody>
                    <a:bodyPr/>
                    <a:lstStyle/>
                    <a:p>
                      <a:pPr algn="ctr"/>
                      <a:r>
                        <a:rPr lang="en-IN" sz="1900" dirty="0"/>
                        <a:t>//</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Floor division returns the quotient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rPr>
                        <a:t>A // B</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0" dirty="0">
                          <a:solidFill>
                            <a:schemeClr val="tx1"/>
                          </a:solidFill>
                        </a:rPr>
                        <a:t>3</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8"/>
                  </a:ext>
                </a:extLst>
              </a:tr>
              <a:tr h="411480">
                <a:tc>
                  <a:txBody>
                    <a:bodyPr/>
                    <a:lstStyle/>
                    <a:p>
                      <a:pPr algn="ctr"/>
                      <a:r>
                        <a:rPr lang="en-IN" sz="19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Exponentiation </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rPr>
                        <a:t>A ** B</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0" dirty="0">
                          <a:solidFill>
                            <a:schemeClr val="tx1"/>
                          </a:solidFill>
                        </a:rPr>
                        <a:t>10 * 10 * 10 = 1000</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21220163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endParaRPr lang="en-IN" dirty="0"/>
          </a:p>
        </p:txBody>
      </p:sp>
      <p:sp>
        <p:nvSpPr>
          <p:cNvPr id="3" name="Content Placeholder 2"/>
          <p:cNvSpPr>
            <a:spLocks noGrp="1"/>
          </p:cNvSpPr>
          <p:nvPr>
            <p:ph idx="1"/>
          </p:nvPr>
        </p:nvSpPr>
        <p:spPr/>
        <p:txBody>
          <a:bodyPr/>
          <a:lstStyle/>
          <a:p>
            <a:pPr marL="0" indent="0">
              <a:lnSpc>
                <a:spcPct val="100000"/>
              </a:lnSpc>
              <a:buNone/>
            </a:pPr>
            <a:r>
              <a:rPr lang="es-ES" sz="1600" b="1" dirty="0"/>
              <a:t>x = 15</a:t>
            </a:r>
          </a:p>
          <a:p>
            <a:pPr marL="0" indent="0">
              <a:lnSpc>
                <a:spcPct val="100000"/>
              </a:lnSpc>
              <a:buNone/>
            </a:pPr>
            <a:r>
              <a:rPr lang="es-ES" sz="1600" b="1" dirty="0"/>
              <a:t>y = 4</a:t>
            </a:r>
          </a:p>
          <a:p>
            <a:pPr marL="0" indent="0">
              <a:lnSpc>
                <a:spcPct val="100000"/>
              </a:lnSpc>
              <a:buNone/>
            </a:pPr>
            <a:r>
              <a:rPr lang="es-ES" sz="1600" b="1" dirty="0"/>
              <a:t># Output: x + y = 19</a:t>
            </a:r>
          </a:p>
          <a:p>
            <a:pPr marL="0" indent="0">
              <a:lnSpc>
                <a:spcPct val="100000"/>
              </a:lnSpc>
              <a:buNone/>
            </a:pPr>
            <a:r>
              <a:rPr lang="es-ES" sz="1600" b="1" dirty="0" err="1"/>
              <a:t>print</a:t>
            </a:r>
            <a:r>
              <a:rPr lang="es-ES" sz="1600" b="1" dirty="0"/>
              <a:t>('x + y =',</a:t>
            </a:r>
            <a:r>
              <a:rPr lang="es-ES" sz="1600" b="1" dirty="0" err="1"/>
              <a:t>x+y</a:t>
            </a:r>
            <a:r>
              <a:rPr lang="es-ES" sz="1600" b="1" dirty="0"/>
              <a:t>)</a:t>
            </a:r>
          </a:p>
          <a:p>
            <a:pPr marL="0" indent="0">
              <a:lnSpc>
                <a:spcPct val="100000"/>
              </a:lnSpc>
              <a:buNone/>
            </a:pPr>
            <a:r>
              <a:rPr lang="es-ES" sz="1600" b="1" dirty="0"/>
              <a:t># Output: x - y = 11</a:t>
            </a:r>
          </a:p>
          <a:p>
            <a:pPr marL="0" indent="0">
              <a:lnSpc>
                <a:spcPct val="100000"/>
              </a:lnSpc>
              <a:buNone/>
            </a:pPr>
            <a:r>
              <a:rPr lang="es-ES" sz="1600" b="1" dirty="0" err="1"/>
              <a:t>print</a:t>
            </a:r>
            <a:r>
              <a:rPr lang="es-ES" sz="1600" b="1" dirty="0"/>
              <a:t>('x - y =',x-y)</a:t>
            </a:r>
          </a:p>
          <a:p>
            <a:pPr marL="0" indent="0">
              <a:lnSpc>
                <a:spcPct val="100000"/>
              </a:lnSpc>
              <a:buNone/>
            </a:pPr>
            <a:r>
              <a:rPr lang="es-ES" sz="1600" b="1" dirty="0"/>
              <a:t>#Output: x * y = 60</a:t>
            </a:r>
          </a:p>
          <a:p>
            <a:pPr marL="0" indent="0">
              <a:lnSpc>
                <a:spcPct val="100000"/>
              </a:lnSpc>
              <a:buNone/>
            </a:pPr>
            <a:r>
              <a:rPr lang="es-ES" sz="1600" b="1" dirty="0" err="1"/>
              <a:t>print</a:t>
            </a:r>
            <a:r>
              <a:rPr lang="es-ES" sz="1600" b="1" dirty="0"/>
              <a:t>('x * y =',x*y)</a:t>
            </a:r>
          </a:p>
          <a:p>
            <a:pPr marL="0" indent="0">
              <a:lnSpc>
                <a:spcPct val="100000"/>
              </a:lnSpc>
              <a:buNone/>
            </a:pPr>
            <a:r>
              <a:rPr lang="es-ES" sz="1600" b="1" dirty="0"/>
              <a:t># Output: x / y = 3.75</a:t>
            </a:r>
          </a:p>
          <a:p>
            <a:pPr marL="0" indent="0">
              <a:lnSpc>
                <a:spcPct val="100000"/>
              </a:lnSpc>
              <a:buNone/>
            </a:pPr>
            <a:r>
              <a:rPr lang="es-ES" sz="1600" b="1" dirty="0" err="1"/>
              <a:t>print</a:t>
            </a:r>
            <a:r>
              <a:rPr lang="es-ES" sz="1600" b="1" dirty="0"/>
              <a:t>('x / y =',x/y)</a:t>
            </a:r>
          </a:p>
          <a:p>
            <a:pPr marL="0" indent="0">
              <a:lnSpc>
                <a:spcPct val="100000"/>
              </a:lnSpc>
              <a:buNone/>
            </a:pPr>
            <a:r>
              <a:rPr lang="es-ES" sz="1600" b="1" dirty="0"/>
              <a:t># Output: x // y = 3</a:t>
            </a:r>
          </a:p>
          <a:p>
            <a:pPr marL="0" indent="0">
              <a:lnSpc>
                <a:spcPct val="100000"/>
              </a:lnSpc>
              <a:buNone/>
            </a:pPr>
            <a:r>
              <a:rPr lang="es-ES" sz="1600" b="1" dirty="0" err="1"/>
              <a:t>print</a:t>
            </a:r>
            <a:r>
              <a:rPr lang="es-ES" sz="1600" b="1" dirty="0"/>
              <a:t>('x // y =',x//y)</a:t>
            </a:r>
          </a:p>
          <a:p>
            <a:pPr marL="0" indent="0">
              <a:lnSpc>
                <a:spcPct val="100000"/>
              </a:lnSpc>
              <a:buNone/>
            </a:pPr>
            <a:r>
              <a:rPr lang="es-ES" sz="1600" b="1" dirty="0"/>
              <a:t># Output: x ** y = 50625</a:t>
            </a:r>
          </a:p>
          <a:p>
            <a:pPr marL="0" indent="0">
              <a:lnSpc>
                <a:spcPct val="100000"/>
              </a:lnSpc>
              <a:buNone/>
            </a:pPr>
            <a:r>
              <a:rPr lang="es-ES" sz="1600" b="1" dirty="0" err="1"/>
              <a:t>print</a:t>
            </a:r>
            <a:r>
              <a:rPr lang="es-ES" sz="1600" b="1" dirty="0"/>
              <a:t>('x ** y =',x**y)</a:t>
            </a:r>
            <a:endParaRPr lang="en-IN" sz="1600" b="1" dirty="0"/>
          </a:p>
        </p:txBody>
      </p:sp>
    </p:spTree>
    <p:extLst>
      <p:ext uri="{BB962C8B-B14F-4D97-AF65-F5344CB8AC3E}">
        <p14:creationId xmlns:p14="http://schemas.microsoft.com/office/powerpoint/2010/main" val="33889978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Operator</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37990805"/>
              </p:ext>
            </p:extLst>
          </p:nvPr>
        </p:nvGraphicFramePr>
        <p:xfrm>
          <a:off x="236412" y="832440"/>
          <a:ext cx="7428411" cy="5621131"/>
        </p:xfrm>
        <a:graphic>
          <a:graphicData uri="http://schemas.openxmlformats.org/drawingml/2006/table">
            <a:tbl>
              <a:tblPr/>
              <a:tblGrid>
                <a:gridCol w="2476137">
                  <a:extLst>
                    <a:ext uri="{9D8B030D-6E8A-4147-A177-3AD203B41FA5}">
                      <a16:colId xmlns:a16="http://schemas.microsoft.com/office/drawing/2014/main" xmlns="" val="20000"/>
                    </a:ext>
                  </a:extLst>
                </a:gridCol>
                <a:gridCol w="2476137">
                  <a:extLst>
                    <a:ext uri="{9D8B030D-6E8A-4147-A177-3AD203B41FA5}">
                      <a16:colId xmlns:a16="http://schemas.microsoft.com/office/drawing/2014/main" xmlns="" val="20001"/>
                    </a:ext>
                  </a:extLst>
                </a:gridCol>
                <a:gridCol w="2476137">
                  <a:extLst>
                    <a:ext uri="{9D8B030D-6E8A-4147-A177-3AD203B41FA5}">
                      <a16:colId xmlns:a16="http://schemas.microsoft.com/office/drawing/2014/main" xmlns="" val="20002"/>
                    </a:ext>
                  </a:extLst>
                </a:gridCol>
              </a:tblGrid>
              <a:tr h="382006">
                <a:tc>
                  <a:txBody>
                    <a:bodyPr/>
                    <a:lstStyle/>
                    <a:p>
                      <a:pPr algn="l"/>
                      <a:r>
                        <a:rPr lang="en-IN" sz="1400" b="0" dirty="0">
                          <a:effectLst/>
                        </a:rPr>
                        <a:t>Operator</a:t>
                      </a:r>
                    </a:p>
                  </a:txBody>
                  <a:tcPr marL="173639" marR="173639" marT="86819" marB="86819" anchor="ctr">
                    <a:lnL>
                      <a:noFill/>
                    </a:lnL>
                    <a:lnR>
                      <a:noFill/>
                    </a:lnR>
                    <a:lnT>
                      <a:noFill/>
                    </a:lnT>
                    <a:lnB>
                      <a:noFill/>
                    </a:lnB>
                    <a:solidFill>
                      <a:srgbClr val="F8FAFF"/>
                    </a:solidFill>
                  </a:tcPr>
                </a:tc>
                <a:tc>
                  <a:txBody>
                    <a:bodyPr/>
                    <a:lstStyle/>
                    <a:p>
                      <a:pPr algn="l"/>
                      <a:r>
                        <a:rPr lang="en-IN" sz="1400" b="0">
                          <a:effectLst/>
                        </a:rPr>
                        <a:t>Meaning</a:t>
                      </a:r>
                    </a:p>
                  </a:txBody>
                  <a:tcPr marL="173639" marR="173639" marT="86819" marB="86819" anchor="ctr">
                    <a:lnL>
                      <a:noFill/>
                    </a:lnL>
                    <a:lnR>
                      <a:noFill/>
                    </a:lnR>
                    <a:lnT>
                      <a:noFill/>
                    </a:lnT>
                    <a:lnB>
                      <a:noFill/>
                    </a:lnB>
                    <a:solidFill>
                      <a:srgbClr val="F8FAFF"/>
                    </a:solidFill>
                  </a:tcPr>
                </a:tc>
                <a:tc>
                  <a:txBody>
                    <a:bodyPr/>
                    <a:lstStyle/>
                    <a:p>
                      <a:pPr algn="l"/>
                      <a:r>
                        <a:rPr lang="en-IN" sz="1400" b="0">
                          <a:effectLst/>
                        </a:rPr>
                        <a:t>Example</a:t>
                      </a:r>
                    </a:p>
                  </a:txBody>
                  <a:tcPr marL="173639" marR="173639" marT="86819" marB="86819" anchor="ctr">
                    <a:lnL>
                      <a:noFill/>
                    </a:lnL>
                    <a:lnR>
                      <a:noFill/>
                    </a:lnR>
                    <a:lnT>
                      <a:noFill/>
                    </a:lnT>
                    <a:lnB>
                      <a:noFill/>
                    </a:lnB>
                    <a:solidFill>
                      <a:srgbClr val="F8FAFF"/>
                    </a:solidFill>
                  </a:tcPr>
                </a:tc>
                <a:extLst>
                  <a:ext uri="{0D108BD9-81ED-4DB2-BD59-A6C34878D82A}">
                    <a16:rowId xmlns:a16="http://schemas.microsoft.com/office/drawing/2014/main" xmlns="" val="10000"/>
                  </a:ext>
                </a:extLst>
              </a:tr>
              <a:tr h="798739">
                <a:tc>
                  <a:txBody>
                    <a:bodyPr/>
                    <a:lstStyle/>
                    <a:p>
                      <a:r>
                        <a:rPr lang="en-IN" sz="1400">
                          <a:effectLst/>
                        </a:rPr>
                        <a:t>&gt;</a:t>
                      </a:r>
                    </a:p>
                  </a:txBody>
                  <a:tcPr marL="173639" marR="173639" marT="86819" marB="86819" anchor="ctr">
                    <a:lnL>
                      <a:noFill/>
                    </a:lnL>
                    <a:lnR>
                      <a:noFill/>
                    </a:lnR>
                    <a:lnT>
                      <a:noFill/>
                    </a:lnT>
                    <a:lnB>
                      <a:noFill/>
                    </a:lnB>
                    <a:solidFill>
                      <a:srgbClr val="F8FAFF"/>
                    </a:solidFill>
                  </a:tcPr>
                </a:tc>
                <a:tc>
                  <a:txBody>
                    <a:bodyPr/>
                    <a:lstStyle/>
                    <a:p>
                      <a:r>
                        <a:rPr lang="en-US" sz="1400">
                          <a:effectLst/>
                        </a:rPr>
                        <a:t>Greater than - True if left operand is greater than the right</a:t>
                      </a:r>
                    </a:p>
                  </a:txBody>
                  <a:tcPr marL="173639" marR="173639" marT="86819" marB="86819" anchor="ctr">
                    <a:lnL>
                      <a:noFill/>
                    </a:lnL>
                    <a:lnR>
                      <a:noFill/>
                    </a:lnR>
                    <a:lnT>
                      <a:noFill/>
                    </a:lnT>
                    <a:lnB>
                      <a:noFill/>
                    </a:lnB>
                    <a:solidFill>
                      <a:srgbClr val="F8FAFF"/>
                    </a:solidFill>
                  </a:tcPr>
                </a:tc>
                <a:tc>
                  <a:txBody>
                    <a:bodyPr/>
                    <a:lstStyle/>
                    <a:p>
                      <a:r>
                        <a:rPr lang="en-IN" sz="1400">
                          <a:effectLst/>
                        </a:rPr>
                        <a:t>x &gt; y</a:t>
                      </a:r>
                    </a:p>
                  </a:txBody>
                  <a:tcPr marL="173639" marR="173639" marT="86819" marB="86819" anchor="ctr">
                    <a:lnL>
                      <a:noFill/>
                    </a:lnL>
                    <a:lnR>
                      <a:noFill/>
                    </a:lnR>
                    <a:lnT>
                      <a:noFill/>
                    </a:lnT>
                    <a:lnB>
                      <a:noFill/>
                    </a:lnB>
                    <a:solidFill>
                      <a:srgbClr val="F8FAFF"/>
                    </a:solidFill>
                  </a:tcPr>
                </a:tc>
                <a:extLst>
                  <a:ext uri="{0D108BD9-81ED-4DB2-BD59-A6C34878D82A}">
                    <a16:rowId xmlns:a16="http://schemas.microsoft.com/office/drawing/2014/main" xmlns="" val="10001"/>
                  </a:ext>
                </a:extLst>
              </a:tr>
              <a:tr h="798739">
                <a:tc>
                  <a:txBody>
                    <a:bodyPr/>
                    <a:lstStyle/>
                    <a:p>
                      <a:r>
                        <a:rPr lang="en-IN" sz="1400">
                          <a:effectLst/>
                        </a:rPr>
                        <a:t>&lt;</a:t>
                      </a:r>
                    </a:p>
                  </a:txBody>
                  <a:tcPr marL="173639" marR="173639" marT="86819" marB="86819" anchor="ctr">
                    <a:lnL>
                      <a:noFill/>
                    </a:lnL>
                    <a:lnR>
                      <a:noFill/>
                    </a:lnR>
                    <a:lnT>
                      <a:noFill/>
                    </a:lnT>
                    <a:lnB>
                      <a:noFill/>
                    </a:lnB>
                    <a:solidFill>
                      <a:srgbClr val="F8FAFF"/>
                    </a:solidFill>
                  </a:tcPr>
                </a:tc>
                <a:tc>
                  <a:txBody>
                    <a:bodyPr/>
                    <a:lstStyle/>
                    <a:p>
                      <a:r>
                        <a:rPr lang="en-US" sz="1400">
                          <a:effectLst/>
                        </a:rPr>
                        <a:t>Less than - True if left operand is less than the right</a:t>
                      </a:r>
                    </a:p>
                  </a:txBody>
                  <a:tcPr marL="173639" marR="173639" marT="86819" marB="86819" anchor="ctr">
                    <a:lnL>
                      <a:noFill/>
                    </a:lnL>
                    <a:lnR>
                      <a:noFill/>
                    </a:lnR>
                    <a:lnT>
                      <a:noFill/>
                    </a:lnT>
                    <a:lnB>
                      <a:noFill/>
                    </a:lnB>
                    <a:solidFill>
                      <a:srgbClr val="F8FAFF"/>
                    </a:solidFill>
                  </a:tcPr>
                </a:tc>
                <a:tc>
                  <a:txBody>
                    <a:bodyPr/>
                    <a:lstStyle/>
                    <a:p>
                      <a:r>
                        <a:rPr lang="en-IN" sz="1400">
                          <a:effectLst/>
                        </a:rPr>
                        <a:t>x &lt; y</a:t>
                      </a:r>
                    </a:p>
                  </a:txBody>
                  <a:tcPr marL="173639" marR="173639" marT="86819" marB="86819" anchor="ctr">
                    <a:lnL>
                      <a:noFill/>
                    </a:lnL>
                    <a:lnR>
                      <a:noFill/>
                    </a:lnR>
                    <a:lnT>
                      <a:noFill/>
                    </a:lnT>
                    <a:lnB>
                      <a:noFill/>
                    </a:lnB>
                    <a:solidFill>
                      <a:srgbClr val="F8FAFF"/>
                    </a:solidFill>
                  </a:tcPr>
                </a:tc>
                <a:extLst>
                  <a:ext uri="{0D108BD9-81ED-4DB2-BD59-A6C34878D82A}">
                    <a16:rowId xmlns:a16="http://schemas.microsoft.com/office/drawing/2014/main" xmlns="" val="10002"/>
                  </a:ext>
                </a:extLst>
              </a:tr>
              <a:tr h="449219">
                <a:tc>
                  <a:txBody>
                    <a:bodyPr/>
                    <a:lstStyle/>
                    <a:p>
                      <a:r>
                        <a:rPr lang="en-IN" sz="1400">
                          <a:effectLst/>
                        </a:rPr>
                        <a:t>==</a:t>
                      </a:r>
                    </a:p>
                  </a:txBody>
                  <a:tcPr marL="173639" marR="173639" marT="86819" marB="86819" anchor="ctr">
                    <a:lnL>
                      <a:noFill/>
                    </a:lnL>
                    <a:lnR>
                      <a:noFill/>
                    </a:lnR>
                    <a:lnT>
                      <a:noFill/>
                    </a:lnT>
                    <a:lnB>
                      <a:noFill/>
                    </a:lnB>
                    <a:solidFill>
                      <a:srgbClr val="F8FAFF"/>
                    </a:solidFill>
                  </a:tcPr>
                </a:tc>
                <a:tc>
                  <a:txBody>
                    <a:bodyPr/>
                    <a:lstStyle/>
                    <a:p>
                      <a:r>
                        <a:rPr lang="en-US" sz="1400" dirty="0">
                          <a:effectLst/>
                        </a:rPr>
                        <a:t>Equal to - True if both operands are equal</a:t>
                      </a:r>
                    </a:p>
                  </a:txBody>
                  <a:tcPr marL="173639" marR="173639" marT="86819" marB="86819" anchor="ctr">
                    <a:lnL>
                      <a:noFill/>
                    </a:lnL>
                    <a:lnR>
                      <a:noFill/>
                    </a:lnR>
                    <a:lnT>
                      <a:noFill/>
                    </a:lnT>
                    <a:lnB>
                      <a:noFill/>
                    </a:lnB>
                    <a:solidFill>
                      <a:srgbClr val="F8FAFF"/>
                    </a:solidFill>
                  </a:tcPr>
                </a:tc>
                <a:tc>
                  <a:txBody>
                    <a:bodyPr/>
                    <a:lstStyle/>
                    <a:p>
                      <a:r>
                        <a:rPr lang="en-IN" sz="1400">
                          <a:effectLst/>
                        </a:rPr>
                        <a:t>x == y</a:t>
                      </a:r>
                    </a:p>
                  </a:txBody>
                  <a:tcPr marL="173639" marR="173639" marT="86819" marB="86819" anchor="ctr">
                    <a:lnL>
                      <a:noFill/>
                    </a:lnL>
                    <a:lnR>
                      <a:noFill/>
                    </a:lnR>
                    <a:lnT>
                      <a:noFill/>
                    </a:lnT>
                    <a:lnB>
                      <a:noFill/>
                    </a:lnB>
                    <a:solidFill>
                      <a:srgbClr val="F8FAFF"/>
                    </a:solidFill>
                  </a:tcPr>
                </a:tc>
                <a:extLst>
                  <a:ext uri="{0D108BD9-81ED-4DB2-BD59-A6C34878D82A}">
                    <a16:rowId xmlns:a16="http://schemas.microsoft.com/office/drawing/2014/main" xmlns="" val="10003"/>
                  </a:ext>
                </a:extLst>
              </a:tr>
              <a:tr h="798739">
                <a:tc>
                  <a:txBody>
                    <a:bodyPr/>
                    <a:lstStyle/>
                    <a:p>
                      <a:r>
                        <a:rPr lang="en-IN" sz="1400">
                          <a:effectLst/>
                        </a:rPr>
                        <a:t>!=</a:t>
                      </a:r>
                    </a:p>
                  </a:txBody>
                  <a:tcPr marL="173639" marR="173639" marT="86819" marB="86819" anchor="ctr">
                    <a:lnL>
                      <a:noFill/>
                    </a:lnL>
                    <a:lnR>
                      <a:noFill/>
                    </a:lnR>
                    <a:lnT>
                      <a:noFill/>
                    </a:lnT>
                    <a:lnB>
                      <a:noFill/>
                    </a:lnB>
                    <a:solidFill>
                      <a:srgbClr val="F8FAFF"/>
                    </a:solidFill>
                  </a:tcPr>
                </a:tc>
                <a:tc>
                  <a:txBody>
                    <a:bodyPr/>
                    <a:lstStyle/>
                    <a:p>
                      <a:r>
                        <a:rPr lang="en-US" sz="1400" dirty="0">
                          <a:effectLst/>
                        </a:rPr>
                        <a:t>Not equal to - True if operands are not equal</a:t>
                      </a:r>
                    </a:p>
                  </a:txBody>
                  <a:tcPr marL="173639" marR="173639" marT="86819" marB="86819" anchor="ctr">
                    <a:lnL>
                      <a:noFill/>
                    </a:lnL>
                    <a:lnR>
                      <a:noFill/>
                    </a:lnR>
                    <a:lnT>
                      <a:noFill/>
                    </a:lnT>
                    <a:lnB>
                      <a:noFill/>
                    </a:lnB>
                    <a:solidFill>
                      <a:srgbClr val="F8FAFF"/>
                    </a:solidFill>
                  </a:tcPr>
                </a:tc>
                <a:tc>
                  <a:txBody>
                    <a:bodyPr/>
                    <a:lstStyle/>
                    <a:p>
                      <a:r>
                        <a:rPr lang="en-IN" sz="1400">
                          <a:effectLst/>
                        </a:rPr>
                        <a:t>x != y</a:t>
                      </a:r>
                    </a:p>
                  </a:txBody>
                  <a:tcPr marL="173639" marR="173639" marT="86819" marB="86819" anchor="ctr">
                    <a:lnL>
                      <a:noFill/>
                    </a:lnL>
                    <a:lnR>
                      <a:noFill/>
                    </a:lnR>
                    <a:lnT>
                      <a:noFill/>
                    </a:lnT>
                    <a:lnB>
                      <a:noFill/>
                    </a:lnB>
                    <a:solidFill>
                      <a:srgbClr val="F8FAFF"/>
                    </a:solidFill>
                  </a:tcPr>
                </a:tc>
                <a:extLst>
                  <a:ext uri="{0D108BD9-81ED-4DB2-BD59-A6C34878D82A}">
                    <a16:rowId xmlns:a16="http://schemas.microsoft.com/office/drawing/2014/main" xmlns="" val="10004"/>
                  </a:ext>
                </a:extLst>
              </a:tr>
              <a:tr h="1215473">
                <a:tc>
                  <a:txBody>
                    <a:bodyPr/>
                    <a:lstStyle/>
                    <a:p>
                      <a:r>
                        <a:rPr lang="en-IN" sz="1400">
                          <a:effectLst/>
                        </a:rPr>
                        <a:t>&gt;=</a:t>
                      </a:r>
                    </a:p>
                  </a:txBody>
                  <a:tcPr marL="173639" marR="173639" marT="86819" marB="86819" anchor="ctr">
                    <a:lnL>
                      <a:noFill/>
                    </a:lnL>
                    <a:lnR>
                      <a:noFill/>
                    </a:lnR>
                    <a:lnT>
                      <a:noFill/>
                    </a:lnT>
                    <a:lnB>
                      <a:noFill/>
                    </a:lnB>
                    <a:solidFill>
                      <a:srgbClr val="F8FAFF"/>
                    </a:solidFill>
                  </a:tcPr>
                </a:tc>
                <a:tc>
                  <a:txBody>
                    <a:bodyPr/>
                    <a:lstStyle/>
                    <a:p>
                      <a:r>
                        <a:rPr lang="en-US" sz="1400">
                          <a:effectLst/>
                        </a:rPr>
                        <a:t>Greater than or equal to - True if left operand is greater than or equal to the right</a:t>
                      </a:r>
                    </a:p>
                  </a:txBody>
                  <a:tcPr marL="173639" marR="173639" marT="86819" marB="86819" anchor="ctr">
                    <a:lnL>
                      <a:noFill/>
                    </a:lnL>
                    <a:lnR>
                      <a:noFill/>
                    </a:lnR>
                    <a:lnT>
                      <a:noFill/>
                    </a:lnT>
                    <a:lnB>
                      <a:noFill/>
                    </a:lnB>
                    <a:solidFill>
                      <a:srgbClr val="F8FAFF"/>
                    </a:solidFill>
                  </a:tcPr>
                </a:tc>
                <a:tc>
                  <a:txBody>
                    <a:bodyPr/>
                    <a:lstStyle/>
                    <a:p>
                      <a:r>
                        <a:rPr lang="en-IN" sz="1400">
                          <a:effectLst/>
                        </a:rPr>
                        <a:t>x &gt;= y</a:t>
                      </a:r>
                    </a:p>
                  </a:txBody>
                  <a:tcPr marL="173639" marR="173639" marT="86819" marB="86819" anchor="ctr">
                    <a:lnL>
                      <a:noFill/>
                    </a:lnL>
                    <a:lnR>
                      <a:noFill/>
                    </a:lnR>
                    <a:lnT>
                      <a:noFill/>
                    </a:lnT>
                    <a:lnB>
                      <a:noFill/>
                    </a:lnB>
                    <a:solidFill>
                      <a:srgbClr val="F8FAFF"/>
                    </a:solidFill>
                  </a:tcPr>
                </a:tc>
                <a:extLst>
                  <a:ext uri="{0D108BD9-81ED-4DB2-BD59-A6C34878D82A}">
                    <a16:rowId xmlns:a16="http://schemas.microsoft.com/office/drawing/2014/main" xmlns="" val="10005"/>
                  </a:ext>
                </a:extLst>
              </a:tr>
              <a:tr h="1007106">
                <a:tc>
                  <a:txBody>
                    <a:bodyPr/>
                    <a:lstStyle/>
                    <a:p>
                      <a:r>
                        <a:rPr lang="en-IN" sz="1400">
                          <a:effectLst/>
                        </a:rPr>
                        <a:t>&lt;=</a:t>
                      </a:r>
                    </a:p>
                  </a:txBody>
                  <a:tcPr marL="173639" marR="173639" marT="86819" marB="86819" anchor="ctr">
                    <a:lnL>
                      <a:noFill/>
                    </a:lnL>
                    <a:lnR>
                      <a:noFill/>
                    </a:lnR>
                    <a:lnT>
                      <a:noFill/>
                    </a:lnT>
                    <a:lnB>
                      <a:noFill/>
                    </a:lnB>
                    <a:solidFill>
                      <a:srgbClr val="F8FAFF"/>
                    </a:solidFill>
                  </a:tcPr>
                </a:tc>
                <a:tc>
                  <a:txBody>
                    <a:bodyPr/>
                    <a:lstStyle/>
                    <a:p>
                      <a:r>
                        <a:rPr lang="en-US" sz="1400">
                          <a:effectLst/>
                        </a:rPr>
                        <a:t>Less than or equal to - True if left operand is less than or equal to the right</a:t>
                      </a:r>
                    </a:p>
                  </a:txBody>
                  <a:tcPr marL="173639" marR="173639" marT="86819" marB="86819" anchor="ctr">
                    <a:lnL>
                      <a:noFill/>
                    </a:lnL>
                    <a:lnR>
                      <a:noFill/>
                    </a:lnR>
                    <a:lnT>
                      <a:noFill/>
                    </a:lnT>
                    <a:lnB>
                      <a:noFill/>
                    </a:lnB>
                    <a:solidFill>
                      <a:srgbClr val="F8FAFF"/>
                    </a:solidFill>
                  </a:tcPr>
                </a:tc>
                <a:tc>
                  <a:txBody>
                    <a:bodyPr/>
                    <a:lstStyle/>
                    <a:p>
                      <a:r>
                        <a:rPr lang="en-IN" sz="1400" dirty="0">
                          <a:effectLst/>
                        </a:rPr>
                        <a:t>x &lt;= y</a:t>
                      </a:r>
                    </a:p>
                  </a:txBody>
                  <a:tcPr marL="173639" marR="173639" marT="86819" marB="86819" anchor="ctr">
                    <a:lnL>
                      <a:noFill/>
                    </a:lnL>
                    <a:lnR>
                      <a:noFill/>
                    </a:lnR>
                    <a:lnT>
                      <a:noFill/>
                    </a:lnT>
                    <a:lnB>
                      <a:noFill/>
                    </a:lnB>
                    <a:solidFill>
                      <a:srgbClr val="F8FAFF"/>
                    </a:solidFill>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5414540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Examples</a:t>
            </a:r>
          </a:p>
        </p:txBody>
      </p:sp>
      <p:sp>
        <p:nvSpPr>
          <p:cNvPr id="3" name="Content Placeholder 2"/>
          <p:cNvSpPr>
            <a:spLocks noGrp="1"/>
          </p:cNvSpPr>
          <p:nvPr>
            <p:ph idx="1"/>
          </p:nvPr>
        </p:nvSpPr>
        <p:spPr/>
        <p:txBody>
          <a:bodyPr/>
          <a:lstStyle/>
          <a:p>
            <a:pPr>
              <a:lnSpc>
                <a:spcPct val="100000"/>
              </a:lnSpc>
            </a:pPr>
            <a:r>
              <a:rPr lang="en-US" sz="1800" dirty="0"/>
              <a:t>x = 10</a:t>
            </a:r>
          </a:p>
          <a:p>
            <a:pPr>
              <a:lnSpc>
                <a:spcPct val="100000"/>
              </a:lnSpc>
            </a:pPr>
            <a:r>
              <a:rPr lang="en-US" sz="1800" dirty="0"/>
              <a:t>y = 12</a:t>
            </a:r>
          </a:p>
          <a:p>
            <a:pPr>
              <a:lnSpc>
                <a:spcPct val="100000"/>
              </a:lnSpc>
            </a:pPr>
            <a:r>
              <a:rPr lang="en-US" sz="1800" dirty="0"/>
              <a:t>print('x &gt; y </a:t>
            </a:r>
            <a:r>
              <a:rPr lang="en-US" sz="1800" dirty="0" err="1"/>
              <a:t>is',x</a:t>
            </a:r>
            <a:r>
              <a:rPr lang="en-US" sz="1800" dirty="0"/>
              <a:t>&gt;y)</a:t>
            </a:r>
          </a:p>
          <a:p>
            <a:pPr>
              <a:lnSpc>
                <a:spcPct val="100000"/>
              </a:lnSpc>
            </a:pPr>
            <a:r>
              <a:rPr lang="en-US" sz="1800" dirty="0"/>
              <a:t>print('x &lt; y </a:t>
            </a:r>
            <a:r>
              <a:rPr lang="en-US" sz="1800" dirty="0" err="1"/>
              <a:t>is',x</a:t>
            </a:r>
            <a:r>
              <a:rPr lang="en-US" sz="1800" dirty="0"/>
              <a:t>&lt;y)</a:t>
            </a:r>
          </a:p>
          <a:p>
            <a:pPr>
              <a:lnSpc>
                <a:spcPct val="100000"/>
              </a:lnSpc>
            </a:pPr>
            <a:r>
              <a:rPr lang="en-US" sz="1800" dirty="0"/>
              <a:t>print('x == y </a:t>
            </a:r>
            <a:r>
              <a:rPr lang="en-US" sz="1800" dirty="0" err="1"/>
              <a:t>is',x</a:t>
            </a:r>
            <a:r>
              <a:rPr lang="en-US" sz="1800" dirty="0"/>
              <a:t>==y)</a:t>
            </a:r>
          </a:p>
          <a:p>
            <a:pPr>
              <a:lnSpc>
                <a:spcPct val="100000"/>
              </a:lnSpc>
            </a:pPr>
            <a:r>
              <a:rPr lang="en-US" sz="1800" dirty="0"/>
              <a:t>print('x != y </a:t>
            </a:r>
            <a:r>
              <a:rPr lang="en-US" sz="1800" dirty="0" err="1"/>
              <a:t>is',x</a:t>
            </a:r>
            <a:r>
              <a:rPr lang="en-US" sz="1800" dirty="0"/>
              <a:t>!=y)</a:t>
            </a:r>
          </a:p>
          <a:p>
            <a:pPr>
              <a:lnSpc>
                <a:spcPct val="100000"/>
              </a:lnSpc>
            </a:pPr>
            <a:r>
              <a:rPr lang="en-US" sz="1800" dirty="0"/>
              <a:t>print('x &gt;= y </a:t>
            </a:r>
            <a:r>
              <a:rPr lang="en-US" sz="1800" dirty="0" err="1"/>
              <a:t>is',x</a:t>
            </a:r>
            <a:r>
              <a:rPr lang="en-US" sz="1800" dirty="0"/>
              <a:t>&gt;=y)</a:t>
            </a:r>
          </a:p>
          <a:p>
            <a:pPr>
              <a:lnSpc>
                <a:spcPct val="100000"/>
              </a:lnSpc>
            </a:pPr>
            <a:r>
              <a:rPr lang="en-US" sz="1800" dirty="0"/>
              <a:t>print('x &lt;= y </a:t>
            </a:r>
            <a:r>
              <a:rPr lang="en-US" sz="1800" dirty="0" err="1"/>
              <a:t>is',x</a:t>
            </a:r>
            <a:r>
              <a:rPr lang="en-US" sz="1800" dirty="0"/>
              <a:t>&lt;=y)</a:t>
            </a:r>
            <a:endParaRPr lang="en-IN" sz="1800" dirty="0"/>
          </a:p>
        </p:txBody>
      </p:sp>
    </p:spTree>
    <p:extLst>
      <p:ext uri="{BB962C8B-B14F-4D97-AF65-F5344CB8AC3E}">
        <p14:creationId xmlns:p14="http://schemas.microsoft.com/office/powerpoint/2010/main" val="34844601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Logical Operators</a:t>
            </a:r>
            <a:endParaRPr lang="en-US" dirty="0"/>
          </a:p>
        </p:txBody>
      </p:sp>
      <p:sp>
        <p:nvSpPr>
          <p:cNvPr id="3" name="Content Placeholder 2"/>
          <p:cNvSpPr>
            <a:spLocks noGrp="1"/>
          </p:cNvSpPr>
          <p:nvPr>
            <p:ph idx="1"/>
          </p:nvPr>
        </p:nvSpPr>
        <p:spPr/>
        <p:txBody>
          <a:bodyPr/>
          <a:lstStyle/>
          <a:p>
            <a:r>
              <a:rPr lang="en-IN" dirty="0"/>
              <a:t>Note : consider A = 10 and B = 3</a:t>
            </a:r>
            <a:endParaRPr lang="en-US" dirty="0"/>
          </a:p>
        </p:txBody>
      </p:sp>
      <p:graphicFrame>
        <p:nvGraphicFramePr>
          <p:cNvPr id="4" name="Content Placeholder 4">
            <a:extLst>
              <a:ext uri="{FF2B5EF4-FFF2-40B4-BE49-F238E27FC236}">
                <a16:creationId xmlns:a16="http://schemas.microsoft.com/office/drawing/2014/main" xmlns="" id="{2486BC6F-42B7-4A1D-889E-1B1818D1D5FB}"/>
              </a:ext>
            </a:extLst>
          </p:cNvPr>
          <p:cNvGraphicFramePr>
            <a:graphicFrameLocks/>
          </p:cNvGraphicFramePr>
          <p:nvPr/>
        </p:nvGraphicFramePr>
        <p:xfrm>
          <a:off x="348125" y="1379978"/>
          <a:ext cx="11413357" cy="1874520"/>
        </p:xfrm>
        <a:graphic>
          <a:graphicData uri="http://schemas.openxmlformats.org/drawingml/2006/table">
            <a:tbl>
              <a:tblPr firstRow="1" bandRow="1">
                <a:tableStyleId>{8EC20E35-A176-4012-BC5E-935CFFF8708E}</a:tableStyleId>
              </a:tblPr>
              <a:tblGrid>
                <a:gridCol w="1429875">
                  <a:extLst>
                    <a:ext uri="{9D8B030D-6E8A-4147-A177-3AD203B41FA5}">
                      <a16:colId xmlns:a16="http://schemas.microsoft.com/office/drawing/2014/main" xmlns="" val="20000"/>
                    </a:ext>
                  </a:extLst>
                </a:gridCol>
                <a:gridCol w="4394200">
                  <a:extLst>
                    <a:ext uri="{9D8B030D-6E8A-4147-A177-3AD203B41FA5}">
                      <a16:colId xmlns:a16="http://schemas.microsoft.com/office/drawing/2014/main" xmlns="" val="20001"/>
                    </a:ext>
                  </a:extLst>
                </a:gridCol>
                <a:gridCol w="2921000">
                  <a:extLst>
                    <a:ext uri="{9D8B030D-6E8A-4147-A177-3AD203B41FA5}">
                      <a16:colId xmlns:a16="http://schemas.microsoft.com/office/drawing/2014/main" xmlns="" val="20003"/>
                    </a:ext>
                  </a:extLst>
                </a:gridCol>
                <a:gridCol w="2668282">
                  <a:extLst>
                    <a:ext uri="{9D8B030D-6E8A-4147-A177-3AD203B41FA5}">
                      <a16:colId xmlns:a16="http://schemas.microsoft.com/office/drawing/2014/main" xmlns="" val="20002"/>
                    </a:ext>
                  </a:extLst>
                </a:gridCol>
              </a:tblGrid>
              <a:tr h="411480">
                <a:tc>
                  <a:txBody>
                    <a:bodyPr/>
                    <a:lstStyle/>
                    <a:p>
                      <a:pPr algn="ctr"/>
                      <a:r>
                        <a:rPr lang="en-US" b="1" dirty="0">
                          <a:solidFill>
                            <a:schemeClr val="tx1"/>
                          </a:solidFill>
                        </a:rPr>
                        <a:t>Operator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IN" sz="1800" b="1" kern="1200" dirty="0">
                          <a:solidFill>
                            <a:schemeClr val="tx1"/>
                          </a:solidFill>
                          <a:latin typeface="+mn-lt"/>
                          <a:ea typeface="+mn-ea"/>
                          <a:cs typeface="+mn-cs"/>
                        </a:rPr>
                        <a:t>Example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Output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val="10001"/>
                  </a:ext>
                </a:extLst>
              </a:tr>
              <a:tr h="411480">
                <a:tc>
                  <a:txBody>
                    <a:bodyPr/>
                    <a:lstStyle/>
                    <a:p>
                      <a:pPr algn="ctr"/>
                      <a:r>
                        <a:rPr lang="en-IN" sz="1900" dirty="0"/>
                        <a:t>and</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Returns True if both statements are true</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&gt; 5 </a:t>
                      </a:r>
                      <a:r>
                        <a:rPr lang="en-IN" sz="2000" b="1" dirty="0">
                          <a:solidFill>
                            <a:schemeClr val="tx1"/>
                          </a:solidFill>
                        </a:rPr>
                        <a:t>and</a:t>
                      </a:r>
                      <a:r>
                        <a:rPr lang="en-IN" sz="2000" dirty="0">
                          <a:solidFill>
                            <a:schemeClr val="tx1"/>
                          </a:solidFill>
                        </a:rPr>
                        <a:t> B</a:t>
                      </a:r>
                      <a:r>
                        <a:rPr lang="en-IN" sz="2000" baseline="0" dirty="0">
                          <a:solidFill>
                            <a:schemeClr val="tx1"/>
                          </a:solidFill>
                        </a:rPr>
                        <a:t> &lt; 5</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True</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11480">
                <a:tc>
                  <a:txBody>
                    <a:bodyPr/>
                    <a:lstStyle/>
                    <a:p>
                      <a:pPr algn="ctr"/>
                      <a:r>
                        <a:rPr lang="en-IN" sz="1900" dirty="0"/>
                        <a:t>or</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Returns True if one of the statements is true</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&gt; 5 </a:t>
                      </a:r>
                      <a:r>
                        <a:rPr lang="en-IN" sz="2000" b="1" dirty="0">
                          <a:solidFill>
                            <a:schemeClr val="tx1"/>
                          </a:solidFill>
                        </a:rPr>
                        <a:t>or</a:t>
                      </a:r>
                      <a:r>
                        <a:rPr lang="en-IN" sz="2000" baseline="0" dirty="0">
                          <a:solidFill>
                            <a:schemeClr val="tx1"/>
                          </a:solidFill>
                        </a:rPr>
                        <a:t> B &gt; 5</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True</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11480">
                <a:tc>
                  <a:txBody>
                    <a:bodyPr/>
                    <a:lstStyle/>
                    <a:p>
                      <a:pPr algn="ctr"/>
                      <a:r>
                        <a:rPr lang="en-IN" sz="1900" dirty="0"/>
                        <a:t>not</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Negate the result, returns True if the result is False</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1" dirty="0">
                          <a:solidFill>
                            <a:schemeClr val="tx1"/>
                          </a:solidFill>
                        </a:rPr>
                        <a:t>not</a:t>
                      </a:r>
                      <a:r>
                        <a:rPr lang="en-IN" sz="2000" dirty="0">
                          <a:solidFill>
                            <a:schemeClr val="tx1"/>
                          </a:solidFill>
                        </a:rPr>
                        <a:t> ( A &gt; 5 )</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t>False</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28329445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p:txBody>
          <a:bodyPr/>
          <a:lstStyle/>
          <a:p>
            <a:pPr marL="0" indent="0">
              <a:buNone/>
            </a:pPr>
            <a:r>
              <a:rPr lang="en-US" sz="3200" dirty="0"/>
              <a:t>x = True</a:t>
            </a:r>
          </a:p>
          <a:p>
            <a:pPr marL="0" indent="0">
              <a:buNone/>
            </a:pPr>
            <a:r>
              <a:rPr lang="en-US" sz="3200" dirty="0"/>
              <a:t>y = False</a:t>
            </a:r>
          </a:p>
          <a:p>
            <a:pPr marL="0" indent="0">
              <a:buNone/>
            </a:pPr>
            <a:endParaRPr lang="en-US" sz="3200" dirty="0"/>
          </a:p>
          <a:p>
            <a:pPr marL="0" indent="0">
              <a:buNone/>
            </a:pPr>
            <a:r>
              <a:rPr lang="en-US" sz="3200" dirty="0"/>
              <a:t>print('x and y </a:t>
            </a:r>
            <a:r>
              <a:rPr lang="en-US" sz="3200" dirty="0" err="1"/>
              <a:t>is',x</a:t>
            </a:r>
            <a:r>
              <a:rPr lang="en-US" sz="3200" dirty="0"/>
              <a:t> and y)</a:t>
            </a:r>
          </a:p>
          <a:p>
            <a:pPr marL="0" indent="0">
              <a:buNone/>
            </a:pPr>
            <a:endParaRPr lang="en-US" sz="3200" dirty="0"/>
          </a:p>
          <a:p>
            <a:pPr marL="0" indent="0">
              <a:buNone/>
            </a:pPr>
            <a:r>
              <a:rPr lang="en-US" sz="3200" dirty="0"/>
              <a:t>print('x or y </a:t>
            </a:r>
            <a:r>
              <a:rPr lang="en-US" sz="3200" dirty="0" err="1"/>
              <a:t>is',x</a:t>
            </a:r>
            <a:r>
              <a:rPr lang="en-US" sz="3200" dirty="0"/>
              <a:t> or y)</a:t>
            </a:r>
          </a:p>
          <a:p>
            <a:pPr marL="0" indent="0">
              <a:buNone/>
            </a:pPr>
            <a:endParaRPr lang="en-US" sz="3200" dirty="0"/>
          </a:p>
          <a:p>
            <a:pPr marL="0" indent="0">
              <a:buNone/>
            </a:pPr>
            <a:r>
              <a:rPr lang="en-US" sz="3200" dirty="0"/>
              <a:t>print('not x </a:t>
            </a:r>
            <a:r>
              <a:rPr lang="en-US" sz="3200" dirty="0" err="1"/>
              <a:t>is',not</a:t>
            </a:r>
            <a:r>
              <a:rPr lang="en-US" sz="3200" dirty="0"/>
              <a:t> x)</a:t>
            </a:r>
            <a:endParaRPr lang="en-IN" sz="3200" dirty="0"/>
          </a:p>
        </p:txBody>
      </p:sp>
    </p:spTree>
    <p:extLst>
      <p:ext uri="{BB962C8B-B14F-4D97-AF65-F5344CB8AC3E}">
        <p14:creationId xmlns:p14="http://schemas.microsoft.com/office/powerpoint/2010/main" val="7400163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Identity &amp; Member Operators</a:t>
            </a:r>
            <a:endParaRPr lang="en-US" dirty="0"/>
          </a:p>
        </p:txBody>
      </p:sp>
      <p:sp>
        <p:nvSpPr>
          <p:cNvPr id="3" name="Content Placeholder 2"/>
          <p:cNvSpPr>
            <a:spLocks noGrp="1"/>
          </p:cNvSpPr>
          <p:nvPr>
            <p:ph idx="1"/>
          </p:nvPr>
        </p:nvSpPr>
        <p:spPr/>
        <p:txBody>
          <a:bodyPr/>
          <a:lstStyle/>
          <a:p>
            <a:r>
              <a:rPr lang="en-IN" dirty="0"/>
              <a:t>Identity Operator</a:t>
            </a:r>
          </a:p>
          <a:p>
            <a:r>
              <a:rPr lang="en-IN" dirty="0"/>
              <a:t>Note : consider A = [1,2], B = [1,2] and C=A</a:t>
            </a:r>
          </a:p>
          <a:p>
            <a:endParaRPr lang="en-IN" dirty="0"/>
          </a:p>
          <a:p>
            <a:endParaRPr lang="en-IN" dirty="0"/>
          </a:p>
          <a:p>
            <a:endParaRPr lang="en-IN" dirty="0"/>
          </a:p>
          <a:p>
            <a:endParaRPr lang="en-IN" dirty="0"/>
          </a:p>
          <a:p>
            <a:r>
              <a:rPr lang="en-IN" dirty="0"/>
              <a:t>Member Operator</a:t>
            </a:r>
          </a:p>
          <a:p>
            <a:r>
              <a:rPr lang="en-IN" dirty="0"/>
              <a:t>Note : consider A = 2 and B = [1,2,3]</a:t>
            </a:r>
          </a:p>
          <a:p>
            <a:endParaRPr lang="en-US" dirty="0"/>
          </a:p>
        </p:txBody>
      </p:sp>
      <p:graphicFrame>
        <p:nvGraphicFramePr>
          <p:cNvPr id="4" name="Content Placeholder 4">
            <a:extLst>
              <a:ext uri="{FF2B5EF4-FFF2-40B4-BE49-F238E27FC236}">
                <a16:creationId xmlns:a16="http://schemas.microsoft.com/office/drawing/2014/main" xmlns="" id="{2486BC6F-42B7-4A1D-889E-1B1818D1D5FB}"/>
              </a:ext>
            </a:extLst>
          </p:cNvPr>
          <p:cNvGraphicFramePr>
            <a:graphicFrameLocks/>
          </p:cNvGraphicFramePr>
          <p:nvPr/>
        </p:nvGraphicFramePr>
        <p:xfrm>
          <a:off x="495300" y="1719763"/>
          <a:ext cx="11074400" cy="1752600"/>
        </p:xfrm>
        <a:graphic>
          <a:graphicData uri="http://schemas.openxmlformats.org/drawingml/2006/table">
            <a:tbl>
              <a:tblPr firstRow="1" bandRow="1">
                <a:tableStyleId>{8EC20E35-A176-4012-BC5E-935CFFF8708E}</a:tableStyleId>
              </a:tblPr>
              <a:tblGrid>
                <a:gridCol w="1357355">
                  <a:extLst>
                    <a:ext uri="{9D8B030D-6E8A-4147-A177-3AD203B41FA5}">
                      <a16:colId xmlns:a16="http://schemas.microsoft.com/office/drawing/2014/main" xmlns="" val="20000"/>
                    </a:ext>
                  </a:extLst>
                </a:gridCol>
                <a:gridCol w="4171337">
                  <a:extLst>
                    <a:ext uri="{9D8B030D-6E8A-4147-A177-3AD203B41FA5}">
                      <a16:colId xmlns:a16="http://schemas.microsoft.com/office/drawing/2014/main" xmlns="" val="20001"/>
                    </a:ext>
                  </a:extLst>
                </a:gridCol>
                <a:gridCol w="2772854">
                  <a:extLst>
                    <a:ext uri="{9D8B030D-6E8A-4147-A177-3AD203B41FA5}">
                      <a16:colId xmlns:a16="http://schemas.microsoft.com/office/drawing/2014/main" xmlns="" val="20002"/>
                    </a:ext>
                  </a:extLst>
                </a:gridCol>
                <a:gridCol w="2772854">
                  <a:extLst>
                    <a:ext uri="{9D8B030D-6E8A-4147-A177-3AD203B41FA5}">
                      <a16:colId xmlns:a16="http://schemas.microsoft.com/office/drawing/2014/main" xmlns="" val="20003"/>
                    </a:ext>
                  </a:extLst>
                </a:gridCol>
              </a:tblGrid>
              <a:tr h="411480">
                <a:tc>
                  <a:txBody>
                    <a:bodyPr/>
                    <a:lstStyle/>
                    <a:p>
                      <a:pPr algn="ctr"/>
                      <a:r>
                        <a:rPr lang="en-US" b="1" dirty="0">
                          <a:solidFill>
                            <a:schemeClr val="tx1"/>
                          </a:solidFill>
                        </a:rPr>
                        <a:t>Operator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IN" sz="1800" b="1" kern="1200" dirty="0">
                          <a:solidFill>
                            <a:schemeClr val="tx1"/>
                          </a:solidFill>
                          <a:latin typeface="+mn-lt"/>
                          <a:ea typeface="+mn-ea"/>
                          <a:cs typeface="+mn-cs"/>
                        </a:rPr>
                        <a:t>Example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Output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val="10001"/>
                  </a:ext>
                </a:extLst>
              </a:tr>
              <a:tr h="411480">
                <a:tc>
                  <a:txBody>
                    <a:bodyPr/>
                    <a:lstStyle/>
                    <a:p>
                      <a:pPr algn="ctr"/>
                      <a:r>
                        <a:rPr lang="en-US" sz="1900" dirty="0"/>
                        <a:t>is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Returns True if both variables are the same object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is B</a:t>
                      </a:r>
                    </a:p>
                    <a:p>
                      <a:pPr algn="ctr"/>
                      <a:r>
                        <a:rPr lang="en-IN" sz="2000" dirty="0">
                          <a:solidFill>
                            <a:schemeClr val="tx1"/>
                          </a:solidFill>
                        </a:rPr>
                        <a:t>A is C</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FALSE</a:t>
                      </a:r>
                    </a:p>
                    <a:p>
                      <a:pPr algn="ctr"/>
                      <a:r>
                        <a:rPr lang="en-IN" sz="2000" dirty="0">
                          <a:solidFill>
                            <a:schemeClr val="tx1"/>
                          </a:solidFill>
                        </a:rPr>
                        <a:t>TRUE</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11480">
                <a:tc>
                  <a:txBody>
                    <a:bodyPr/>
                    <a:lstStyle/>
                    <a:p>
                      <a:pPr algn="ctr"/>
                      <a:r>
                        <a:rPr lang="en-IN" sz="1900" dirty="0"/>
                        <a:t>is</a:t>
                      </a:r>
                      <a:r>
                        <a:rPr lang="en-IN" sz="1900" baseline="0" dirty="0"/>
                        <a:t> not</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latin typeface="+mn-lt"/>
                          <a:ea typeface="+mn-ea"/>
                          <a:cs typeface="+mn-cs"/>
                        </a:rPr>
                        <a:t>Returns True if both variables are </a:t>
                      </a:r>
                      <a:r>
                        <a:rPr lang="en-US" sz="1800" b="1" i="0" kern="1200" dirty="0">
                          <a:solidFill>
                            <a:schemeClr val="dk1"/>
                          </a:solidFill>
                          <a:latin typeface="+mn-lt"/>
                          <a:ea typeface="+mn-ea"/>
                          <a:cs typeface="+mn-cs"/>
                        </a:rPr>
                        <a:t>different</a:t>
                      </a:r>
                      <a:r>
                        <a:rPr lang="en-US" sz="1800" b="0" i="0" kern="1200" dirty="0">
                          <a:solidFill>
                            <a:schemeClr val="dk1"/>
                          </a:solidFill>
                          <a:latin typeface="+mn-lt"/>
                          <a:ea typeface="+mn-ea"/>
                          <a:cs typeface="+mn-cs"/>
                        </a:rPr>
                        <a:t> object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is not B</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t>TRUE</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graphicFrame>
        <p:nvGraphicFramePr>
          <p:cNvPr id="5" name="Content Placeholder 4">
            <a:extLst>
              <a:ext uri="{FF2B5EF4-FFF2-40B4-BE49-F238E27FC236}">
                <a16:creationId xmlns:a16="http://schemas.microsoft.com/office/drawing/2014/main" xmlns="" id="{2486BC6F-42B7-4A1D-889E-1B1818D1D5FB}"/>
              </a:ext>
            </a:extLst>
          </p:cNvPr>
          <p:cNvGraphicFramePr>
            <a:graphicFrameLocks/>
          </p:cNvGraphicFramePr>
          <p:nvPr/>
        </p:nvGraphicFramePr>
        <p:xfrm>
          <a:off x="469900" y="4579158"/>
          <a:ext cx="11099801" cy="1965960"/>
        </p:xfrm>
        <a:graphic>
          <a:graphicData uri="http://schemas.openxmlformats.org/drawingml/2006/table">
            <a:tbl>
              <a:tblPr firstRow="1" bandRow="1">
                <a:tableStyleId>{8EC20E35-A176-4012-BC5E-935CFFF8708E}</a:tableStyleId>
              </a:tblPr>
              <a:tblGrid>
                <a:gridCol w="1360468">
                  <a:extLst>
                    <a:ext uri="{9D8B030D-6E8A-4147-A177-3AD203B41FA5}">
                      <a16:colId xmlns:a16="http://schemas.microsoft.com/office/drawing/2014/main" xmlns="" val="20000"/>
                    </a:ext>
                  </a:extLst>
                </a:gridCol>
                <a:gridCol w="4180905">
                  <a:extLst>
                    <a:ext uri="{9D8B030D-6E8A-4147-A177-3AD203B41FA5}">
                      <a16:colId xmlns:a16="http://schemas.microsoft.com/office/drawing/2014/main" xmlns="" val="20001"/>
                    </a:ext>
                  </a:extLst>
                </a:gridCol>
                <a:gridCol w="2779214">
                  <a:extLst>
                    <a:ext uri="{9D8B030D-6E8A-4147-A177-3AD203B41FA5}">
                      <a16:colId xmlns:a16="http://schemas.microsoft.com/office/drawing/2014/main" xmlns="" val="20002"/>
                    </a:ext>
                  </a:extLst>
                </a:gridCol>
                <a:gridCol w="2779214">
                  <a:extLst>
                    <a:ext uri="{9D8B030D-6E8A-4147-A177-3AD203B41FA5}">
                      <a16:colId xmlns:a16="http://schemas.microsoft.com/office/drawing/2014/main" xmlns="" val="20003"/>
                    </a:ext>
                  </a:extLst>
                </a:gridCol>
              </a:tblGrid>
              <a:tr h="411480">
                <a:tc>
                  <a:txBody>
                    <a:bodyPr/>
                    <a:lstStyle/>
                    <a:p>
                      <a:pPr algn="ctr"/>
                      <a:r>
                        <a:rPr lang="en-US" b="1" dirty="0">
                          <a:solidFill>
                            <a:schemeClr val="tx1"/>
                          </a:solidFill>
                        </a:rPr>
                        <a:t>Operator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IN" sz="1800" b="1" kern="1200" dirty="0">
                          <a:solidFill>
                            <a:schemeClr val="tx1"/>
                          </a:solidFill>
                          <a:latin typeface="+mn-lt"/>
                          <a:ea typeface="+mn-ea"/>
                          <a:cs typeface="+mn-cs"/>
                        </a:rPr>
                        <a:t>Example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Output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val="10001"/>
                  </a:ext>
                </a:extLst>
              </a:tr>
              <a:tr h="411480">
                <a:tc>
                  <a:txBody>
                    <a:bodyPr/>
                    <a:lstStyle/>
                    <a:p>
                      <a:pPr algn="ctr"/>
                      <a:r>
                        <a:rPr lang="en-US" sz="1900" dirty="0"/>
                        <a:t>in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latin typeface="+mn-lt"/>
                          <a:ea typeface="+mn-ea"/>
                          <a:cs typeface="+mn-cs"/>
                        </a:rPr>
                        <a:t>Returns True if a sequence with the specified value is present in the object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in B</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TRUE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11480">
                <a:tc>
                  <a:txBody>
                    <a:bodyPr/>
                    <a:lstStyle/>
                    <a:p>
                      <a:pPr algn="ctr"/>
                      <a:r>
                        <a:rPr lang="en-IN" sz="1900" baseline="0" dirty="0"/>
                        <a:t>not in</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latin typeface="+mn-lt"/>
                          <a:ea typeface="+mn-ea"/>
                          <a:cs typeface="+mn-cs"/>
                        </a:rPr>
                        <a:t>Returns True if a sequence with the specified value is not present in the object	</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1"/>
                          </a:solidFill>
                        </a:rPr>
                        <a:t>A not in B</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t>FALSE</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5135033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endParaRPr lang="en-IN" dirty="0"/>
          </a:p>
        </p:txBody>
      </p:sp>
      <p:sp>
        <p:nvSpPr>
          <p:cNvPr id="3" name="Content Placeholder 2"/>
          <p:cNvSpPr>
            <a:spLocks noGrp="1"/>
          </p:cNvSpPr>
          <p:nvPr>
            <p:ph idx="1"/>
          </p:nvPr>
        </p:nvSpPr>
        <p:spPr>
          <a:xfrm>
            <a:off x="131180" y="863444"/>
            <a:ext cx="3090485" cy="5590565"/>
          </a:xfrm>
        </p:spPr>
        <p:txBody>
          <a:bodyPr/>
          <a:lstStyle/>
          <a:p>
            <a:pPr marL="0" indent="0">
              <a:buNone/>
            </a:pPr>
            <a:r>
              <a:rPr lang="en-US" sz="1600" dirty="0"/>
              <a:t>Example 1:</a:t>
            </a:r>
          </a:p>
          <a:p>
            <a:pPr marL="0" indent="0">
              <a:buNone/>
            </a:pPr>
            <a:r>
              <a:rPr lang="en-US" sz="1600" dirty="0"/>
              <a:t>x1 = 5</a:t>
            </a:r>
          </a:p>
          <a:p>
            <a:pPr marL="0" indent="0">
              <a:buNone/>
            </a:pPr>
            <a:r>
              <a:rPr lang="en-US" sz="1600" dirty="0"/>
              <a:t>y1 = 5</a:t>
            </a:r>
          </a:p>
          <a:p>
            <a:pPr marL="0" indent="0">
              <a:buNone/>
            </a:pPr>
            <a:r>
              <a:rPr lang="en-US" sz="1600" dirty="0"/>
              <a:t>x2 = 'Hello'</a:t>
            </a:r>
          </a:p>
          <a:p>
            <a:pPr marL="0" indent="0">
              <a:buNone/>
            </a:pPr>
            <a:r>
              <a:rPr lang="en-US" sz="1600" dirty="0"/>
              <a:t>y2 = 'Hello'</a:t>
            </a:r>
          </a:p>
          <a:p>
            <a:pPr marL="0" indent="0">
              <a:buNone/>
            </a:pPr>
            <a:r>
              <a:rPr lang="en-US" sz="1600" dirty="0"/>
              <a:t>x3 = [1,2,3]</a:t>
            </a:r>
          </a:p>
          <a:p>
            <a:pPr marL="0" indent="0">
              <a:buNone/>
            </a:pPr>
            <a:r>
              <a:rPr lang="en-US" sz="1600" dirty="0"/>
              <a:t>y3 = [1,2,3]</a:t>
            </a:r>
          </a:p>
          <a:p>
            <a:pPr marL="0" indent="0">
              <a:buNone/>
            </a:pPr>
            <a:endParaRPr lang="en-US" sz="1600" dirty="0"/>
          </a:p>
          <a:p>
            <a:pPr marL="0" indent="0">
              <a:buNone/>
            </a:pPr>
            <a:r>
              <a:rPr lang="en-US" sz="1600" dirty="0"/>
              <a:t># Output: False</a:t>
            </a:r>
          </a:p>
          <a:p>
            <a:pPr marL="0" indent="0">
              <a:buNone/>
            </a:pPr>
            <a:r>
              <a:rPr lang="en-US" sz="1600" dirty="0"/>
              <a:t>print(x1 is not y1)</a:t>
            </a:r>
          </a:p>
          <a:p>
            <a:pPr marL="0" indent="0">
              <a:buNone/>
            </a:pPr>
            <a:endParaRPr lang="en-US" sz="1600" dirty="0"/>
          </a:p>
          <a:p>
            <a:pPr marL="0" indent="0">
              <a:buNone/>
            </a:pPr>
            <a:r>
              <a:rPr lang="en-US" sz="1600" dirty="0"/>
              <a:t># Output: True</a:t>
            </a:r>
          </a:p>
          <a:p>
            <a:pPr marL="0" indent="0">
              <a:buNone/>
            </a:pPr>
            <a:r>
              <a:rPr lang="en-US" sz="1600" dirty="0"/>
              <a:t>print(x2 is y2)</a:t>
            </a:r>
          </a:p>
          <a:p>
            <a:pPr marL="0" indent="0">
              <a:buNone/>
            </a:pPr>
            <a:endParaRPr lang="en-US" sz="1600" dirty="0"/>
          </a:p>
        </p:txBody>
      </p:sp>
      <p:sp>
        <p:nvSpPr>
          <p:cNvPr id="4" name="Rectangle 3"/>
          <p:cNvSpPr/>
          <p:nvPr/>
        </p:nvSpPr>
        <p:spPr>
          <a:xfrm>
            <a:off x="5209680" y="955379"/>
            <a:ext cx="2277208" cy="2585323"/>
          </a:xfrm>
          <a:prstGeom prst="rect">
            <a:avLst/>
          </a:prstGeom>
        </p:spPr>
        <p:txBody>
          <a:bodyPr wrap="square">
            <a:spAutoFit/>
          </a:bodyPr>
          <a:lstStyle/>
          <a:p>
            <a:r>
              <a:rPr lang="en-US" dirty="0"/>
              <a:t>Example 2:</a:t>
            </a:r>
          </a:p>
          <a:p>
            <a:endParaRPr lang="en-IN" dirty="0"/>
          </a:p>
          <a:p>
            <a:r>
              <a:rPr lang="en-IN" dirty="0"/>
              <a:t>x = 'Hello world'</a:t>
            </a:r>
          </a:p>
          <a:p>
            <a:r>
              <a:rPr lang="en-IN" dirty="0"/>
              <a:t>y = {1:'a',2:'b'}</a:t>
            </a:r>
          </a:p>
          <a:p>
            <a:r>
              <a:rPr lang="en-IN" dirty="0"/>
              <a:t>print('H' in x)</a:t>
            </a:r>
          </a:p>
          <a:p>
            <a:r>
              <a:rPr lang="en-IN" dirty="0"/>
              <a:t>print('hello' not in x)</a:t>
            </a:r>
          </a:p>
          <a:p>
            <a:r>
              <a:rPr lang="en-IN" dirty="0"/>
              <a:t>print(1 in y)</a:t>
            </a:r>
          </a:p>
          <a:p>
            <a:r>
              <a:rPr lang="en-IN" dirty="0"/>
              <a:t>print('a' in y)</a:t>
            </a:r>
          </a:p>
          <a:p>
            <a:r>
              <a:rPr lang="en-IN" dirty="0"/>
              <a:t>Output:?</a:t>
            </a:r>
          </a:p>
        </p:txBody>
      </p:sp>
      <p:sp>
        <p:nvSpPr>
          <p:cNvPr id="5" name="Rectangle: Rounded Corners 4">
            <a:extLst>
              <a:ext uri="{FF2B5EF4-FFF2-40B4-BE49-F238E27FC236}">
                <a16:creationId xmlns:a16="http://schemas.microsoft.com/office/drawing/2014/main" xmlns="" id="{7B6B1D91-5DCE-9D97-5720-47DA4EF8F75D}"/>
              </a:ext>
            </a:extLst>
          </p:cNvPr>
          <p:cNvSpPr/>
          <p:nvPr/>
        </p:nvSpPr>
        <p:spPr>
          <a:xfrm>
            <a:off x="2241334" y="1213337"/>
            <a:ext cx="2277208" cy="9847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1800" b="1" dirty="0"/>
              <a:t>Give Output:</a:t>
            </a:r>
          </a:p>
          <a:p>
            <a:pPr marL="0" indent="0">
              <a:buNone/>
            </a:pPr>
            <a:r>
              <a:rPr lang="en-US" sz="1800" b="1" dirty="0"/>
              <a:t>print(x3 is y3);</a:t>
            </a:r>
          </a:p>
          <a:p>
            <a:pPr marL="0" indent="0">
              <a:buNone/>
            </a:pPr>
            <a:endParaRPr lang="en-IN" sz="1800" b="1" dirty="0"/>
          </a:p>
        </p:txBody>
      </p:sp>
      <p:sp>
        <p:nvSpPr>
          <p:cNvPr id="6" name="Rectangle: Rounded Corners 5">
            <a:extLst>
              <a:ext uri="{FF2B5EF4-FFF2-40B4-BE49-F238E27FC236}">
                <a16:creationId xmlns:a16="http://schemas.microsoft.com/office/drawing/2014/main" xmlns="" id="{684E61F3-49C0-0AB2-CF3A-3BC534416ECB}"/>
              </a:ext>
            </a:extLst>
          </p:cNvPr>
          <p:cNvSpPr/>
          <p:nvPr/>
        </p:nvSpPr>
        <p:spPr>
          <a:xfrm>
            <a:off x="2241334" y="2547969"/>
            <a:ext cx="2024424" cy="12841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t>Give Output:</a:t>
            </a:r>
            <a:endParaRPr lang="en-US" dirty="0"/>
          </a:p>
          <a:p>
            <a:r>
              <a:rPr lang="en-US" dirty="0"/>
              <a:t>x3 = [1,2,3];</a:t>
            </a:r>
          </a:p>
          <a:p>
            <a:r>
              <a:rPr lang="en-US" dirty="0"/>
              <a:t>y3 = x3;</a:t>
            </a:r>
          </a:p>
          <a:p>
            <a:r>
              <a:rPr lang="en-US" dirty="0"/>
              <a:t>print(x3 is y3);</a:t>
            </a:r>
          </a:p>
        </p:txBody>
      </p:sp>
      <p:sp>
        <p:nvSpPr>
          <p:cNvPr id="8" name="TextBox 7">
            <a:extLst>
              <a:ext uri="{FF2B5EF4-FFF2-40B4-BE49-F238E27FC236}">
                <a16:creationId xmlns:a16="http://schemas.microsoft.com/office/drawing/2014/main" xmlns="" id="{AAD729B1-DA80-7F1D-54E8-EE9467A4D966}"/>
              </a:ext>
            </a:extLst>
          </p:cNvPr>
          <p:cNvSpPr txBox="1"/>
          <p:nvPr/>
        </p:nvSpPr>
        <p:spPr>
          <a:xfrm>
            <a:off x="7728438" y="955379"/>
            <a:ext cx="4022182" cy="4247317"/>
          </a:xfrm>
          <a:prstGeom prst="rect">
            <a:avLst/>
          </a:prstGeom>
          <a:noFill/>
        </p:spPr>
        <p:txBody>
          <a:bodyPr wrap="square">
            <a:spAutoFit/>
          </a:bodyPr>
          <a:lstStyle/>
          <a:p>
            <a:r>
              <a:rPr lang="en-US" sz="1800" dirty="0"/>
              <a:t>Example 3:</a:t>
            </a:r>
          </a:p>
          <a:p>
            <a:endParaRPr lang="en-US" dirty="0"/>
          </a:p>
          <a:p>
            <a:r>
              <a:rPr lang="en-US" dirty="0"/>
              <a:t>x = 24</a:t>
            </a:r>
          </a:p>
          <a:p>
            <a:r>
              <a:rPr lang="en-US" dirty="0"/>
              <a:t>y = 20</a:t>
            </a:r>
          </a:p>
          <a:p>
            <a:r>
              <a:rPr lang="en-US" dirty="0" err="1"/>
              <a:t>my_list</a:t>
            </a:r>
            <a:r>
              <a:rPr lang="en-US" dirty="0"/>
              <a:t> = [10, 20, 30, 40, 50]</a:t>
            </a:r>
          </a:p>
          <a:p>
            <a:endParaRPr lang="en-US" dirty="0"/>
          </a:p>
          <a:p>
            <a:r>
              <a:rPr lang="en-US" dirty="0"/>
              <a:t>if (x not in </a:t>
            </a:r>
            <a:r>
              <a:rPr lang="en-US" dirty="0" err="1"/>
              <a:t>my_list</a:t>
            </a:r>
            <a:r>
              <a:rPr lang="en-US" dirty="0"/>
              <a:t>):</a:t>
            </a:r>
          </a:p>
          <a:p>
            <a:r>
              <a:rPr lang="en-US" dirty="0"/>
              <a:t>    print("x is NOT present in given list")</a:t>
            </a:r>
          </a:p>
          <a:p>
            <a:r>
              <a:rPr lang="en-US" dirty="0"/>
              <a:t>else:</a:t>
            </a:r>
          </a:p>
          <a:p>
            <a:r>
              <a:rPr lang="en-US" dirty="0"/>
              <a:t>    print("x is present in given list")</a:t>
            </a:r>
          </a:p>
          <a:p>
            <a:endParaRPr lang="en-US" dirty="0"/>
          </a:p>
          <a:p>
            <a:r>
              <a:rPr lang="en-US" dirty="0"/>
              <a:t>if (y in </a:t>
            </a:r>
            <a:r>
              <a:rPr lang="en-US" dirty="0" err="1"/>
              <a:t>my_list</a:t>
            </a:r>
            <a:r>
              <a:rPr lang="en-US" dirty="0"/>
              <a:t>):</a:t>
            </a:r>
          </a:p>
          <a:p>
            <a:r>
              <a:rPr lang="en-US" dirty="0"/>
              <a:t>    print("y is present in given list")</a:t>
            </a:r>
          </a:p>
          <a:p>
            <a:r>
              <a:rPr lang="en-US" dirty="0"/>
              <a:t>else:</a:t>
            </a:r>
          </a:p>
          <a:p>
            <a:r>
              <a:rPr lang="en-US" dirty="0"/>
              <a:t>    print("y is NOT present in given list")</a:t>
            </a:r>
          </a:p>
        </p:txBody>
      </p:sp>
    </p:spTree>
    <p:extLst>
      <p:ext uri="{BB962C8B-B14F-4D97-AF65-F5344CB8AC3E}">
        <p14:creationId xmlns:p14="http://schemas.microsoft.com/office/powerpoint/2010/main" val="3068351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
                                            <p:txEl>
                                              <p:pRg st="2" end="2"/>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
                                            <p:txEl>
                                              <p:pRg st="3" end="3"/>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
                                            <p:txEl>
                                              <p:pRg st="4" end="4"/>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
                                            <p:txEl>
                                              <p:pRg st="6" end="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
                                            <p:txEl>
                                              <p:pRg st="7" end="7"/>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
                                            <p:txEl>
                                              <p:pRg st="8" end="8"/>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
                                            <p:txEl>
                                              <p:pRg st="9" end="9"/>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
                                            <p:txEl>
                                              <p:pRg st="11" end="11"/>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
                                            <p:txEl>
                                              <p:pRg st="12" end="12"/>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
                                            <p:txEl>
                                              <p:pRg st="13" end="13"/>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D456EBDA-49A4-A843-A786-6989C63A54AA}"/>
              </a:ext>
            </a:extLst>
          </p:cNvPr>
          <p:cNvSpPr/>
          <p:nvPr/>
        </p:nvSpPr>
        <p:spPr>
          <a:xfrm>
            <a:off x="6209373" y="5963780"/>
            <a:ext cx="3191481" cy="338554"/>
          </a:xfrm>
          <a:prstGeom prst="rect">
            <a:avLst/>
          </a:prstGeom>
          <a:solidFill>
            <a:schemeClr val="bg1">
              <a:lumMod val="95000"/>
            </a:schemeClr>
          </a:solidFill>
          <a:ln>
            <a:noFill/>
          </a:ln>
        </p:spPr>
        <p:txBody>
          <a:bodyPr wrap="square">
            <a:spAutoFit/>
          </a:bodyPr>
          <a:lstStyle/>
          <a:p>
            <a:r>
              <a:rPr lang="en-US" sz="1600" dirty="0">
                <a:latin typeface="Consolas"/>
              </a:rPr>
              <a:t>X is greater than 5</a:t>
            </a:r>
            <a:endParaRPr lang="en-IN" sz="1600" b="1" dirty="0">
              <a:latin typeface="Consolas" pitchFamily="49" charset="0"/>
              <a:cs typeface="Consolas" panose="020B0609020204030204" pitchFamily="49" charset="0"/>
            </a:endParaRPr>
          </a:p>
        </p:txBody>
      </p:sp>
      <p:sp>
        <p:nvSpPr>
          <p:cNvPr id="22" name="Rectangle 21">
            <a:extLst>
              <a:ext uri="{FF2B5EF4-FFF2-40B4-BE49-F238E27FC236}">
                <a16:creationId xmlns:a16="http://schemas.microsoft.com/office/drawing/2014/main" xmlns="" id="{35F9F4A0-4592-C04D-B2D0-0BF66A3BFA20}"/>
              </a:ext>
            </a:extLst>
          </p:cNvPr>
          <p:cNvSpPr/>
          <p:nvPr/>
        </p:nvSpPr>
        <p:spPr>
          <a:xfrm>
            <a:off x="5709379" y="5963780"/>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23" name="Rectangle: Top Corners Rounded 6">
            <a:extLst>
              <a:ext uri="{FF2B5EF4-FFF2-40B4-BE49-F238E27FC236}">
                <a16:creationId xmlns:a16="http://schemas.microsoft.com/office/drawing/2014/main" xmlns="" id="{0336C271-A2A3-9445-9946-5006F0A250F4}"/>
              </a:ext>
            </a:extLst>
          </p:cNvPr>
          <p:cNvSpPr/>
          <p:nvPr/>
        </p:nvSpPr>
        <p:spPr>
          <a:xfrm>
            <a:off x="5709379" y="563459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 name="Title 1"/>
          <p:cNvSpPr>
            <a:spLocks noGrp="1"/>
          </p:cNvSpPr>
          <p:nvPr>
            <p:ph type="title"/>
          </p:nvPr>
        </p:nvSpPr>
        <p:spPr/>
        <p:txBody>
          <a:bodyPr/>
          <a:lstStyle/>
          <a:p>
            <a:r>
              <a:rPr lang="en-IN" dirty="0"/>
              <a:t>If statement</a:t>
            </a:r>
            <a:endParaRPr lang="en-US" dirty="0"/>
          </a:p>
        </p:txBody>
      </p:sp>
      <p:sp>
        <p:nvSpPr>
          <p:cNvPr id="3" name="Content Placeholder 2"/>
          <p:cNvSpPr>
            <a:spLocks noGrp="1"/>
          </p:cNvSpPr>
          <p:nvPr>
            <p:ph idx="1"/>
          </p:nvPr>
        </p:nvSpPr>
        <p:spPr>
          <a:xfrm>
            <a:off x="166662" y="877239"/>
            <a:ext cx="11929641" cy="2075386"/>
          </a:xfrm>
        </p:spPr>
        <p:txBody>
          <a:bodyPr/>
          <a:lstStyle/>
          <a:p>
            <a:r>
              <a:rPr lang="en-US" dirty="0"/>
              <a:t>if statement is written using the </a:t>
            </a:r>
            <a:r>
              <a:rPr lang="en-US" b="1" dirty="0"/>
              <a:t>if</a:t>
            </a:r>
            <a:r>
              <a:rPr lang="en-US" dirty="0"/>
              <a:t> keyword followed by </a:t>
            </a:r>
            <a:r>
              <a:rPr lang="en-US" b="1" dirty="0"/>
              <a:t>condition</a:t>
            </a:r>
            <a:r>
              <a:rPr lang="en-US" dirty="0"/>
              <a:t> and </a:t>
            </a:r>
            <a:r>
              <a:rPr lang="en-US" b="1" dirty="0"/>
              <a:t>colon</a:t>
            </a:r>
            <a:r>
              <a:rPr lang="en-US" dirty="0"/>
              <a:t>(</a:t>
            </a:r>
            <a:r>
              <a:rPr lang="en-US" b="1" dirty="0"/>
              <a:t>:</a:t>
            </a:r>
            <a:r>
              <a:rPr lang="en-US" dirty="0"/>
              <a:t>) .</a:t>
            </a:r>
          </a:p>
          <a:p>
            <a:r>
              <a:rPr lang="en-IN" dirty="0"/>
              <a:t>Code to execute when the condition is true will be ideally written in the next line with </a:t>
            </a:r>
            <a:r>
              <a:rPr lang="en-IN" b="1" dirty="0"/>
              <a:t>Indentation</a:t>
            </a:r>
            <a:r>
              <a:rPr lang="en-IN" dirty="0"/>
              <a:t> (white space).</a:t>
            </a:r>
          </a:p>
          <a:p>
            <a:r>
              <a:rPr lang="en-US" dirty="0"/>
              <a:t>Python relies on indentation to define scope in the code (Other programming languages often use curly-brackets for this purpose).</a:t>
            </a:r>
            <a:endParaRPr lang="en-IN"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83709" y="3448532"/>
            <a:ext cx="8472276" cy="584775"/>
          </a:xfrm>
          <a:prstGeom prst="rect">
            <a:avLst/>
          </a:prstGeom>
          <a:solidFill>
            <a:schemeClr val="bg1">
              <a:lumMod val="95000"/>
            </a:schemeClr>
          </a:solidFill>
          <a:ln>
            <a:noFill/>
          </a:ln>
        </p:spPr>
        <p:txBody>
          <a:bodyPr wrap="square">
            <a:spAutoFit/>
          </a:bodyPr>
          <a:lstStyle/>
          <a:p>
            <a:r>
              <a:rPr lang="en-IN" sz="1600" b="1" dirty="0">
                <a:latin typeface="Consolas" pitchFamily="49" charset="0"/>
                <a:cs typeface="Consolas" panose="020B0609020204030204" pitchFamily="49" charset="0"/>
              </a:rPr>
              <a:t>if </a:t>
            </a:r>
            <a:r>
              <a:rPr lang="en-IN" sz="1600" b="1" dirty="0" err="1">
                <a:latin typeface="Consolas" pitchFamily="49" charset="0"/>
                <a:cs typeface="Consolas" panose="020B0609020204030204" pitchFamily="49" charset="0"/>
              </a:rPr>
              <a:t>some_condition</a:t>
            </a:r>
            <a:r>
              <a:rPr lang="en-IN" sz="1600" b="1" dirty="0">
                <a:latin typeface="Consolas" pitchFamily="49" charset="0"/>
                <a:cs typeface="Consolas" panose="020B0609020204030204" pitchFamily="49" charset="0"/>
              </a:rPr>
              <a:t> </a:t>
            </a:r>
            <a:r>
              <a:rPr lang="en-IN" sz="1600" b="1" dirty="0">
                <a:solidFill>
                  <a:srgbClr val="FF0000"/>
                </a:solidFill>
                <a:latin typeface="Consolas" pitchFamily="49" charset="0"/>
                <a:cs typeface="Consolas" panose="020B0609020204030204" pitchFamily="49" charset="0"/>
              </a:rPr>
              <a:t>:</a:t>
            </a:r>
          </a:p>
          <a:p>
            <a:r>
              <a:rPr lang="en-IN" sz="1600" b="1" dirty="0">
                <a:latin typeface="Consolas" pitchFamily="49" charset="0"/>
                <a:cs typeface="Consolas" panose="020B0609020204030204" pitchFamily="49" charset="0"/>
              </a:rPr>
              <a:t>   # Code to execute when condition is true</a:t>
            </a:r>
          </a:p>
        </p:txBody>
      </p:sp>
      <p:sp>
        <p:nvSpPr>
          <p:cNvPr id="5" name="Rectangle 4">
            <a:extLst>
              <a:ext uri="{FF2B5EF4-FFF2-40B4-BE49-F238E27FC236}">
                <a16:creationId xmlns:a16="http://schemas.microsoft.com/office/drawing/2014/main" xmlns="" id="{35F9F4A0-4592-C04D-B2D0-0BF66A3BFA20}"/>
              </a:ext>
            </a:extLst>
          </p:cNvPr>
          <p:cNvSpPr/>
          <p:nvPr/>
        </p:nvSpPr>
        <p:spPr>
          <a:xfrm>
            <a:off x="583716" y="3448532"/>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83716" y="3119348"/>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0" name="Line Callout 1 9"/>
          <p:cNvSpPr/>
          <p:nvPr/>
        </p:nvSpPr>
        <p:spPr>
          <a:xfrm>
            <a:off x="4045259" y="3049964"/>
            <a:ext cx="4495800" cy="626533"/>
          </a:xfrm>
          <a:prstGeom prst="borderCallout1">
            <a:avLst>
              <a:gd name="adj1" fmla="val 53885"/>
              <a:gd name="adj2" fmla="val -612"/>
              <a:gd name="adj3" fmla="val 89527"/>
              <a:gd name="adj4" fmla="val -1479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if statement ends with </a:t>
            </a:r>
            <a:r>
              <a:rPr lang="en-IN" b="1" dirty="0">
                <a:solidFill>
                  <a:srgbClr val="FF0000"/>
                </a:solidFill>
              </a:rPr>
              <a:t>: </a:t>
            </a:r>
            <a:endParaRPr lang="en-US" b="1" dirty="0">
              <a:solidFill>
                <a:srgbClr val="FF0000"/>
              </a:solidFill>
            </a:endParaRPr>
          </a:p>
        </p:txBody>
      </p:sp>
      <p:sp>
        <p:nvSpPr>
          <p:cNvPr id="11" name="Line Callout 1 10"/>
          <p:cNvSpPr/>
          <p:nvPr/>
        </p:nvSpPr>
        <p:spPr>
          <a:xfrm>
            <a:off x="2245569" y="4065393"/>
            <a:ext cx="4495800" cy="626533"/>
          </a:xfrm>
          <a:prstGeom prst="borderCallout1">
            <a:avLst>
              <a:gd name="adj1" fmla="val 53885"/>
              <a:gd name="adj2" fmla="val -612"/>
              <a:gd name="adj3" fmla="val -23622"/>
              <a:gd name="adj4" fmla="val -2164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Indentation (tab/whitespace) at the beginning</a:t>
            </a:r>
            <a:endParaRPr lang="en-US" b="1" dirty="0">
              <a:solidFill>
                <a:srgbClr val="FF0000"/>
              </a:solidFill>
            </a:endParaRPr>
          </a:p>
        </p:txBody>
      </p:sp>
      <p:sp>
        <p:nvSpPr>
          <p:cNvPr id="15" name="Rectangle 14">
            <a:extLst>
              <a:ext uri="{FF2B5EF4-FFF2-40B4-BE49-F238E27FC236}">
                <a16:creationId xmlns:a16="http://schemas.microsoft.com/office/drawing/2014/main" xmlns="" id="{D456EBDA-49A4-A843-A786-6989C63A54AA}"/>
              </a:ext>
            </a:extLst>
          </p:cNvPr>
          <p:cNvSpPr/>
          <p:nvPr/>
        </p:nvSpPr>
        <p:spPr>
          <a:xfrm>
            <a:off x="1225835" y="5149701"/>
            <a:ext cx="4003711" cy="1107996"/>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098658"/>
                </a:solidFill>
                <a:latin typeface="Consolas"/>
              </a:rPr>
              <a:t>10</a:t>
            </a:r>
            <a:endParaRPr lang="en-US" sz="1600" dirty="0">
              <a:solidFill>
                <a:srgbClr val="000000"/>
              </a:solidFill>
              <a:latin typeface="Consolas"/>
            </a:endParaRPr>
          </a:p>
          <a:p>
            <a:r>
              <a:rPr lang="en-US" sz="1600" dirty="0">
                <a:solidFill>
                  <a:srgbClr val="000000"/>
                </a:solidFill>
                <a:latin typeface="Consolas"/>
              </a:rPr>
              <a:t/>
            </a:r>
            <a:br>
              <a:rPr lang="en-US" sz="1600" dirty="0">
                <a:solidFill>
                  <a:srgbClr val="000000"/>
                </a:solidFill>
                <a:latin typeface="Consolas"/>
              </a:rPr>
            </a:br>
            <a:r>
              <a:rPr lang="en-US" sz="1600" dirty="0">
                <a:solidFill>
                  <a:srgbClr val="0000FF"/>
                </a:solidFill>
                <a:latin typeface="Consolas"/>
              </a:rPr>
              <a:t>if</a:t>
            </a:r>
            <a:r>
              <a:rPr lang="en-US" sz="1600" dirty="0">
                <a:solidFill>
                  <a:srgbClr val="000000"/>
                </a:solidFill>
                <a:latin typeface="Consolas"/>
              </a:rPr>
              <a:t> x &gt; </a:t>
            </a:r>
            <a:r>
              <a:rPr lang="en-US" sz="1600" dirty="0">
                <a:solidFill>
                  <a:srgbClr val="098658"/>
                </a:solidFill>
                <a:latin typeface="Consolas"/>
              </a:rPr>
              <a:t>5</a:t>
            </a:r>
            <a:r>
              <a:rPr lang="en-US" sz="1600" dirty="0">
                <a:solidFill>
                  <a:srgbClr val="000000"/>
                </a:solidFill>
                <a:latin typeface="Consolas"/>
              </a:rPr>
              <a:t> :</a:t>
            </a:r>
          </a:p>
          <a:p>
            <a:r>
              <a:rPr lang="en-US" sz="1600" dirty="0">
                <a:solidFill>
                  <a:srgbClr val="000000"/>
                </a:solidFill>
                <a:latin typeface="Consolas"/>
              </a:rPr>
              <a:t>    print(</a:t>
            </a:r>
            <a:r>
              <a:rPr lang="en-US" sz="1600" dirty="0">
                <a:solidFill>
                  <a:srgbClr val="A31515"/>
                </a:solidFill>
                <a:latin typeface="Consolas"/>
              </a:rPr>
              <a:t>"X is greater than 5"</a:t>
            </a:r>
            <a:r>
              <a:rPr lang="en-US" sz="1600" dirty="0">
                <a:solidFill>
                  <a:srgbClr val="000000"/>
                </a:solidFill>
                <a:latin typeface="Consolas"/>
              </a:rPr>
              <a:t>)</a:t>
            </a:r>
            <a:endParaRPr lang="en-US" sz="1600" b="0" dirty="0">
              <a:solidFill>
                <a:srgbClr val="000000"/>
              </a:solidFill>
              <a:latin typeface="Consolas"/>
            </a:endParaRPr>
          </a:p>
        </p:txBody>
      </p:sp>
      <p:sp>
        <p:nvSpPr>
          <p:cNvPr id="16" name="Rectangle 15">
            <a:extLst>
              <a:ext uri="{FF2B5EF4-FFF2-40B4-BE49-F238E27FC236}">
                <a16:creationId xmlns:a16="http://schemas.microsoft.com/office/drawing/2014/main" xmlns="" id="{35F9F4A0-4592-C04D-B2D0-0BF66A3BFA20}"/>
              </a:ext>
            </a:extLst>
          </p:cNvPr>
          <p:cNvSpPr/>
          <p:nvPr/>
        </p:nvSpPr>
        <p:spPr>
          <a:xfrm>
            <a:off x="725842" y="5149701"/>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endParaRPr lang="en-US" sz="1600" b="1" dirty="0">
              <a:solidFill>
                <a:schemeClr val="tx1">
                  <a:lumMod val="75000"/>
                  <a:lumOff val="25000"/>
                </a:schemeClr>
              </a:solidFill>
              <a:latin typeface="Consolas" panose="020B0609020204030204" pitchFamily="49" charset="0"/>
            </a:endParaRPr>
          </a:p>
        </p:txBody>
      </p:sp>
      <p:sp>
        <p:nvSpPr>
          <p:cNvPr id="17" name="Rectangle: Top Corners Rounded 6">
            <a:extLst>
              <a:ext uri="{FF2B5EF4-FFF2-40B4-BE49-F238E27FC236}">
                <a16:creationId xmlns:a16="http://schemas.microsoft.com/office/drawing/2014/main" xmlns="" id="{0336C271-A2A3-9445-9946-5006F0A250F4}"/>
              </a:ext>
            </a:extLst>
          </p:cNvPr>
          <p:cNvSpPr/>
          <p:nvPr/>
        </p:nvSpPr>
        <p:spPr>
          <a:xfrm>
            <a:off x="725842" y="4820517"/>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ifdemo.py</a:t>
            </a:r>
          </a:p>
        </p:txBody>
      </p:sp>
    </p:spTree>
    <p:extLst>
      <p:ext uri="{BB962C8B-B14F-4D97-AF65-F5344CB8AC3E}">
        <p14:creationId xmlns:p14="http://schemas.microsoft.com/office/powerpoint/2010/main" val="247929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1"/>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5">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1">
                                            <p:bg/>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2" grpId="0" animBg="1"/>
      <p:bldP spid="23" grpId="0" animBg="1"/>
      <p:bldP spid="3" grpId="0" build="p"/>
      <p:bldP spid="4" grpId="0" build="p" animBg="1"/>
      <p:bldP spid="5" grpId="0" animBg="1"/>
      <p:bldP spid="6" grpId="0" animBg="1"/>
      <p:bldP spid="10" grpId="0" animBg="1"/>
      <p:bldP spid="10" grpId="1" animBg="1"/>
      <p:bldP spid="11" grpId="0" animBg="1"/>
      <p:bldP spid="11" grpId="1" animBg="1"/>
      <p:bldP spid="15" grpId="0" build="p" animBg="1"/>
      <p:bldP spid="16"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D456EBDA-49A4-A843-A786-6989C63A54AA}"/>
              </a:ext>
            </a:extLst>
          </p:cNvPr>
          <p:cNvSpPr/>
          <p:nvPr/>
        </p:nvSpPr>
        <p:spPr>
          <a:xfrm>
            <a:off x="6137454" y="3919223"/>
            <a:ext cx="3191481" cy="338554"/>
          </a:xfrm>
          <a:prstGeom prst="rect">
            <a:avLst/>
          </a:prstGeom>
          <a:solidFill>
            <a:schemeClr val="bg1">
              <a:lumMod val="95000"/>
            </a:schemeClr>
          </a:solidFill>
          <a:ln>
            <a:noFill/>
          </a:ln>
        </p:spPr>
        <p:txBody>
          <a:bodyPr wrap="square">
            <a:spAutoFit/>
          </a:bodyPr>
          <a:lstStyle/>
          <a:p>
            <a:r>
              <a:rPr lang="en-US" sz="1600" dirty="0">
                <a:latin typeface="Consolas"/>
              </a:rPr>
              <a:t>X is less than 5</a:t>
            </a:r>
            <a:endParaRPr lang="en-IN" sz="1600" b="1" dirty="0">
              <a:latin typeface="Consolas" pitchFamily="49" charset="0"/>
              <a:cs typeface="Consolas" panose="020B0609020204030204" pitchFamily="49" charset="0"/>
            </a:endParaRPr>
          </a:p>
        </p:txBody>
      </p:sp>
      <p:sp>
        <p:nvSpPr>
          <p:cNvPr id="22" name="Rectangle 21">
            <a:extLst>
              <a:ext uri="{FF2B5EF4-FFF2-40B4-BE49-F238E27FC236}">
                <a16:creationId xmlns:a16="http://schemas.microsoft.com/office/drawing/2014/main" xmlns="" id="{35F9F4A0-4592-C04D-B2D0-0BF66A3BFA20}"/>
              </a:ext>
            </a:extLst>
          </p:cNvPr>
          <p:cNvSpPr/>
          <p:nvPr/>
        </p:nvSpPr>
        <p:spPr>
          <a:xfrm>
            <a:off x="5637460" y="3919223"/>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23" name="Rectangle: Top Corners Rounded 6">
            <a:extLst>
              <a:ext uri="{FF2B5EF4-FFF2-40B4-BE49-F238E27FC236}">
                <a16:creationId xmlns:a16="http://schemas.microsoft.com/office/drawing/2014/main" xmlns="" id="{0336C271-A2A3-9445-9946-5006F0A250F4}"/>
              </a:ext>
            </a:extLst>
          </p:cNvPr>
          <p:cNvSpPr/>
          <p:nvPr/>
        </p:nvSpPr>
        <p:spPr>
          <a:xfrm>
            <a:off x="5637460" y="3590039"/>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 name="Title 1"/>
          <p:cNvSpPr>
            <a:spLocks noGrp="1"/>
          </p:cNvSpPr>
          <p:nvPr>
            <p:ph type="title"/>
          </p:nvPr>
        </p:nvSpPr>
        <p:spPr/>
        <p:txBody>
          <a:bodyPr/>
          <a:lstStyle/>
          <a:p>
            <a:r>
              <a:rPr lang="en-IN" dirty="0"/>
              <a:t>If else statement</a:t>
            </a:r>
            <a:endParaRPr lang="en-US"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83709" y="1236960"/>
            <a:ext cx="8472276" cy="1077218"/>
          </a:xfrm>
          <a:prstGeom prst="rect">
            <a:avLst/>
          </a:prstGeom>
          <a:solidFill>
            <a:schemeClr val="bg1">
              <a:lumMod val="95000"/>
            </a:schemeClr>
          </a:solidFill>
          <a:ln>
            <a:noFill/>
          </a:ln>
        </p:spPr>
        <p:txBody>
          <a:bodyPr wrap="square">
            <a:spAutoFit/>
          </a:bodyPr>
          <a:lstStyle/>
          <a:p>
            <a:r>
              <a:rPr lang="en-IN" sz="1600" b="1" dirty="0">
                <a:latin typeface="Consolas" pitchFamily="49" charset="0"/>
                <a:cs typeface="Consolas" panose="020B0609020204030204" pitchFamily="49" charset="0"/>
              </a:rPr>
              <a:t>if </a:t>
            </a:r>
            <a:r>
              <a:rPr lang="en-IN" sz="1600" b="1" dirty="0" err="1">
                <a:latin typeface="Consolas" pitchFamily="49" charset="0"/>
                <a:cs typeface="Consolas" panose="020B0609020204030204" pitchFamily="49" charset="0"/>
              </a:rPr>
              <a:t>some_condition</a:t>
            </a:r>
            <a:r>
              <a:rPr lang="en-IN" sz="1600" b="1" dirty="0">
                <a:latin typeface="Consolas" pitchFamily="49" charset="0"/>
                <a:cs typeface="Consolas" panose="020B0609020204030204" pitchFamily="49" charset="0"/>
              </a:rPr>
              <a:t> </a:t>
            </a:r>
            <a:r>
              <a:rPr lang="en-IN" sz="1600" b="1" dirty="0">
                <a:solidFill>
                  <a:srgbClr val="FF0000"/>
                </a:solidFill>
                <a:latin typeface="Consolas" pitchFamily="49" charset="0"/>
                <a:cs typeface="Consolas" panose="020B0609020204030204" pitchFamily="49" charset="0"/>
              </a:rPr>
              <a:t>:</a:t>
            </a:r>
          </a:p>
          <a:p>
            <a:r>
              <a:rPr lang="en-IN" sz="1600" b="1" dirty="0">
                <a:latin typeface="Consolas" pitchFamily="49" charset="0"/>
                <a:cs typeface="Consolas" panose="020B0609020204030204" pitchFamily="49" charset="0"/>
              </a:rPr>
              <a:t>   # Code to execute when condition is true</a:t>
            </a:r>
          </a:p>
          <a:p>
            <a:r>
              <a:rPr lang="en-IN" sz="1600" b="1" dirty="0">
                <a:latin typeface="Consolas" pitchFamily="49" charset="0"/>
                <a:cs typeface="Consolas" panose="020B0609020204030204" pitchFamily="49" charset="0"/>
              </a:rPr>
              <a:t>else </a:t>
            </a:r>
            <a:r>
              <a:rPr lang="en-IN" sz="1600" b="1" dirty="0">
                <a:solidFill>
                  <a:srgbClr val="FF0000"/>
                </a:solidFill>
                <a:latin typeface="Consolas" pitchFamily="49" charset="0"/>
                <a:cs typeface="Consolas" panose="020B0609020204030204" pitchFamily="49" charset="0"/>
              </a:rPr>
              <a:t>:</a:t>
            </a:r>
          </a:p>
          <a:p>
            <a:r>
              <a:rPr lang="en-IN" sz="1600" b="1" dirty="0">
                <a:latin typeface="Consolas" pitchFamily="49" charset="0"/>
                <a:cs typeface="Consolas" panose="020B0609020204030204" pitchFamily="49" charset="0"/>
              </a:rPr>
              <a:t>   # Code to execute when condition is false</a:t>
            </a:r>
          </a:p>
        </p:txBody>
      </p:sp>
      <p:sp>
        <p:nvSpPr>
          <p:cNvPr id="5" name="Rectangle 4">
            <a:extLst>
              <a:ext uri="{FF2B5EF4-FFF2-40B4-BE49-F238E27FC236}">
                <a16:creationId xmlns:a16="http://schemas.microsoft.com/office/drawing/2014/main" xmlns="" id="{35F9F4A0-4592-C04D-B2D0-0BF66A3BFA20}"/>
              </a:ext>
            </a:extLst>
          </p:cNvPr>
          <p:cNvSpPr/>
          <p:nvPr/>
        </p:nvSpPr>
        <p:spPr>
          <a:xfrm>
            <a:off x="593990" y="1236960"/>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83716" y="907776"/>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5" name="Rectangle 14">
            <a:extLst>
              <a:ext uri="{FF2B5EF4-FFF2-40B4-BE49-F238E27FC236}">
                <a16:creationId xmlns:a16="http://schemas.microsoft.com/office/drawing/2014/main" xmlns="" id="{D456EBDA-49A4-A843-A786-6989C63A54AA}"/>
              </a:ext>
            </a:extLst>
          </p:cNvPr>
          <p:cNvSpPr/>
          <p:nvPr/>
        </p:nvSpPr>
        <p:spPr>
          <a:xfrm>
            <a:off x="1130138" y="3140064"/>
            <a:ext cx="4003711" cy="1569660"/>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098658"/>
                </a:solidFill>
                <a:latin typeface="Consolas"/>
              </a:rPr>
              <a:t>3</a:t>
            </a:r>
            <a:endParaRPr lang="en-US" sz="1600" dirty="0">
              <a:solidFill>
                <a:srgbClr val="000000"/>
              </a:solidFill>
              <a:latin typeface="Consolas"/>
            </a:endParaRPr>
          </a:p>
          <a:p>
            <a:r>
              <a:rPr lang="en-US" sz="1600" dirty="0">
                <a:solidFill>
                  <a:srgbClr val="000000"/>
                </a:solidFill>
                <a:latin typeface="Consolas"/>
              </a:rPr>
              <a:t/>
            </a:r>
            <a:br>
              <a:rPr lang="en-US" sz="1600" dirty="0">
                <a:solidFill>
                  <a:srgbClr val="000000"/>
                </a:solidFill>
                <a:latin typeface="Consolas"/>
              </a:rPr>
            </a:br>
            <a:r>
              <a:rPr lang="en-US" sz="1600" dirty="0">
                <a:solidFill>
                  <a:srgbClr val="0000FF"/>
                </a:solidFill>
                <a:latin typeface="Consolas"/>
              </a:rPr>
              <a:t>if</a:t>
            </a:r>
            <a:r>
              <a:rPr lang="en-US" sz="1600" dirty="0">
                <a:solidFill>
                  <a:srgbClr val="000000"/>
                </a:solidFill>
                <a:latin typeface="Consolas"/>
              </a:rPr>
              <a:t> x &gt; </a:t>
            </a:r>
            <a:r>
              <a:rPr lang="en-US" sz="1600" dirty="0">
                <a:solidFill>
                  <a:srgbClr val="098658"/>
                </a:solidFill>
                <a:latin typeface="Consolas"/>
              </a:rPr>
              <a:t>5</a:t>
            </a:r>
            <a:r>
              <a:rPr lang="en-US" sz="1600" dirty="0">
                <a:solidFill>
                  <a:srgbClr val="000000"/>
                </a:solidFill>
                <a:latin typeface="Consolas"/>
              </a:rPr>
              <a:t> :</a:t>
            </a:r>
          </a:p>
          <a:p>
            <a:r>
              <a:rPr lang="en-US" sz="1600" dirty="0">
                <a:solidFill>
                  <a:srgbClr val="000000"/>
                </a:solidFill>
                <a:latin typeface="Consolas"/>
              </a:rPr>
              <a:t>    print(</a:t>
            </a:r>
            <a:r>
              <a:rPr lang="en-US" sz="1600" dirty="0">
                <a:solidFill>
                  <a:srgbClr val="A31515"/>
                </a:solidFill>
                <a:latin typeface="Consolas"/>
              </a:rPr>
              <a:t>"X is greater than 5"</a:t>
            </a:r>
            <a:r>
              <a:rPr lang="en-US" sz="1600" dirty="0">
                <a:solidFill>
                  <a:srgbClr val="000000"/>
                </a:solidFill>
                <a:latin typeface="Consolas"/>
              </a:rPr>
              <a:t>)</a:t>
            </a:r>
          </a:p>
          <a:p>
            <a:r>
              <a:rPr lang="en-US" sz="1600" dirty="0">
                <a:solidFill>
                  <a:srgbClr val="0000FF"/>
                </a:solidFill>
                <a:latin typeface="Consolas"/>
              </a:rPr>
              <a:t>else</a:t>
            </a:r>
            <a:r>
              <a:rPr lang="en-US" sz="1600" dirty="0">
                <a:solidFill>
                  <a:srgbClr val="000000"/>
                </a:solidFill>
                <a:latin typeface="Consolas"/>
              </a:rPr>
              <a:t> :</a:t>
            </a:r>
          </a:p>
          <a:p>
            <a:r>
              <a:rPr lang="en-US" sz="1600" dirty="0">
                <a:solidFill>
                  <a:srgbClr val="000000"/>
                </a:solidFill>
                <a:latin typeface="Consolas"/>
              </a:rPr>
              <a:t>    print(</a:t>
            </a:r>
            <a:r>
              <a:rPr lang="en-US" sz="1600" dirty="0">
                <a:solidFill>
                  <a:srgbClr val="A31515"/>
                </a:solidFill>
                <a:latin typeface="Consolas"/>
              </a:rPr>
              <a:t>"X is less than 5"</a:t>
            </a:r>
            <a:r>
              <a:rPr lang="en-US" sz="1600" dirty="0">
                <a:solidFill>
                  <a:srgbClr val="000000"/>
                </a:solidFill>
                <a:latin typeface="Consolas"/>
              </a:rPr>
              <a:t>)</a:t>
            </a:r>
            <a:endParaRPr lang="en-US" sz="1600" b="0" dirty="0">
              <a:solidFill>
                <a:srgbClr val="000000"/>
              </a:solidFill>
              <a:latin typeface="Consolas"/>
            </a:endParaRPr>
          </a:p>
        </p:txBody>
      </p:sp>
      <p:sp>
        <p:nvSpPr>
          <p:cNvPr id="16" name="Rectangle 15">
            <a:extLst>
              <a:ext uri="{FF2B5EF4-FFF2-40B4-BE49-F238E27FC236}">
                <a16:creationId xmlns:a16="http://schemas.microsoft.com/office/drawing/2014/main" xmlns="" id="{35F9F4A0-4592-C04D-B2D0-0BF66A3BFA20}"/>
              </a:ext>
            </a:extLst>
          </p:cNvPr>
          <p:cNvSpPr/>
          <p:nvPr/>
        </p:nvSpPr>
        <p:spPr>
          <a:xfrm>
            <a:off x="630145" y="3140064"/>
            <a:ext cx="499993" cy="156966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endParaRPr lang="en-US" sz="1600" b="1" dirty="0">
              <a:solidFill>
                <a:schemeClr val="tx1">
                  <a:lumMod val="75000"/>
                  <a:lumOff val="25000"/>
                </a:schemeClr>
              </a:solidFill>
              <a:latin typeface="Consolas" panose="020B0609020204030204" pitchFamily="49" charset="0"/>
            </a:endParaRPr>
          </a:p>
        </p:txBody>
      </p:sp>
      <p:sp>
        <p:nvSpPr>
          <p:cNvPr id="17" name="Rectangle: Top Corners Rounded 6">
            <a:extLst>
              <a:ext uri="{FF2B5EF4-FFF2-40B4-BE49-F238E27FC236}">
                <a16:creationId xmlns:a16="http://schemas.microsoft.com/office/drawing/2014/main" xmlns="" id="{0336C271-A2A3-9445-9946-5006F0A250F4}"/>
              </a:ext>
            </a:extLst>
          </p:cNvPr>
          <p:cNvSpPr/>
          <p:nvPr/>
        </p:nvSpPr>
        <p:spPr>
          <a:xfrm>
            <a:off x="630145" y="2810880"/>
            <a:ext cx="161332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ifelsedemo.py</a:t>
            </a:r>
          </a:p>
        </p:txBody>
      </p:sp>
      <p:sp>
        <p:nvSpPr>
          <p:cNvPr id="18" name="Rectangle 17">
            <a:extLst>
              <a:ext uri="{FF2B5EF4-FFF2-40B4-BE49-F238E27FC236}">
                <a16:creationId xmlns:a16="http://schemas.microsoft.com/office/drawing/2014/main" xmlns="" id="{D456EBDA-49A4-A843-A786-6989C63A54AA}"/>
              </a:ext>
            </a:extLst>
          </p:cNvPr>
          <p:cNvSpPr/>
          <p:nvPr/>
        </p:nvSpPr>
        <p:spPr>
          <a:xfrm>
            <a:off x="6159714" y="3150372"/>
            <a:ext cx="3148673" cy="338554"/>
          </a:xfrm>
          <a:prstGeom prst="rect">
            <a:avLst/>
          </a:prstGeom>
          <a:solidFill>
            <a:schemeClr val="bg1">
              <a:lumMod val="95000"/>
            </a:schemeClr>
          </a:solidFill>
          <a:ln>
            <a:noFill/>
          </a:ln>
        </p:spPr>
        <p:txBody>
          <a:bodyPr wrap="square">
            <a:spAutoFit/>
          </a:bodyPr>
          <a:lstStyle/>
          <a:p>
            <a:r>
              <a:rPr lang="en-IN" sz="1600" b="1" dirty="0">
                <a:latin typeface="Consolas" pitchFamily="49" charset="0"/>
                <a:cs typeface="Consolas" panose="020B0609020204030204" pitchFamily="49" charset="0"/>
              </a:rPr>
              <a:t>python ifelsedemo.py</a:t>
            </a:r>
          </a:p>
        </p:txBody>
      </p:sp>
      <p:sp>
        <p:nvSpPr>
          <p:cNvPr id="19" name="Rectangle 18">
            <a:extLst>
              <a:ext uri="{FF2B5EF4-FFF2-40B4-BE49-F238E27FC236}">
                <a16:creationId xmlns:a16="http://schemas.microsoft.com/office/drawing/2014/main" xmlns="" id="{35F9F4A0-4592-C04D-B2D0-0BF66A3BFA20}"/>
              </a:ext>
            </a:extLst>
          </p:cNvPr>
          <p:cNvSpPr/>
          <p:nvPr/>
        </p:nvSpPr>
        <p:spPr>
          <a:xfrm>
            <a:off x="5659721" y="3150372"/>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20" name="Rectangle: Top Corners Rounded 6">
            <a:extLst>
              <a:ext uri="{FF2B5EF4-FFF2-40B4-BE49-F238E27FC236}">
                <a16:creationId xmlns:a16="http://schemas.microsoft.com/office/drawing/2014/main" xmlns="" id="{0336C271-A2A3-9445-9946-5006F0A250F4}"/>
              </a:ext>
            </a:extLst>
          </p:cNvPr>
          <p:cNvSpPr/>
          <p:nvPr/>
        </p:nvSpPr>
        <p:spPr>
          <a:xfrm>
            <a:off x="5659721" y="282118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Run in terminal</a:t>
            </a:r>
          </a:p>
        </p:txBody>
      </p:sp>
    </p:spTree>
    <p:extLst>
      <p:ext uri="{BB962C8B-B14F-4D97-AF65-F5344CB8AC3E}">
        <p14:creationId xmlns:p14="http://schemas.microsoft.com/office/powerpoint/2010/main" val="356165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8">
                                            <p:bg/>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1">
                                            <p:bg/>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2" grpId="0" animBg="1"/>
      <p:bldP spid="23" grpId="0" animBg="1"/>
      <p:bldP spid="4" grpId="0" build="p" animBg="1"/>
      <p:bldP spid="5" grpId="0" animBg="1"/>
      <p:bldP spid="6" grpId="0" animBg="1"/>
      <p:bldP spid="15" grpId="0" build="p" animBg="1"/>
      <p:bldP spid="16" grpId="0" animBg="1"/>
      <p:bldP spid="17" grpId="0" animBg="1"/>
      <p:bldP spid="18" grpId="0" build="p" animBg="1"/>
      <p:bldP spid="19" grpId="0" animBg="1"/>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D456EBDA-49A4-A843-A786-6989C63A54AA}"/>
              </a:ext>
            </a:extLst>
          </p:cNvPr>
          <p:cNvSpPr/>
          <p:nvPr/>
        </p:nvSpPr>
        <p:spPr>
          <a:xfrm>
            <a:off x="1099020" y="5933898"/>
            <a:ext cx="3191481" cy="338554"/>
          </a:xfrm>
          <a:prstGeom prst="rect">
            <a:avLst/>
          </a:prstGeom>
          <a:solidFill>
            <a:schemeClr val="bg1">
              <a:lumMod val="95000"/>
            </a:schemeClr>
          </a:solidFill>
          <a:ln>
            <a:noFill/>
          </a:ln>
        </p:spPr>
        <p:txBody>
          <a:bodyPr wrap="square">
            <a:spAutoFit/>
          </a:bodyPr>
          <a:lstStyle/>
          <a:p>
            <a:r>
              <a:rPr lang="en-US" sz="1600" dirty="0">
                <a:latin typeface="Consolas"/>
              </a:rPr>
              <a:t>X is greater than 5</a:t>
            </a:r>
            <a:endParaRPr lang="en-IN" sz="1600" b="1" dirty="0">
              <a:latin typeface="Consolas" pitchFamily="49" charset="0"/>
              <a:cs typeface="Consolas" panose="020B0609020204030204" pitchFamily="49" charset="0"/>
            </a:endParaRPr>
          </a:p>
        </p:txBody>
      </p:sp>
      <p:sp>
        <p:nvSpPr>
          <p:cNvPr id="22" name="Rectangle 21">
            <a:extLst>
              <a:ext uri="{FF2B5EF4-FFF2-40B4-BE49-F238E27FC236}">
                <a16:creationId xmlns:a16="http://schemas.microsoft.com/office/drawing/2014/main" xmlns="" id="{35F9F4A0-4592-C04D-B2D0-0BF66A3BFA20}"/>
              </a:ext>
            </a:extLst>
          </p:cNvPr>
          <p:cNvSpPr/>
          <p:nvPr/>
        </p:nvSpPr>
        <p:spPr>
          <a:xfrm>
            <a:off x="599027" y="5950224"/>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23" name="Rectangle: Top Corners Rounded 6">
            <a:extLst>
              <a:ext uri="{FF2B5EF4-FFF2-40B4-BE49-F238E27FC236}">
                <a16:creationId xmlns:a16="http://schemas.microsoft.com/office/drawing/2014/main" xmlns="" id="{0336C271-A2A3-9445-9946-5006F0A250F4}"/>
              </a:ext>
            </a:extLst>
          </p:cNvPr>
          <p:cNvSpPr/>
          <p:nvPr/>
        </p:nvSpPr>
        <p:spPr>
          <a:xfrm>
            <a:off x="575122" y="56210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 name="Title 1"/>
          <p:cNvSpPr>
            <a:spLocks noGrp="1"/>
          </p:cNvSpPr>
          <p:nvPr>
            <p:ph type="title"/>
          </p:nvPr>
        </p:nvSpPr>
        <p:spPr/>
        <p:txBody>
          <a:bodyPr/>
          <a:lstStyle/>
          <a:p>
            <a:r>
              <a:rPr lang="en-IN" dirty="0"/>
              <a:t>If, </a:t>
            </a:r>
            <a:r>
              <a:rPr lang="en-IN" dirty="0" err="1"/>
              <a:t>elif</a:t>
            </a:r>
            <a:r>
              <a:rPr lang="en-IN" dirty="0"/>
              <a:t> and else statement</a:t>
            </a:r>
            <a:endParaRPr lang="en-US"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83709" y="1236960"/>
            <a:ext cx="8472276" cy="1569660"/>
          </a:xfrm>
          <a:prstGeom prst="rect">
            <a:avLst/>
          </a:prstGeom>
          <a:solidFill>
            <a:schemeClr val="bg1">
              <a:lumMod val="95000"/>
            </a:schemeClr>
          </a:solidFill>
          <a:ln>
            <a:noFill/>
          </a:ln>
        </p:spPr>
        <p:txBody>
          <a:bodyPr wrap="square">
            <a:spAutoFit/>
          </a:bodyPr>
          <a:lstStyle/>
          <a:p>
            <a:r>
              <a:rPr lang="en-IN" sz="1600" b="1" dirty="0">
                <a:latin typeface="Consolas" pitchFamily="49" charset="0"/>
                <a:cs typeface="Consolas" panose="020B0609020204030204" pitchFamily="49" charset="0"/>
              </a:rPr>
              <a:t>if some_condition_1 </a:t>
            </a:r>
            <a:r>
              <a:rPr lang="en-IN" sz="1600" b="1" dirty="0">
                <a:solidFill>
                  <a:srgbClr val="FF0000"/>
                </a:solidFill>
                <a:latin typeface="Consolas" pitchFamily="49" charset="0"/>
                <a:cs typeface="Consolas" panose="020B0609020204030204" pitchFamily="49" charset="0"/>
              </a:rPr>
              <a:t>:</a:t>
            </a:r>
          </a:p>
          <a:p>
            <a:r>
              <a:rPr lang="en-IN" sz="1600" b="1" dirty="0">
                <a:latin typeface="Consolas" pitchFamily="49" charset="0"/>
                <a:cs typeface="Consolas" panose="020B0609020204030204" pitchFamily="49" charset="0"/>
              </a:rPr>
              <a:t>   # Code to execute when condition 1 is true</a:t>
            </a:r>
          </a:p>
          <a:p>
            <a:r>
              <a:rPr lang="en-IN" sz="1600" b="1" dirty="0" err="1">
                <a:latin typeface="Consolas" pitchFamily="49" charset="0"/>
                <a:cs typeface="Consolas" panose="020B0609020204030204" pitchFamily="49" charset="0"/>
              </a:rPr>
              <a:t>elif</a:t>
            </a:r>
            <a:r>
              <a:rPr lang="en-IN" sz="1600" b="1" dirty="0">
                <a:latin typeface="Consolas" pitchFamily="49" charset="0"/>
                <a:cs typeface="Consolas" panose="020B0609020204030204" pitchFamily="49" charset="0"/>
              </a:rPr>
              <a:t> some_condition_2 :</a:t>
            </a:r>
          </a:p>
          <a:p>
            <a:r>
              <a:rPr lang="en-IN" sz="1600" b="1" dirty="0">
                <a:latin typeface="Consolas" pitchFamily="49" charset="0"/>
                <a:cs typeface="Consolas" panose="020B0609020204030204" pitchFamily="49" charset="0"/>
              </a:rPr>
              <a:t>   # Code to execute when condition 2 is true</a:t>
            </a:r>
          </a:p>
          <a:p>
            <a:r>
              <a:rPr lang="en-IN" sz="1600" b="1" dirty="0">
                <a:latin typeface="Consolas" pitchFamily="49" charset="0"/>
                <a:cs typeface="Consolas" panose="020B0609020204030204" pitchFamily="49" charset="0"/>
              </a:rPr>
              <a:t>else </a:t>
            </a:r>
            <a:r>
              <a:rPr lang="en-IN" sz="1600" b="1" dirty="0">
                <a:solidFill>
                  <a:srgbClr val="FF0000"/>
                </a:solidFill>
                <a:latin typeface="Consolas" pitchFamily="49" charset="0"/>
                <a:cs typeface="Consolas" panose="020B0609020204030204" pitchFamily="49" charset="0"/>
              </a:rPr>
              <a:t>:</a:t>
            </a:r>
          </a:p>
          <a:p>
            <a:r>
              <a:rPr lang="en-IN" sz="1600" b="1" dirty="0">
                <a:latin typeface="Consolas" pitchFamily="49" charset="0"/>
                <a:cs typeface="Consolas" panose="020B0609020204030204" pitchFamily="49" charset="0"/>
              </a:rPr>
              <a:t>   # Code to execute when both conditions are false</a:t>
            </a:r>
          </a:p>
        </p:txBody>
      </p:sp>
      <p:sp>
        <p:nvSpPr>
          <p:cNvPr id="5" name="Rectangle 4">
            <a:extLst>
              <a:ext uri="{FF2B5EF4-FFF2-40B4-BE49-F238E27FC236}">
                <a16:creationId xmlns:a16="http://schemas.microsoft.com/office/drawing/2014/main" xmlns="" id="{35F9F4A0-4592-C04D-B2D0-0BF66A3BFA20}"/>
              </a:ext>
            </a:extLst>
          </p:cNvPr>
          <p:cNvSpPr/>
          <p:nvPr/>
        </p:nvSpPr>
        <p:spPr>
          <a:xfrm>
            <a:off x="593990" y="1236960"/>
            <a:ext cx="499993" cy="156966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83716" y="907776"/>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5" name="Rectangle 14">
            <a:extLst>
              <a:ext uri="{FF2B5EF4-FFF2-40B4-BE49-F238E27FC236}">
                <a16:creationId xmlns:a16="http://schemas.microsoft.com/office/drawing/2014/main" xmlns="" id="{D456EBDA-49A4-A843-A786-6989C63A54AA}"/>
              </a:ext>
            </a:extLst>
          </p:cNvPr>
          <p:cNvSpPr/>
          <p:nvPr/>
        </p:nvSpPr>
        <p:spPr>
          <a:xfrm>
            <a:off x="1130138" y="3322944"/>
            <a:ext cx="4003711" cy="2062103"/>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x = </a:t>
            </a:r>
            <a:r>
              <a:rPr lang="en-US" sz="1600" dirty="0">
                <a:solidFill>
                  <a:srgbClr val="098658"/>
                </a:solidFill>
                <a:latin typeface="Consolas"/>
              </a:rPr>
              <a:t>10</a:t>
            </a:r>
            <a:endParaRPr lang="en-US" sz="1600" dirty="0">
              <a:solidFill>
                <a:srgbClr val="000000"/>
              </a:solidFill>
              <a:latin typeface="Consolas"/>
            </a:endParaRPr>
          </a:p>
          <a:p>
            <a:r>
              <a:rPr lang="en-US" sz="1600" dirty="0">
                <a:solidFill>
                  <a:srgbClr val="000000"/>
                </a:solidFill>
                <a:latin typeface="Consolas"/>
              </a:rPr>
              <a:t/>
            </a:r>
            <a:br>
              <a:rPr lang="en-US" sz="1600" dirty="0">
                <a:solidFill>
                  <a:srgbClr val="000000"/>
                </a:solidFill>
                <a:latin typeface="Consolas"/>
              </a:rPr>
            </a:br>
            <a:r>
              <a:rPr lang="en-US" sz="1600" dirty="0">
                <a:solidFill>
                  <a:srgbClr val="0000FF"/>
                </a:solidFill>
                <a:latin typeface="Consolas"/>
              </a:rPr>
              <a:t>if</a:t>
            </a:r>
            <a:r>
              <a:rPr lang="en-US" sz="1600" dirty="0">
                <a:solidFill>
                  <a:srgbClr val="000000"/>
                </a:solidFill>
                <a:latin typeface="Consolas"/>
              </a:rPr>
              <a:t> x &gt; </a:t>
            </a:r>
            <a:r>
              <a:rPr lang="en-US" sz="1600" dirty="0">
                <a:solidFill>
                  <a:srgbClr val="098658"/>
                </a:solidFill>
                <a:latin typeface="Consolas"/>
              </a:rPr>
              <a:t>12</a:t>
            </a:r>
            <a:r>
              <a:rPr lang="en-US" sz="1600" dirty="0">
                <a:solidFill>
                  <a:srgbClr val="000000"/>
                </a:solidFill>
                <a:latin typeface="Consolas"/>
              </a:rPr>
              <a:t> :</a:t>
            </a:r>
          </a:p>
          <a:p>
            <a:r>
              <a:rPr lang="en-US" sz="1600" dirty="0">
                <a:solidFill>
                  <a:srgbClr val="000000"/>
                </a:solidFill>
                <a:latin typeface="Consolas"/>
              </a:rPr>
              <a:t>    print(</a:t>
            </a:r>
            <a:r>
              <a:rPr lang="en-US" sz="1600" dirty="0">
                <a:solidFill>
                  <a:srgbClr val="A31515"/>
                </a:solidFill>
                <a:latin typeface="Consolas"/>
              </a:rPr>
              <a:t>"X is greater than 12"</a:t>
            </a:r>
            <a:r>
              <a:rPr lang="en-US" sz="1600" dirty="0">
                <a:solidFill>
                  <a:srgbClr val="000000"/>
                </a:solidFill>
                <a:latin typeface="Consolas"/>
              </a:rPr>
              <a:t>)</a:t>
            </a:r>
          </a:p>
          <a:p>
            <a:r>
              <a:rPr lang="en-US" sz="1600" dirty="0" err="1">
                <a:solidFill>
                  <a:srgbClr val="0000FF"/>
                </a:solidFill>
                <a:latin typeface="Consolas"/>
              </a:rPr>
              <a:t>elif</a:t>
            </a:r>
            <a:r>
              <a:rPr lang="en-US" sz="1600" dirty="0">
                <a:solidFill>
                  <a:srgbClr val="000000"/>
                </a:solidFill>
                <a:latin typeface="Consolas"/>
              </a:rPr>
              <a:t> x &gt; </a:t>
            </a:r>
            <a:r>
              <a:rPr lang="en-US" sz="1600" dirty="0">
                <a:solidFill>
                  <a:srgbClr val="098658"/>
                </a:solidFill>
                <a:latin typeface="Consolas"/>
              </a:rPr>
              <a:t>5</a:t>
            </a:r>
            <a:r>
              <a:rPr lang="en-US" sz="1600" dirty="0">
                <a:solidFill>
                  <a:srgbClr val="000000"/>
                </a:solidFill>
                <a:latin typeface="Consolas"/>
              </a:rPr>
              <a:t> : </a:t>
            </a:r>
          </a:p>
          <a:p>
            <a:r>
              <a:rPr lang="en-US" sz="1600" dirty="0">
                <a:solidFill>
                  <a:srgbClr val="000000"/>
                </a:solidFill>
                <a:latin typeface="Consolas"/>
              </a:rPr>
              <a:t>    print(</a:t>
            </a:r>
            <a:r>
              <a:rPr lang="en-US" sz="1600" dirty="0">
                <a:solidFill>
                  <a:srgbClr val="A31515"/>
                </a:solidFill>
                <a:latin typeface="Consolas"/>
              </a:rPr>
              <a:t>"X is greater than 5"</a:t>
            </a:r>
            <a:r>
              <a:rPr lang="en-US" sz="1600" dirty="0">
                <a:solidFill>
                  <a:srgbClr val="000000"/>
                </a:solidFill>
                <a:latin typeface="Consolas"/>
              </a:rPr>
              <a:t>)</a:t>
            </a:r>
          </a:p>
          <a:p>
            <a:r>
              <a:rPr lang="en-US" sz="1600" dirty="0">
                <a:solidFill>
                  <a:srgbClr val="0000FF"/>
                </a:solidFill>
                <a:latin typeface="Consolas"/>
              </a:rPr>
              <a:t>else</a:t>
            </a:r>
            <a:r>
              <a:rPr lang="en-US" sz="1600" dirty="0">
                <a:solidFill>
                  <a:srgbClr val="000000"/>
                </a:solidFill>
                <a:latin typeface="Consolas"/>
              </a:rPr>
              <a:t> :</a:t>
            </a:r>
          </a:p>
          <a:p>
            <a:r>
              <a:rPr lang="en-US" sz="1600" dirty="0">
                <a:solidFill>
                  <a:srgbClr val="000000"/>
                </a:solidFill>
                <a:latin typeface="Consolas"/>
              </a:rPr>
              <a:t>    print(</a:t>
            </a:r>
            <a:r>
              <a:rPr lang="en-US" sz="1600" dirty="0">
                <a:solidFill>
                  <a:srgbClr val="A31515"/>
                </a:solidFill>
                <a:latin typeface="Consolas"/>
              </a:rPr>
              <a:t>"X is less than 5"</a:t>
            </a:r>
            <a:r>
              <a:rPr lang="en-US" sz="1600" dirty="0">
                <a:solidFill>
                  <a:srgbClr val="000000"/>
                </a:solidFill>
                <a:latin typeface="Consolas"/>
              </a:rPr>
              <a:t>)</a:t>
            </a:r>
            <a:endParaRPr lang="en-US" sz="1600" b="0" dirty="0">
              <a:solidFill>
                <a:srgbClr val="000000"/>
              </a:solidFill>
              <a:latin typeface="Consolas"/>
            </a:endParaRPr>
          </a:p>
        </p:txBody>
      </p:sp>
      <p:sp>
        <p:nvSpPr>
          <p:cNvPr id="16" name="Rectangle 15">
            <a:extLst>
              <a:ext uri="{FF2B5EF4-FFF2-40B4-BE49-F238E27FC236}">
                <a16:creationId xmlns:a16="http://schemas.microsoft.com/office/drawing/2014/main" xmlns="" id="{35F9F4A0-4592-C04D-B2D0-0BF66A3BFA20}"/>
              </a:ext>
            </a:extLst>
          </p:cNvPr>
          <p:cNvSpPr/>
          <p:nvPr/>
        </p:nvSpPr>
        <p:spPr>
          <a:xfrm>
            <a:off x="630145" y="3322944"/>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17" name="Rectangle: Top Corners Rounded 6">
            <a:extLst>
              <a:ext uri="{FF2B5EF4-FFF2-40B4-BE49-F238E27FC236}">
                <a16:creationId xmlns:a16="http://schemas.microsoft.com/office/drawing/2014/main" xmlns="" id="{0336C271-A2A3-9445-9946-5006F0A250F4}"/>
              </a:ext>
            </a:extLst>
          </p:cNvPr>
          <p:cNvSpPr/>
          <p:nvPr/>
        </p:nvSpPr>
        <p:spPr>
          <a:xfrm>
            <a:off x="630145" y="2993760"/>
            <a:ext cx="161332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ifelifdemo.py</a:t>
            </a:r>
          </a:p>
        </p:txBody>
      </p:sp>
      <p:sp>
        <p:nvSpPr>
          <p:cNvPr id="18" name="Rectangle 17">
            <a:extLst>
              <a:ext uri="{FF2B5EF4-FFF2-40B4-BE49-F238E27FC236}">
                <a16:creationId xmlns:a16="http://schemas.microsoft.com/office/drawing/2014/main" xmlns="" id="{D456EBDA-49A4-A843-A786-6989C63A54AA}"/>
              </a:ext>
            </a:extLst>
          </p:cNvPr>
          <p:cNvSpPr/>
          <p:nvPr/>
        </p:nvSpPr>
        <p:spPr>
          <a:xfrm>
            <a:off x="5675235" y="3315762"/>
            <a:ext cx="3880750" cy="830997"/>
          </a:xfrm>
          <a:prstGeom prst="rect">
            <a:avLst/>
          </a:prstGeom>
          <a:solidFill>
            <a:schemeClr val="bg1">
              <a:lumMod val="95000"/>
            </a:schemeClr>
          </a:solidFill>
          <a:ln>
            <a:noFill/>
          </a:ln>
        </p:spPr>
        <p:txBody>
          <a:bodyPr wrap="square">
            <a:spAutoFit/>
          </a:bodyPr>
          <a:lstStyle/>
          <a:p>
            <a:r>
              <a:rPr lang="en-US" sz="1600" dirty="0"/>
              <a:t>age = 20</a:t>
            </a:r>
          </a:p>
          <a:p>
            <a:r>
              <a:rPr lang="en-US" sz="1600" dirty="0"/>
              <a:t>s = "Adult" if age &gt;= 18 else "Minor"</a:t>
            </a:r>
          </a:p>
          <a:p>
            <a:r>
              <a:rPr lang="en-US" sz="1600" dirty="0"/>
              <a:t>print(s)</a:t>
            </a:r>
          </a:p>
        </p:txBody>
      </p:sp>
      <p:sp>
        <p:nvSpPr>
          <p:cNvPr id="20" name="Rectangle: Top Corners Rounded 6">
            <a:extLst>
              <a:ext uri="{FF2B5EF4-FFF2-40B4-BE49-F238E27FC236}">
                <a16:creationId xmlns:a16="http://schemas.microsoft.com/office/drawing/2014/main" xmlns="" id="{0336C271-A2A3-9445-9946-5006F0A250F4}"/>
              </a:ext>
            </a:extLst>
          </p:cNvPr>
          <p:cNvSpPr/>
          <p:nvPr/>
        </p:nvSpPr>
        <p:spPr>
          <a:xfrm>
            <a:off x="5659720" y="3004068"/>
            <a:ext cx="400371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Conditional Statement with Ternary Operator</a:t>
            </a:r>
          </a:p>
        </p:txBody>
      </p:sp>
    </p:spTree>
    <p:extLst>
      <p:ext uri="{BB962C8B-B14F-4D97-AF65-F5344CB8AC3E}">
        <p14:creationId xmlns:p14="http://schemas.microsoft.com/office/powerpoint/2010/main" val="319008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1">
                                            <p:bg/>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2" grpId="0" animBg="1"/>
      <p:bldP spid="23" grpId="0" animBg="1"/>
      <p:bldP spid="4" grpId="0" build="p" animBg="1"/>
      <p:bldP spid="5" grpId="0" animBg="1"/>
      <p:bldP spid="6" grpId="0" animBg="1"/>
      <p:bldP spid="15" grpId="0" build="p" animBg="1"/>
      <p:bldP spid="16" grpId="0" animBg="1"/>
      <p:bldP spid="17" grpId="0" animBg="1"/>
      <p:bldP spid="18" grpId="0" animBg="1"/>
      <p:bldP spid="20"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 Statement</a:t>
            </a:r>
            <a:endParaRPr lang="en-IN" dirty="0"/>
          </a:p>
        </p:txBody>
      </p:sp>
      <p:sp>
        <p:nvSpPr>
          <p:cNvPr id="3" name="Content Placeholder 2"/>
          <p:cNvSpPr>
            <a:spLocks noGrp="1"/>
          </p:cNvSpPr>
          <p:nvPr>
            <p:ph idx="1"/>
          </p:nvPr>
        </p:nvSpPr>
        <p:spPr/>
        <p:txBody>
          <a:bodyPr/>
          <a:lstStyle/>
          <a:p>
            <a:pPr marL="0" indent="0">
              <a:buNone/>
            </a:pPr>
            <a:r>
              <a:rPr lang="en-US" dirty="0"/>
              <a:t>With the while loop we can execute a set of statements as long as a condition is true.</a:t>
            </a:r>
          </a:p>
          <a:p>
            <a:r>
              <a:rPr lang="en-US" dirty="0"/>
              <a:t>Example:</a:t>
            </a:r>
          </a:p>
          <a:p>
            <a:pPr marL="0" indent="0">
              <a:buNone/>
            </a:pPr>
            <a:r>
              <a:rPr lang="nn-NO" dirty="0"/>
              <a:t>i = 1</a:t>
            </a:r>
          </a:p>
          <a:p>
            <a:pPr marL="0" indent="0">
              <a:buNone/>
            </a:pPr>
            <a:r>
              <a:rPr lang="nn-NO" dirty="0"/>
              <a:t>while i &lt; 6:</a:t>
            </a:r>
          </a:p>
          <a:p>
            <a:pPr marL="0" indent="0">
              <a:buNone/>
            </a:pPr>
            <a:r>
              <a:rPr lang="nn-NO" dirty="0"/>
              <a:t>    print(i)</a:t>
            </a:r>
          </a:p>
          <a:p>
            <a:pPr marL="0" indent="0">
              <a:buNone/>
            </a:pPr>
            <a:r>
              <a:rPr lang="nn-NO" dirty="0"/>
              <a:t>    i += 1</a:t>
            </a:r>
          </a:p>
          <a:p>
            <a:pPr marL="0" indent="0">
              <a:buNone/>
            </a:pPr>
            <a:endParaRPr lang="en-US" sz="2000" b="1" i="0"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i="0" dirty="0">
                <a:latin typeface="Times New Roman" panose="02020603050405020304" pitchFamily="18" charset="0"/>
                <a:cs typeface="Times New Roman" panose="02020603050405020304" pitchFamily="18" charset="0"/>
              </a:rPr>
              <a:t>		W</a:t>
            </a:r>
            <a:r>
              <a:rPr lang="en-US" sz="2000" b="1" dirty="0">
                <a:latin typeface="Times New Roman" panose="02020603050405020304" pitchFamily="18" charset="0"/>
                <a:cs typeface="Times New Roman" panose="02020603050405020304" pitchFamily="18" charset="0"/>
              </a:rPr>
              <a:t>alrus operator: Assignment and Comparison will be done at the same time</a:t>
            </a:r>
          </a:p>
          <a:p>
            <a:pPr marL="0" indent="0">
              <a:buNone/>
            </a:pPr>
            <a:r>
              <a:rPr lang="en-US" dirty="0"/>
              <a:t>		while (name := input("Enter your name (quit to stop): ")) != "quit":    </a:t>
            </a:r>
          </a:p>
          <a:p>
            <a:pPr marL="0" indent="0">
              <a:buNone/>
            </a:pPr>
            <a:r>
              <a:rPr lang="en-US" dirty="0"/>
              <a:t>		print("Hello", name)</a:t>
            </a:r>
            <a:endParaRPr lang="nn-NO" dirty="0"/>
          </a:p>
        </p:txBody>
      </p:sp>
      <p:sp>
        <p:nvSpPr>
          <p:cNvPr id="4" name="Rectangle 3">
            <a:extLst>
              <a:ext uri="{FF2B5EF4-FFF2-40B4-BE49-F238E27FC236}">
                <a16:creationId xmlns:a16="http://schemas.microsoft.com/office/drawing/2014/main" xmlns="" id="{B3DD27CC-1A36-8FDD-B2C1-3EDFBF1CDCC8}"/>
              </a:ext>
            </a:extLst>
          </p:cNvPr>
          <p:cNvSpPr/>
          <p:nvPr/>
        </p:nvSpPr>
        <p:spPr>
          <a:xfrm>
            <a:off x="1178169" y="4000500"/>
            <a:ext cx="9970477" cy="18727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xmlns="" id="{42934585-FAB7-F178-B35F-6F25D6C0F8E0}"/>
              </a:ext>
            </a:extLst>
          </p:cNvPr>
          <p:cNvSpPr/>
          <p:nvPr/>
        </p:nvSpPr>
        <p:spPr>
          <a:xfrm>
            <a:off x="1178169" y="5992185"/>
            <a:ext cx="8423031" cy="342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dirty="0"/>
              <a:t>    x=3; y=8;     </a:t>
            </a:r>
            <a:r>
              <a:rPr lang="es-ES" dirty="0" err="1"/>
              <a:t>if</a:t>
            </a:r>
            <a:r>
              <a:rPr lang="es-ES" dirty="0"/>
              <a:t> x:=y:    </a:t>
            </a:r>
            <a:r>
              <a:rPr lang="es-ES" dirty="0" err="1"/>
              <a:t>print</a:t>
            </a:r>
            <a:r>
              <a:rPr lang="es-ES" dirty="0"/>
              <a:t>("x and y are </a:t>
            </a:r>
            <a:r>
              <a:rPr lang="es-ES" dirty="0" err="1"/>
              <a:t>equal</a:t>
            </a:r>
            <a:r>
              <a:rPr lang="es-ES" dirty="0"/>
              <a:t>", x, y);</a:t>
            </a:r>
            <a:endParaRPr lang="en-US" dirty="0"/>
          </a:p>
        </p:txBody>
      </p:sp>
    </p:spTree>
    <p:extLst>
      <p:ext uri="{BB962C8B-B14F-4D97-AF65-F5344CB8AC3E}">
        <p14:creationId xmlns:p14="http://schemas.microsoft.com/office/powerpoint/2010/main" val="370923332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
            </a:r>
            <a:br>
              <a:rPr lang="en-US" sz="3600" dirty="0"/>
            </a:br>
            <a:r>
              <a:rPr lang="en-US" sz="3600" dirty="0"/>
              <a:t>The range() function</a:t>
            </a:r>
            <a:br>
              <a:rPr lang="en-US" sz="3600" dirty="0"/>
            </a:br>
            <a:endParaRPr lang="en-IN" dirty="0"/>
          </a:p>
        </p:txBody>
      </p:sp>
      <p:sp>
        <p:nvSpPr>
          <p:cNvPr id="3" name="Content Placeholder 2"/>
          <p:cNvSpPr>
            <a:spLocks noGrp="1"/>
          </p:cNvSpPr>
          <p:nvPr>
            <p:ph idx="1"/>
          </p:nvPr>
        </p:nvSpPr>
        <p:spPr/>
        <p:txBody>
          <a:bodyPr/>
          <a:lstStyle/>
          <a:p>
            <a:r>
              <a:rPr lang="en-US" sz="1800" dirty="0"/>
              <a:t>We can generate a sequence of numbers using range() function. </a:t>
            </a:r>
          </a:p>
          <a:p>
            <a:r>
              <a:rPr lang="en-US" sz="1800" dirty="0"/>
              <a:t>range(10) will generate numbers from 0 to 9 (10 numbers).</a:t>
            </a:r>
          </a:p>
          <a:p>
            <a:r>
              <a:rPr lang="en-US" sz="1800" dirty="0"/>
              <a:t>We can also define the start, stop and step size as range(start, </a:t>
            </a:r>
            <a:r>
              <a:rPr lang="en-US" sz="1800" dirty="0" err="1"/>
              <a:t>stop,step_size</a:t>
            </a:r>
            <a:r>
              <a:rPr lang="en-US" sz="1800" dirty="0"/>
              <a:t>). </a:t>
            </a:r>
            <a:r>
              <a:rPr lang="en-US" sz="1800" dirty="0" err="1"/>
              <a:t>step_size</a:t>
            </a:r>
            <a:r>
              <a:rPr lang="en-US" sz="1800" dirty="0"/>
              <a:t> defaults to 1 if not provided.</a:t>
            </a:r>
          </a:p>
          <a:p>
            <a:r>
              <a:rPr lang="en-US" sz="1800" dirty="0"/>
              <a:t>The range object is "lazy" in a sense because it doesn't generate every number that it "contains" when we create it. However, it is not an iterator since it supports in, </a:t>
            </a:r>
            <a:r>
              <a:rPr lang="en-US" sz="1800" dirty="0" err="1"/>
              <a:t>len</a:t>
            </a:r>
            <a:r>
              <a:rPr lang="en-US" sz="1800" dirty="0"/>
              <a:t> and __</a:t>
            </a:r>
            <a:r>
              <a:rPr lang="en-US" sz="1800" dirty="0" err="1"/>
              <a:t>getitem</a:t>
            </a:r>
            <a:r>
              <a:rPr lang="en-US" sz="1800" dirty="0"/>
              <a:t>__ operations.</a:t>
            </a:r>
          </a:p>
          <a:p>
            <a:endParaRPr lang="en-US" sz="1800" dirty="0"/>
          </a:p>
          <a:p>
            <a:r>
              <a:rPr lang="en-US" sz="1800" dirty="0"/>
              <a:t>This function does not store all the values in memory; it would be inefficient. So it remembers the start, stop, step size and generates the next number on the go.</a:t>
            </a:r>
          </a:p>
          <a:p>
            <a:endParaRPr lang="en-US" sz="1800" dirty="0"/>
          </a:p>
          <a:p>
            <a:r>
              <a:rPr lang="en-US" sz="1800" dirty="0"/>
              <a:t>To force this function to output all the items, we can use the function list().</a:t>
            </a:r>
          </a:p>
          <a:p>
            <a:pPr>
              <a:lnSpc>
                <a:spcPct val="100000"/>
              </a:lnSpc>
            </a:pPr>
            <a:r>
              <a:rPr lang="fr-FR" sz="1800" dirty="0" err="1"/>
              <a:t>print</a:t>
            </a:r>
            <a:r>
              <a:rPr lang="fr-FR" sz="1800" dirty="0"/>
              <a:t>(range(10))</a:t>
            </a:r>
          </a:p>
          <a:p>
            <a:pPr>
              <a:lnSpc>
                <a:spcPct val="100000"/>
              </a:lnSpc>
            </a:pPr>
            <a:r>
              <a:rPr lang="fr-FR" sz="1800" dirty="0" err="1"/>
              <a:t>print</a:t>
            </a:r>
            <a:r>
              <a:rPr lang="fr-FR" sz="1800" dirty="0"/>
              <a:t>(</a:t>
            </a:r>
            <a:r>
              <a:rPr lang="fr-FR" sz="1800" dirty="0" err="1"/>
              <a:t>list</a:t>
            </a:r>
            <a:r>
              <a:rPr lang="fr-FR" sz="1800" dirty="0"/>
              <a:t>(range(10)))</a:t>
            </a:r>
          </a:p>
          <a:p>
            <a:pPr>
              <a:lnSpc>
                <a:spcPct val="100000"/>
              </a:lnSpc>
            </a:pPr>
            <a:r>
              <a:rPr lang="fr-FR" sz="1800" dirty="0" err="1"/>
              <a:t>print</a:t>
            </a:r>
            <a:r>
              <a:rPr lang="fr-FR" sz="1800" dirty="0"/>
              <a:t>(</a:t>
            </a:r>
            <a:r>
              <a:rPr lang="fr-FR" sz="1800" dirty="0" err="1"/>
              <a:t>list</a:t>
            </a:r>
            <a:r>
              <a:rPr lang="fr-FR" sz="1800" dirty="0"/>
              <a:t>(range(2, 8)))</a:t>
            </a:r>
          </a:p>
          <a:p>
            <a:pPr>
              <a:lnSpc>
                <a:spcPct val="100000"/>
              </a:lnSpc>
            </a:pPr>
            <a:r>
              <a:rPr lang="fr-FR" sz="1800" dirty="0" err="1"/>
              <a:t>print</a:t>
            </a:r>
            <a:r>
              <a:rPr lang="fr-FR" sz="1800" dirty="0"/>
              <a:t>(</a:t>
            </a:r>
            <a:r>
              <a:rPr lang="fr-FR" sz="1800" dirty="0" err="1"/>
              <a:t>list</a:t>
            </a:r>
            <a:r>
              <a:rPr lang="fr-FR" sz="1800" dirty="0"/>
              <a:t>(range(2, 20, 3)))</a:t>
            </a:r>
            <a:endParaRPr lang="en-IN" sz="1800" dirty="0"/>
          </a:p>
          <a:p>
            <a:endParaRPr lang="en-US" sz="1800" dirty="0"/>
          </a:p>
          <a:p>
            <a:endParaRPr lang="en-US" sz="1800" dirty="0"/>
          </a:p>
        </p:txBody>
      </p:sp>
    </p:spTree>
    <p:extLst>
      <p:ext uri="{BB962C8B-B14F-4D97-AF65-F5344CB8AC3E}">
        <p14:creationId xmlns:p14="http://schemas.microsoft.com/office/powerpoint/2010/main" val="26225567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 in python</a:t>
            </a:r>
          </a:p>
        </p:txBody>
      </p:sp>
      <p:sp>
        <p:nvSpPr>
          <p:cNvPr id="3" name="Content Placeholder 2"/>
          <p:cNvSpPr>
            <a:spLocks noGrp="1"/>
          </p:cNvSpPr>
          <p:nvPr>
            <p:ph idx="1"/>
          </p:nvPr>
        </p:nvSpPr>
        <p:spPr/>
        <p:txBody>
          <a:bodyPr/>
          <a:lstStyle/>
          <a:p>
            <a:r>
              <a:rPr lang="en-IN" dirty="0"/>
              <a:t>Many objects in python are </a:t>
            </a:r>
            <a:r>
              <a:rPr lang="en-IN" b="1" dirty="0" err="1"/>
              <a:t>iterable</a:t>
            </a:r>
            <a:r>
              <a:rPr lang="en-IN" b="1" dirty="0"/>
              <a:t>, </a:t>
            </a:r>
            <a:r>
              <a:rPr lang="en-IN" dirty="0"/>
              <a:t>meaning we can iterate over every element in the object.</a:t>
            </a:r>
          </a:p>
          <a:p>
            <a:pPr lvl="1"/>
            <a:r>
              <a:rPr lang="en-IN" dirty="0"/>
              <a:t>such as every elements from the List, every characters from the string etc..</a:t>
            </a:r>
          </a:p>
          <a:p>
            <a:r>
              <a:rPr lang="en-IN" dirty="0"/>
              <a:t>We can use for loop to execute block of code for each element of </a:t>
            </a:r>
            <a:r>
              <a:rPr lang="en-IN" dirty="0" err="1"/>
              <a:t>iterable</a:t>
            </a:r>
            <a:r>
              <a:rPr lang="en-IN" dirty="0"/>
              <a:t> object.</a:t>
            </a:r>
            <a:endParaRPr lang="en-US"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83709" y="2582681"/>
            <a:ext cx="8472276" cy="584775"/>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a:rPr>
              <a:t>for</a:t>
            </a:r>
            <a:r>
              <a:rPr lang="en-US" sz="1600" dirty="0">
                <a:solidFill>
                  <a:srgbClr val="000000"/>
                </a:solidFill>
                <a:latin typeface="Consolas"/>
              </a:rPr>
              <a:t> </a:t>
            </a:r>
            <a:r>
              <a:rPr lang="en-US" sz="1600" dirty="0" err="1">
                <a:solidFill>
                  <a:srgbClr val="000000"/>
                </a:solidFill>
                <a:latin typeface="Consolas"/>
              </a:rPr>
              <a:t>temp_item</a:t>
            </a:r>
            <a:r>
              <a:rPr lang="en-US" sz="1600" dirty="0">
                <a:solidFill>
                  <a:srgbClr val="000000"/>
                </a:solidFill>
                <a:latin typeface="Consolas"/>
              </a:rPr>
              <a:t> </a:t>
            </a:r>
            <a:r>
              <a:rPr lang="en-US" sz="1600" dirty="0">
                <a:solidFill>
                  <a:srgbClr val="0000FF"/>
                </a:solidFill>
                <a:latin typeface="Consolas"/>
              </a:rPr>
              <a:t>in</a:t>
            </a:r>
            <a:r>
              <a:rPr lang="en-US" sz="1600" dirty="0">
                <a:solidFill>
                  <a:srgbClr val="000000"/>
                </a:solidFill>
                <a:latin typeface="Consolas"/>
              </a:rPr>
              <a:t> </a:t>
            </a:r>
            <a:r>
              <a:rPr lang="en-US" sz="1600" dirty="0" err="1">
                <a:solidFill>
                  <a:srgbClr val="000000"/>
                </a:solidFill>
                <a:latin typeface="Consolas"/>
              </a:rPr>
              <a:t>iterable_object</a:t>
            </a:r>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8000"/>
                </a:solidFill>
                <a:latin typeface="Consolas"/>
              </a:rPr>
              <a:t># Code to execute for each object in </a:t>
            </a:r>
            <a:r>
              <a:rPr lang="en-US" sz="1600" dirty="0" err="1">
                <a:solidFill>
                  <a:srgbClr val="008000"/>
                </a:solidFill>
                <a:latin typeface="Consolas"/>
              </a:rPr>
              <a:t>iterable</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83716" y="2582681"/>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83716" y="2253497"/>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7" name="Line Callout 1 6"/>
          <p:cNvSpPr/>
          <p:nvPr/>
        </p:nvSpPr>
        <p:spPr>
          <a:xfrm>
            <a:off x="5675650" y="2184112"/>
            <a:ext cx="4495800" cy="626533"/>
          </a:xfrm>
          <a:prstGeom prst="borderCallout1">
            <a:avLst>
              <a:gd name="adj1" fmla="val 53885"/>
              <a:gd name="adj2" fmla="val -612"/>
              <a:gd name="adj3" fmla="val 89527"/>
              <a:gd name="adj4" fmla="val -1479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For loop ends with </a:t>
            </a:r>
            <a:r>
              <a:rPr lang="en-IN" b="1" dirty="0">
                <a:solidFill>
                  <a:srgbClr val="FF0000"/>
                </a:solidFill>
              </a:rPr>
              <a:t>: </a:t>
            </a:r>
            <a:endParaRPr lang="en-US" b="1" dirty="0">
              <a:solidFill>
                <a:srgbClr val="FF0000"/>
              </a:solidFill>
            </a:endParaRPr>
          </a:p>
        </p:txBody>
      </p:sp>
      <p:sp>
        <p:nvSpPr>
          <p:cNvPr id="8" name="Line Callout 1 7"/>
          <p:cNvSpPr/>
          <p:nvPr/>
        </p:nvSpPr>
        <p:spPr>
          <a:xfrm>
            <a:off x="2245569" y="3199542"/>
            <a:ext cx="4495800" cy="626533"/>
          </a:xfrm>
          <a:prstGeom prst="borderCallout1">
            <a:avLst>
              <a:gd name="adj1" fmla="val 53885"/>
              <a:gd name="adj2" fmla="val -612"/>
              <a:gd name="adj3" fmla="val -23622"/>
              <a:gd name="adj4" fmla="val -2164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Indentation (tab/whitespace) at the beginning</a:t>
            </a:r>
            <a:endParaRPr lang="en-US" b="1" dirty="0">
              <a:solidFill>
                <a:srgbClr val="FF0000"/>
              </a:solidFill>
            </a:endParaRPr>
          </a:p>
        </p:txBody>
      </p:sp>
      <p:sp>
        <p:nvSpPr>
          <p:cNvPr id="9" name="Rectangle 8">
            <a:extLst>
              <a:ext uri="{FF2B5EF4-FFF2-40B4-BE49-F238E27FC236}">
                <a16:creationId xmlns:a16="http://schemas.microsoft.com/office/drawing/2014/main" xmlns="" id="{D456EBDA-49A4-A843-A786-6989C63A54AA}"/>
              </a:ext>
            </a:extLst>
          </p:cNvPr>
          <p:cNvSpPr/>
          <p:nvPr/>
        </p:nvSpPr>
        <p:spPr>
          <a:xfrm>
            <a:off x="1079186" y="4407829"/>
            <a:ext cx="4003711" cy="86177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 = [</a:t>
            </a:r>
            <a:r>
              <a:rPr lang="en-US" sz="1600" dirty="0">
                <a:solidFill>
                  <a:srgbClr val="098658"/>
                </a:solidFill>
                <a:latin typeface="Consolas"/>
              </a:rPr>
              <a:t>1</a:t>
            </a:r>
            <a:r>
              <a:rPr lang="en-US" sz="1600" dirty="0">
                <a:solidFill>
                  <a:srgbClr val="000000"/>
                </a:solidFill>
                <a:latin typeface="Consolas"/>
              </a:rPr>
              <a:t>, </a:t>
            </a:r>
            <a:r>
              <a:rPr lang="en-US" sz="1600" dirty="0">
                <a:solidFill>
                  <a:srgbClr val="098658"/>
                </a:solidFill>
                <a:latin typeface="Consolas"/>
              </a:rPr>
              <a:t>2</a:t>
            </a:r>
            <a:r>
              <a:rPr lang="en-US" sz="1600" dirty="0">
                <a:solidFill>
                  <a:srgbClr val="000000"/>
                </a:solidFill>
                <a:latin typeface="Consolas"/>
              </a:rPr>
              <a:t>, </a:t>
            </a:r>
            <a:r>
              <a:rPr lang="en-US" sz="1600" dirty="0">
                <a:solidFill>
                  <a:srgbClr val="098658"/>
                </a:solidFill>
                <a:latin typeface="Consolas"/>
              </a:rPr>
              <a:t>3</a:t>
            </a:r>
            <a:r>
              <a:rPr lang="en-US" sz="1600" dirty="0">
                <a:solidFill>
                  <a:srgbClr val="000000"/>
                </a:solidFill>
                <a:latin typeface="Consolas"/>
              </a:rPr>
              <a:t>, </a:t>
            </a:r>
            <a:r>
              <a:rPr lang="en-US" sz="1600" dirty="0">
                <a:solidFill>
                  <a:srgbClr val="098658"/>
                </a:solidFill>
                <a:latin typeface="Consolas"/>
              </a:rPr>
              <a:t>4</a:t>
            </a:r>
            <a:r>
              <a:rPr lang="en-US" sz="1600" dirty="0">
                <a:solidFill>
                  <a:srgbClr val="000000"/>
                </a:solidFill>
                <a:latin typeface="Consolas"/>
              </a:rPr>
              <a:t>]</a:t>
            </a:r>
          </a:p>
          <a:p>
            <a:r>
              <a:rPr lang="en-US" sz="1600" dirty="0">
                <a:solidFill>
                  <a:srgbClr val="0000FF"/>
                </a:solidFill>
                <a:latin typeface="Consolas"/>
              </a:rPr>
              <a:t>for</a:t>
            </a:r>
            <a:r>
              <a:rPr lang="en-US" sz="1600" dirty="0">
                <a:solidFill>
                  <a:srgbClr val="000000"/>
                </a:solidFill>
                <a:latin typeface="Consolas"/>
              </a:rPr>
              <a:t> </a:t>
            </a:r>
            <a:r>
              <a:rPr lang="en-US" sz="1600" dirty="0" err="1">
                <a:solidFill>
                  <a:srgbClr val="000000"/>
                </a:solidFill>
                <a:latin typeface="Consolas"/>
              </a:rPr>
              <a:t>list_item</a:t>
            </a:r>
            <a:r>
              <a:rPr lang="en-US" sz="1600" dirty="0">
                <a:solidFill>
                  <a:srgbClr val="000000"/>
                </a:solidFill>
                <a:latin typeface="Consolas"/>
              </a:rPr>
              <a:t> </a:t>
            </a:r>
            <a:r>
              <a:rPr lang="en-US" sz="1600" dirty="0">
                <a:solidFill>
                  <a:srgbClr val="0000FF"/>
                </a:solidFill>
                <a:latin typeface="Consolas"/>
              </a:rPr>
              <a:t>in</a:t>
            </a:r>
            <a:r>
              <a:rPr lang="en-US" sz="1600" dirty="0">
                <a:solidFill>
                  <a:srgbClr val="000000"/>
                </a:solidFill>
                <a:latin typeface="Consolas"/>
              </a:rPr>
              <a:t> </a:t>
            </a:r>
            <a:r>
              <a:rPr lang="en-US" sz="1600" dirty="0" err="1">
                <a:solidFill>
                  <a:srgbClr val="000000"/>
                </a:solidFill>
                <a:latin typeface="Consolas"/>
              </a:rPr>
              <a:t>my_list</a:t>
            </a:r>
            <a:r>
              <a:rPr lang="en-US" sz="1600" dirty="0">
                <a:solidFill>
                  <a:srgbClr val="000000"/>
                </a:solidFill>
                <a:latin typeface="Consolas"/>
              </a:rPr>
              <a:t> :</a:t>
            </a:r>
          </a:p>
          <a:p>
            <a:r>
              <a:rPr lang="en-US" sz="1600" dirty="0">
                <a:solidFill>
                  <a:srgbClr val="000000"/>
                </a:solidFill>
                <a:latin typeface="Consolas"/>
              </a:rPr>
              <a:t>    print(</a:t>
            </a:r>
            <a:r>
              <a:rPr lang="en-US" sz="1600" dirty="0" err="1">
                <a:solidFill>
                  <a:srgbClr val="000000"/>
                </a:solidFill>
                <a:latin typeface="Consolas"/>
              </a:rPr>
              <a:t>list_item</a:t>
            </a:r>
            <a:r>
              <a:rPr lang="en-US" sz="1600" dirty="0">
                <a:solidFill>
                  <a:srgbClr val="000000"/>
                </a:solidFill>
                <a:latin typeface="Consolas"/>
              </a:rPr>
              <a:t>)</a:t>
            </a:r>
            <a:endParaRPr lang="en-US" sz="1600" b="0" dirty="0">
              <a:solidFill>
                <a:srgbClr val="000000"/>
              </a:solidFill>
              <a:latin typeface="Consolas"/>
            </a:endParaRPr>
          </a:p>
        </p:txBody>
      </p:sp>
      <p:sp>
        <p:nvSpPr>
          <p:cNvPr id="10" name="Rectangle 9">
            <a:extLst>
              <a:ext uri="{FF2B5EF4-FFF2-40B4-BE49-F238E27FC236}">
                <a16:creationId xmlns:a16="http://schemas.microsoft.com/office/drawing/2014/main" xmlns="" id="{35F9F4A0-4592-C04D-B2D0-0BF66A3BFA20}"/>
              </a:ext>
            </a:extLst>
          </p:cNvPr>
          <p:cNvSpPr/>
          <p:nvPr/>
        </p:nvSpPr>
        <p:spPr>
          <a:xfrm>
            <a:off x="579193" y="4407829"/>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11" name="Rectangle: Top Corners Rounded 6">
            <a:extLst>
              <a:ext uri="{FF2B5EF4-FFF2-40B4-BE49-F238E27FC236}">
                <a16:creationId xmlns:a16="http://schemas.microsoft.com/office/drawing/2014/main" xmlns="" id="{0336C271-A2A3-9445-9946-5006F0A250F4}"/>
              </a:ext>
            </a:extLst>
          </p:cNvPr>
          <p:cNvSpPr/>
          <p:nvPr/>
        </p:nvSpPr>
        <p:spPr>
          <a:xfrm>
            <a:off x="579193" y="4078645"/>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fordemo1.py</a:t>
            </a:r>
          </a:p>
        </p:txBody>
      </p:sp>
      <p:sp>
        <p:nvSpPr>
          <p:cNvPr id="12" name="Line Callout 1 11"/>
          <p:cNvSpPr/>
          <p:nvPr/>
        </p:nvSpPr>
        <p:spPr>
          <a:xfrm>
            <a:off x="4062511" y="4080294"/>
            <a:ext cx="1406636" cy="1449238"/>
          </a:xfrm>
          <a:prstGeom prst="borderCallout1">
            <a:avLst>
              <a:gd name="adj1" fmla="val 53885"/>
              <a:gd name="adj2" fmla="val -612"/>
              <a:gd name="adj3" fmla="val 70479"/>
              <a:gd name="adj4" fmla="val -41566"/>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Output :</a:t>
            </a:r>
          </a:p>
          <a:p>
            <a:pPr algn="ctr"/>
            <a:r>
              <a:rPr lang="en-IN" dirty="0">
                <a:solidFill>
                  <a:schemeClr val="tx1"/>
                </a:solidFill>
              </a:rPr>
              <a:t>1</a:t>
            </a:r>
          </a:p>
          <a:p>
            <a:pPr algn="ctr"/>
            <a:r>
              <a:rPr lang="en-IN" dirty="0">
                <a:solidFill>
                  <a:schemeClr val="tx1"/>
                </a:solidFill>
              </a:rPr>
              <a:t>2</a:t>
            </a:r>
          </a:p>
          <a:p>
            <a:pPr algn="ctr"/>
            <a:r>
              <a:rPr lang="en-IN" dirty="0">
                <a:solidFill>
                  <a:schemeClr val="tx1"/>
                </a:solidFill>
              </a:rPr>
              <a:t>3</a:t>
            </a:r>
          </a:p>
          <a:p>
            <a:pPr algn="ctr"/>
            <a:r>
              <a:rPr lang="en-IN" dirty="0">
                <a:solidFill>
                  <a:schemeClr val="tx1"/>
                </a:solidFill>
              </a:rPr>
              <a:t>4</a:t>
            </a:r>
            <a:endParaRPr lang="en-US" dirty="0">
              <a:solidFill>
                <a:schemeClr val="tx1"/>
              </a:solidFill>
            </a:endParaRPr>
          </a:p>
        </p:txBody>
      </p:sp>
      <p:sp>
        <p:nvSpPr>
          <p:cNvPr id="13" name="Rectangle 12">
            <a:extLst>
              <a:ext uri="{FF2B5EF4-FFF2-40B4-BE49-F238E27FC236}">
                <a16:creationId xmlns:a16="http://schemas.microsoft.com/office/drawing/2014/main" xmlns="" id="{D456EBDA-49A4-A843-A786-6989C63A54AA}"/>
              </a:ext>
            </a:extLst>
          </p:cNvPr>
          <p:cNvSpPr/>
          <p:nvPr/>
        </p:nvSpPr>
        <p:spPr>
          <a:xfrm>
            <a:off x="6539707" y="4407829"/>
            <a:ext cx="4003711" cy="1077218"/>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 = [</a:t>
            </a:r>
            <a:r>
              <a:rPr lang="en-US" sz="1600" dirty="0">
                <a:solidFill>
                  <a:srgbClr val="098658"/>
                </a:solidFill>
                <a:latin typeface="Consolas"/>
              </a:rPr>
              <a:t>1</a:t>
            </a:r>
            <a:r>
              <a:rPr lang="en-US" sz="1600" dirty="0">
                <a:solidFill>
                  <a:srgbClr val="000000"/>
                </a:solidFill>
                <a:latin typeface="Consolas"/>
              </a:rPr>
              <a:t>,</a:t>
            </a:r>
            <a:r>
              <a:rPr lang="en-US" sz="1600" dirty="0">
                <a:solidFill>
                  <a:srgbClr val="098658"/>
                </a:solidFill>
                <a:latin typeface="Consolas"/>
              </a:rPr>
              <a:t>2</a:t>
            </a:r>
            <a:r>
              <a:rPr lang="en-US" sz="1600" dirty="0">
                <a:solidFill>
                  <a:srgbClr val="000000"/>
                </a:solidFill>
                <a:latin typeface="Consolas"/>
              </a:rPr>
              <a:t>,</a:t>
            </a:r>
            <a:r>
              <a:rPr lang="en-US" sz="1600" dirty="0">
                <a:solidFill>
                  <a:srgbClr val="098658"/>
                </a:solidFill>
                <a:latin typeface="Consolas"/>
              </a:rPr>
              <a:t>3</a:t>
            </a:r>
            <a:r>
              <a:rPr lang="en-US" sz="1600" dirty="0">
                <a:solidFill>
                  <a:srgbClr val="000000"/>
                </a:solidFill>
                <a:latin typeface="Consolas"/>
              </a:rPr>
              <a:t>,</a:t>
            </a:r>
            <a:r>
              <a:rPr lang="en-US" sz="1600" dirty="0">
                <a:solidFill>
                  <a:srgbClr val="098658"/>
                </a:solidFill>
                <a:latin typeface="Consolas"/>
              </a:rPr>
              <a:t>4</a:t>
            </a:r>
            <a:r>
              <a:rPr lang="en-US" sz="1600" dirty="0">
                <a:solidFill>
                  <a:srgbClr val="000000"/>
                </a:solidFill>
                <a:latin typeface="Consolas"/>
              </a:rPr>
              <a:t>,</a:t>
            </a:r>
            <a:r>
              <a:rPr lang="en-US" sz="1600" dirty="0">
                <a:solidFill>
                  <a:srgbClr val="098658"/>
                </a:solidFill>
                <a:latin typeface="Consolas"/>
              </a:rPr>
              <a:t>5</a:t>
            </a:r>
            <a:r>
              <a:rPr lang="en-US" sz="1600" dirty="0">
                <a:solidFill>
                  <a:srgbClr val="000000"/>
                </a:solidFill>
                <a:latin typeface="Consolas"/>
              </a:rPr>
              <a:t>,</a:t>
            </a:r>
            <a:r>
              <a:rPr lang="en-US" sz="1600" dirty="0">
                <a:solidFill>
                  <a:srgbClr val="098658"/>
                </a:solidFill>
                <a:latin typeface="Consolas"/>
              </a:rPr>
              <a:t>6</a:t>
            </a:r>
            <a:r>
              <a:rPr lang="en-US" sz="1600" dirty="0">
                <a:solidFill>
                  <a:srgbClr val="000000"/>
                </a:solidFill>
                <a:latin typeface="Consolas"/>
              </a:rPr>
              <a:t>,</a:t>
            </a:r>
            <a:r>
              <a:rPr lang="en-US" sz="1600" dirty="0">
                <a:solidFill>
                  <a:srgbClr val="098658"/>
                </a:solidFill>
                <a:latin typeface="Consolas"/>
              </a:rPr>
              <a:t>7</a:t>
            </a:r>
            <a:r>
              <a:rPr lang="en-US" sz="1600" dirty="0">
                <a:solidFill>
                  <a:srgbClr val="000000"/>
                </a:solidFill>
                <a:latin typeface="Consolas"/>
              </a:rPr>
              <a:t>,</a:t>
            </a:r>
            <a:r>
              <a:rPr lang="en-US" sz="1600" dirty="0">
                <a:solidFill>
                  <a:srgbClr val="098658"/>
                </a:solidFill>
                <a:latin typeface="Consolas"/>
              </a:rPr>
              <a:t>8</a:t>
            </a:r>
            <a:r>
              <a:rPr lang="en-US" sz="1600" dirty="0">
                <a:solidFill>
                  <a:srgbClr val="000000"/>
                </a:solidFill>
                <a:latin typeface="Consolas"/>
              </a:rPr>
              <a:t>,</a:t>
            </a:r>
            <a:r>
              <a:rPr lang="en-US" sz="1600" dirty="0">
                <a:solidFill>
                  <a:srgbClr val="098658"/>
                </a:solidFill>
                <a:latin typeface="Consolas"/>
              </a:rPr>
              <a:t>9</a:t>
            </a:r>
            <a:r>
              <a:rPr lang="en-US" sz="1600" dirty="0">
                <a:solidFill>
                  <a:srgbClr val="000000"/>
                </a:solidFill>
                <a:latin typeface="Consolas"/>
              </a:rPr>
              <a:t>]</a:t>
            </a:r>
          </a:p>
          <a:p>
            <a:r>
              <a:rPr lang="en-US" sz="1600" dirty="0">
                <a:solidFill>
                  <a:srgbClr val="0000FF"/>
                </a:solidFill>
                <a:latin typeface="Consolas"/>
              </a:rPr>
              <a:t>for</a:t>
            </a:r>
            <a:r>
              <a:rPr lang="en-US" sz="1600" dirty="0">
                <a:solidFill>
                  <a:srgbClr val="000000"/>
                </a:solidFill>
                <a:latin typeface="Consolas"/>
              </a:rPr>
              <a:t> </a:t>
            </a:r>
            <a:r>
              <a:rPr lang="en-US" sz="1600" dirty="0" err="1">
                <a:solidFill>
                  <a:srgbClr val="000000"/>
                </a:solidFill>
                <a:latin typeface="Consolas"/>
              </a:rPr>
              <a:t>list_item</a:t>
            </a:r>
            <a:r>
              <a:rPr lang="en-US" sz="1600" dirty="0">
                <a:solidFill>
                  <a:srgbClr val="000000"/>
                </a:solidFill>
                <a:latin typeface="Consolas"/>
              </a:rPr>
              <a:t> </a:t>
            </a:r>
            <a:r>
              <a:rPr lang="en-US" sz="1600" dirty="0">
                <a:solidFill>
                  <a:srgbClr val="0000FF"/>
                </a:solidFill>
                <a:latin typeface="Consolas"/>
              </a:rPr>
              <a:t>in</a:t>
            </a:r>
            <a:r>
              <a:rPr lang="en-US" sz="1600" dirty="0">
                <a:solidFill>
                  <a:srgbClr val="000000"/>
                </a:solidFill>
                <a:latin typeface="Consolas"/>
              </a:rPr>
              <a:t> </a:t>
            </a:r>
            <a:r>
              <a:rPr lang="en-US" sz="1600" dirty="0" err="1">
                <a:solidFill>
                  <a:srgbClr val="000000"/>
                </a:solidFill>
                <a:latin typeface="Consolas"/>
              </a:rPr>
              <a:t>my_list</a:t>
            </a:r>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00FF"/>
                </a:solidFill>
                <a:latin typeface="Consolas"/>
              </a:rPr>
              <a:t>if</a:t>
            </a:r>
            <a:r>
              <a:rPr lang="en-US" sz="1600" dirty="0">
                <a:solidFill>
                  <a:srgbClr val="000000"/>
                </a:solidFill>
                <a:latin typeface="Consolas"/>
              </a:rPr>
              <a:t> </a:t>
            </a:r>
            <a:r>
              <a:rPr lang="en-US" sz="1600" dirty="0" err="1">
                <a:solidFill>
                  <a:srgbClr val="000000"/>
                </a:solidFill>
                <a:latin typeface="Consolas"/>
              </a:rPr>
              <a:t>list_item</a:t>
            </a:r>
            <a:r>
              <a:rPr lang="en-US" sz="1600" dirty="0">
                <a:solidFill>
                  <a:srgbClr val="000000"/>
                </a:solidFill>
                <a:latin typeface="Consolas"/>
              </a:rPr>
              <a:t> % </a:t>
            </a:r>
            <a:r>
              <a:rPr lang="en-US" sz="1600" dirty="0">
                <a:solidFill>
                  <a:srgbClr val="098658"/>
                </a:solidFill>
                <a:latin typeface="Consolas"/>
              </a:rPr>
              <a:t>2</a:t>
            </a:r>
            <a:r>
              <a:rPr lang="en-US" sz="1600" dirty="0">
                <a:solidFill>
                  <a:srgbClr val="000000"/>
                </a:solidFill>
                <a:latin typeface="Consolas"/>
              </a:rPr>
              <a:t> == </a:t>
            </a:r>
            <a:r>
              <a:rPr lang="en-US" sz="1600" dirty="0">
                <a:solidFill>
                  <a:srgbClr val="098658"/>
                </a:solidFill>
                <a:latin typeface="Consolas"/>
              </a:rPr>
              <a:t>0</a:t>
            </a:r>
            <a:r>
              <a:rPr lang="en-US" sz="1600" dirty="0">
                <a:solidFill>
                  <a:srgbClr val="000000"/>
                </a:solidFill>
                <a:latin typeface="Consolas"/>
              </a:rPr>
              <a:t> :</a:t>
            </a:r>
          </a:p>
          <a:p>
            <a:r>
              <a:rPr lang="en-US" sz="1600" dirty="0">
                <a:solidFill>
                  <a:srgbClr val="000000"/>
                </a:solidFill>
                <a:latin typeface="Consolas"/>
              </a:rPr>
              <a:t>        print(</a:t>
            </a:r>
            <a:r>
              <a:rPr lang="en-US" sz="1600" dirty="0" err="1">
                <a:solidFill>
                  <a:srgbClr val="000000"/>
                </a:solidFill>
                <a:latin typeface="Consolas"/>
              </a:rPr>
              <a:t>list_item</a:t>
            </a:r>
            <a:r>
              <a:rPr lang="en-US" sz="1600" dirty="0">
                <a:solidFill>
                  <a:srgbClr val="000000"/>
                </a:solidFill>
                <a:latin typeface="Consolas"/>
              </a:rPr>
              <a:t>)</a:t>
            </a:r>
            <a:endParaRPr lang="en-US" sz="1600" b="0" dirty="0">
              <a:solidFill>
                <a:srgbClr val="000000"/>
              </a:solidFill>
              <a:latin typeface="Consolas"/>
            </a:endParaRPr>
          </a:p>
        </p:txBody>
      </p:sp>
      <p:sp>
        <p:nvSpPr>
          <p:cNvPr id="14" name="Rectangle 13">
            <a:extLst>
              <a:ext uri="{FF2B5EF4-FFF2-40B4-BE49-F238E27FC236}">
                <a16:creationId xmlns:a16="http://schemas.microsoft.com/office/drawing/2014/main" xmlns="" id="{35F9F4A0-4592-C04D-B2D0-0BF66A3BFA20}"/>
              </a:ext>
            </a:extLst>
          </p:cNvPr>
          <p:cNvSpPr/>
          <p:nvPr/>
        </p:nvSpPr>
        <p:spPr>
          <a:xfrm>
            <a:off x="6039714" y="4407829"/>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15" name="Rectangle: Top Corners Rounded 6">
            <a:extLst>
              <a:ext uri="{FF2B5EF4-FFF2-40B4-BE49-F238E27FC236}">
                <a16:creationId xmlns:a16="http://schemas.microsoft.com/office/drawing/2014/main" xmlns="" id="{0336C271-A2A3-9445-9946-5006F0A250F4}"/>
              </a:ext>
            </a:extLst>
          </p:cNvPr>
          <p:cNvSpPr/>
          <p:nvPr/>
        </p:nvSpPr>
        <p:spPr>
          <a:xfrm>
            <a:off x="6039714" y="4078645"/>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fordemo2.py</a:t>
            </a:r>
          </a:p>
        </p:txBody>
      </p:sp>
      <p:sp>
        <p:nvSpPr>
          <p:cNvPr id="16" name="Line Callout 1 15"/>
          <p:cNvSpPr/>
          <p:nvPr/>
        </p:nvSpPr>
        <p:spPr>
          <a:xfrm>
            <a:off x="10101002" y="4071668"/>
            <a:ext cx="1406636" cy="1449238"/>
          </a:xfrm>
          <a:prstGeom prst="borderCallout1">
            <a:avLst>
              <a:gd name="adj1" fmla="val 53885"/>
              <a:gd name="adj2" fmla="val -612"/>
              <a:gd name="adj3" fmla="val 87741"/>
              <a:gd name="adj4" fmla="val -5137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Output :</a:t>
            </a:r>
          </a:p>
          <a:p>
            <a:pPr algn="ctr"/>
            <a:r>
              <a:rPr lang="en-IN" dirty="0">
                <a:solidFill>
                  <a:schemeClr val="tx1"/>
                </a:solidFill>
              </a:rPr>
              <a:t>2</a:t>
            </a:r>
          </a:p>
          <a:p>
            <a:pPr algn="ctr"/>
            <a:r>
              <a:rPr lang="en-IN" dirty="0">
                <a:solidFill>
                  <a:schemeClr val="tx1"/>
                </a:solidFill>
              </a:rPr>
              <a:t>4</a:t>
            </a:r>
          </a:p>
          <a:p>
            <a:pPr algn="ctr"/>
            <a:r>
              <a:rPr lang="en-IN" dirty="0">
                <a:solidFill>
                  <a:schemeClr val="tx1"/>
                </a:solidFill>
              </a:rPr>
              <a:t>6</a:t>
            </a:r>
          </a:p>
          <a:p>
            <a:pPr algn="ctr"/>
            <a:r>
              <a:rPr lang="en-IN" dirty="0">
                <a:solidFill>
                  <a:schemeClr val="tx1"/>
                </a:solidFill>
              </a:rPr>
              <a:t>8</a:t>
            </a:r>
            <a:endParaRPr lang="en-US" dirty="0">
              <a:solidFill>
                <a:schemeClr val="tx1"/>
              </a:solidFill>
            </a:endParaRPr>
          </a:p>
        </p:txBody>
      </p:sp>
    </p:spTree>
    <p:extLst>
      <p:ext uri="{BB962C8B-B14F-4D97-AF65-F5344CB8AC3E}">
        <p14:creationId xmlns:p14="http://schemas.microsoft.com/office/powerpoint/2010/main" val="381462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8"/>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3">
                                            <p:bg/>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P spid="7" grpId="0" animBg="1"/>
      <p:bldP spid="7" grpId="1" animBg="1"/>
      <p:bldP spid="8" grpId="0" animBg="1"/>
      <p:bldP spid="8" grpId="1" animBg="1"/>
      <p:bldP spid="9" grpId="0" build="p" animBg="1"/>
      <p:bldP spid="10" grpId="0" animBg="1"/>
      <p:bldP spid="11" grpId="0" animBg="1"/>
      <p:bldP spid="12" grpId="0" animBg="1"/>
      <p:bldP spid="12" grpId="1" animBg="1"/>
      <p:bldP spid="13" grpId="0" build="p" animBg="1"/>
      <p:bldP spid="14" grpId="0" animBg="1"/>
      <p:bldP spid="15" grpId="0" animBg="1"/>
      <p:bldP spid="16" grpId="0" animBg="1"/>
      <p:bldP spid="16" grpId="1"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3855"/>
            <a:ext cx="11929641" cy="5590565"/>
          </a:xfrm>
        </p:spPr>
        <p:txBody>
          <a:bodyPr/>
          <a:lstStyle/>
          <a:p>
            <a:r>
              <a:rPr lang="en-IN" dirty="0"/>
              <a:t># Program to find the sum of all numbers stored in a list</a:t>
            </a:r>
          </a:p>
        </p:txBody>
      </p:sp>
      <p:sp>
        <p:nvSpPr>
          <p:cNvPr id="4" name="Rectangle 3"/>
          <p:cNvSpPr/>
          <p:nvPr/>
        </p:nvSpPr>
        <p:spPr>
          <a:xfrm>
            <a:off x="560294" y="1138588"/>
            <a:ext cx="6096000" cy="3416320"/>
          </a:xfrm>
          <a:prstGeom prst="rect">
            <a:avLst/>
          </a:prstGeom>
        </p:spPr>
        <p:txBody>
          <a:bodyPr>
            <a:spAutoFit/>
          </a:bodyPr>
          <a:lstStyle/>
          <a:p>
            <a:endParaRPr lang="en-IN" dirty="0"/>
          </a:p>
          <a:p>
            <a:r>
              <a:rPr lang="en-IN" dirty="0"/>
              <a:t># List of numbers</a:t>
            </a:r>
          </a:p>
          <a:p>
            <a:r>
              <a:rPr lang="en-IN" dirty="0"/>
              <a:t>numbers = [6, 5, 3, 8, 4, 2, 5, 4, 11]</a:t>
            </a:r>
          </a:p>
          <a:p>
            <a:endParaRPr lang="en-IN" dirty="0"/>
          </a:p>
          <a:p>
            <a:r>
              <a:rPr lang="en-IN" dirty="0"/>
              <a:t># variable to store the sum</a:t>
            </a:r>
          </a:p>
          <a:p>
            <a:r>
              <a:rPr lang="en-IN" dirty="0"/>
              <a:t>sum = 0</a:t>
            </a:r>
          </a:p>
          <a:p>
            <a:endParaRPr lang="en-IN" dirty="0"/>
          </a:p>
          <a:p>
            <a:r>
              <a:rPr lang="en-IN" dirty="0"/>
              <a:t># iterate over the list</a:t>
            </a:r>
          </a:p>
          <a:p>
            <a:r>
              <a:rPr lang="en-IN" dirty="0"/>
              <a:t>for </a:t>
            </a:r>
            <a:r>
              <a:rPr lang="en-IN" dirty="0" err="1"/>
              <a:t>val</a:t>
            </a:r>
            <a:r>
              <a:rPr lang="en-IN" dirty="0"/>
              <a:t> in numbers:</a:t>
            </a:r>
          </a:p>
          <a:p>
            <a:r>
              <a:rPr lang="en-IN" dirty="0"/>
              <a:t>    sum = </a:t>
            </a:r>
            <a:r>
              <a:rPr lang="en-IN" dirty="0" err="1"/>
              <a:t>sum+val</a:t>
            </a:r>
            <a:endParaRPr lang="en-IN" dirty="0"/>
          </a:p>
          <a:p>
            <a:endParaRPr lang="en-IN" dirty="0"/>
          </a:p>
          <a:p>
            <a:r>
              <a:rPr lang="en-IN" dirty="0"/>
              <a:t>print("The sum is", sum)</a:t>
            </a:r>
          </a:p>
        </p:txBody>
      </p:sp>
    </p:spTree>
    <p:extLst>
      <p:ext uri="{BB962C8B-B14F-4D97-AF65-F5344CB8AC3E}">
        <p14:creationId xmlns:p14="http://schemas.microsoft.com/office/powerpoint/2010/main" val="183381683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 continue</a:t>
            </a:r>
            <a:endParaRPr lang="en-IN" dirty="0"/>
          </a:p>
        </p:txBody>
      </p:sp>
      <p:sp useBgFill="1">
        <p:nvSpPr>
          <p:cNvPr id="3" name="Content Placeholder 2"/>
          <p:cNvSpPr>
            <a:spLocks noGrp="1"/>
          </p:cNvSpPr>
          <p:nvPr>
            <p:ph idx="1"/>
          </p:nvPr>
        </p:nvSpPr>
        <p:spPr>
          <a:xfrm>
            <a:off x="131181" y="863445"/>
            <a:ext cx="3580208" cy="2000780"/>
          </a:xfrm>
        </p:spPr>
        <p:txBody>
          <a:bodyPr/>
          <a:lstStyle/>
          <a:p>
            <a:pPr marL="0" indent="0">
              <a:buNone/>
            </a:pPr>
            <a:endParaRPr lang="en-US" dirty="0"/>
          </a:p>
          <a:p>
            <a:pPr marL="0" indent="0" algn="l" defTabSz="457200">
              <a:buNone/>
            </a:pPr>
            <a:r>
              <a:rPr lang="en-US" sz="1800" b="1" dirty="0"/>
              <a:t>Example 1:</a:t>
            </a:r>
          </a:p>
          <a:p>
            <a:pPr marL="0" indent="0" algn="l" defTabSz="457200">
              <a:buNone/>
            </a:pPr>
            <a:r>
              <a:rPr lang="en-US" sz="1800" dirty="0"/>
              <a:t>n = 4</a:t>
            </a:r>
          </a:p>
          <a:p>
            <a:pPr marL="0" indent="0" algn="l" defTabSz="457200">
              <a:buNone/>
            </a:pPr>
            <a:r>
              <a:rPr lang="en-US" sz="1800" dirty="0"/>
              <a:t>for </a:t>
            </a:r>
            <a:r>
              <a:rPr lang="en-US" sz="1800" dirty="0" err="1"/>
              <a:t>i</a:t>
            </a:r>
            <a:r>
              <a:rPr lang="en-US" sz="1800" dirty="0"/>
              <a:t> in range(0, n):</a:t>
            </a:r>
          </a:p>
          <a:p>
            <a:pPr marL="0" lvl="1" indent="0" algn="l" defTabSz="457200">
              <a:buNone/>
            </a:pPr>
            <a:r>
              <a:rPr lang="en-US" sz="1800" dirty="0"/>
              <a:t>print(</a:t>
            </a:r>
            <a:r>
              <a:rPr lang="en-US" sz="1800" dirty="0" err="1"/>
              <a:t>i</a:t>
            </a:r>
            <a:r>
              <a:rPr lang="en-US" sz="1800" dirty="0"/>
              <a:t>)</a:t>
            </a:r>
          </a:p>
          <a:p>
            <a:endParaRPr lang="en-US" dirty="0"/>
          </a:p>
          <a:p>
            <a:endParaRPr lang="en-US" dirty="0"/>
          </a:p>
        </p:txBody>
      </p:sp>
      <p:sp>
        <p:nvSpPr>
          <p:cNvPr id="4" name="Rectangle 3"/>
          <p:cNvSpPr/>
          <p:nvPr/>
        </p:nvSpPr>
        <p:spPr>
          <a:xfrm>
            <a:off x="3389696" y="1262143"/>
            <a:ext cx="2991798" cy="2031325"/>
          </a:xfrm>
          <a:prstGeom prst="rect">
            <a:avLst/>
          </a:prstGeom>
        </p:spPr>
        <p:txBody>
          <a:bodyPr wrap="square">
            <a:spAutoFit/>
          </a:bodyPr>
          <a:lstStyle/>
          <a:p>
            <a:r>
              <a:rPr lang="en-US" b="1" dirty="0"/>
              <a:t>Example 3:</a:t>
            </a:r>
          </a:p>
          <a:p>
            <a:r>
              <a:rPr lang="en-US" dirty="0"/>
              <a:t># Python program to illustrate</a:t>
            </a:r>
          </a:p>
          <a:p>
            <a:r>
              <a:rPr lang="en-US" dirty="0"/>
              <a:t># Iterating by index </a:t>
            </a:r>
          </a:p>
          <a:p>
            <a:endParaRPr lang="en-US" dirty="0"/>
          </a:p>
          <a:p>
            <a:r>
              <a:rPr lang="en-US" dirty="0"/>
              <a:t>list = ["a", "b", "c"]</a:t>
            </a:r>
          </a:p>
          <a:p>
            <a:r>
              <a:rPr lang="en-US" dirty="0"/>
              <a:t>for index in range(</a:t>
            </a:r>
            <a:r>
              <a:rPr lang="en-US" dirty="0" err="1"/>
              <a:t>len</a:t>
            </a:r>
            <a:r>
              <a:rPr lang="en-US" dirty="0"/>
              <a:t>(list)):</a:t>
            </a:r>
          </a:p>
          <a:p>
            <a:r>
              <a:rPr lang="en-US" dirty="0"/>
              <a:t>    print(list[index])</a:t>
            </a:r>
          </a:p>
        </p:txBody>
      </p:sp>
      <p:sp>
        <p:nvSpPr>
          <p:cNvPr id="6" name="TextBox 5">
            <a:extLst>
              <a:ext uri="{FF2B5EF4-FFF2-40B4-BE49-F238E27FC236}">
                <a16:creationId xmlns:a16="http://schemas.microsoft.com/office/drawing/2014/main" xmlns="" id="{7E751277-4808-4BE7-5C37-2ECCA6A32CF8}"/>
              </a:ext>
            </a:extLst>
          </p:cNvPr>
          <p:cNvSpPr txBox="1"/>
          <p:nvPr/>
        </p:nvSpPr>
        <p:spPr>
          <a:xfrm>
            <a:off x="131181" y="3351979"/>
            <a:ext cx="2040519" cy="1754326"/>
          </a:xfrm>
          <a:prstGeom prst="rect">
            <a:avLst/>
          </a:prstGeom>
          <a:noFill/>
        </p:spPr>
        <p:txBody>
          <a:bodyPr wrap="square">
            <a:spAutoFit/>
          </a:bodyPr>
          <a:lstStyle/>
          <a:p>
            <a:r>
              <a:rPr lang="en-US" b="1" dirty="0"/>
              <a:t>Example 2:</a:t>
            </a:r>
          </a:p>
          <a:p>
            <a:r>
              <a:rPr lang="en-US" dirty="0"/>
              <a:t>Nested For Loop:</a:t>
            </a:r>
          </a:p>
          <a:p>
            <a:r>
              <a:rPr lang="en-US" dirty="0"/>
              <a:t>for </a:t>
            </a:r>
            <a:r>
              <a:rPr lang="en-US" dirty="0" err="1"/>
              <a:t>i</a:t>
            </a:r>
            <a:r>
              <a:rPr lang="en-US" dirty="0"/>
              <a:t> in range(1, 5):</a:t>
            </a:r>
          </a:p>
          <a:p>
            <a:r>
              <a:rPr lang="en-US" dirty="0"/>
              <a:t>    for j in range(</a:t>
            </a:r>
            <a:r>
              <a:rPr lang="en-US" dirty="0" err="1"/>
              <a:t>i</a:t>
            </a:r>
            <a:r>
              <a:rPr lang="en-US" dirty="0"/>
              <a:t>):</a:t>
            </a:r>
          </a:p>
          <a:p>
            <a:r>
              <a:rPr lang="en-US" dirty="0"/>
              <a:t>        print(</a:t>
            </a:r>
            <a:r>
              <a:rPr lang="en-US" dirty="0" err="1"/>
              <a:t>i</a:t>
            </a:r>
            <a:r>
              <a:rPr lang="en-US" dirty="0"/>
              <a:t>, end=' ')</a:t>
            </a:r>
          </a:p>
          <a:p>
            <a:r>
              <a:rPr lang="en-US" dirty="0"/>
              <a:t>    print()</a:t>
            </a:r>
          </a:p>
        </p:txBody>
      </p:sp>
      <p:sp>
        <p:nvSpPr>
          <p:cNvPr id="8" name="TextBox 7">
            <a:extLst>
              <a:ext uri="{FF2B5EF4-FFF2-40B4-BE49-F238E27FC236}">
                <a16:creationId xmlns:a16="http://schemas.microsoft.com/office/drawing/2014/main" xmlns="" id="{ECF210E0-D06E-55A2-EAE5-CD9092F1D24E}"/>
              </a:ext>
            </a:extLst>
          </p:cNvPr>
          <p:cNvSpPr txBox="1"/>
          <p:nvPr/>
        </p:nvSpPr>
        <p:spPr>
          <a:xfrm>
            <a:off x="7306406" y="741199"/>
            <a:ext cx="3976173" cy="4247317"/>
          </a:xfrm>
          <a:prstGeom prst="rect">
            <a:avLst/>
          </a:prstGeom>
          <a:noFill/>
        </p:spPr>
        <p:txBody>
          <a:bodyPr wrap="square">
            <a:spAutoFit/>
          </a:bodyPr>
          <a:lstStyle/>
          <a:p>
            <a:endParaRPr lang="en-US" dirty="0"/>
          </a:p>
          <a:p>
            <a:endParaRPr lang="en-US" b="1" dirty="0"/>
          </a:p>
          <a:p>
            <a:r>
              <a:rPr lang="en-US" b="1" dirty="0"/>
              <a:t>Example 5:</a:t>
            </a:r>
            <a:endParaRPr lang="en-US" dirty="0"/>
          </a:p>
          <a:p>
            <a:r>
              <a:rPr lang="en-US" dirty="0"/>
              <a:t># Flattening a list of lists using a loop</a:t>
            </a:r>
          </a:p>
          <a:p>
            <a:r>
              <a:rPr lang="en-US" dirty="0"/>
              <a:t>a = [[1, 2, 3], [4, 5, 6], [7, 8, 9]]</a:t>
            </a:r>
          </a:p>
          <a:p>
            <a:r>
              <a:rPr lang="en-US" dirty="0"/>
              <a:t>b = []</a:t>
            </a:r>
          </a:p>
          <a:p>
            <a:r>
              <a:rPr lang="en-US" dirty="0"/>
              <a:t>for </a:t>
            </a:r>
            <a:r>
              <a:rPr lang="en-US" dirty="0" err="1"/>
              <a:t>sublist</a:t>
            </a:r>
            <a:r>
              <a:rPr lang="en-US" dirty="0"/>
              <a:t> in a:</a:t>
            </a:r>
          </a:p>
          <a:p>
            <a:r>
              <a:rPr lang="en-US" dirty="0"/>
              <a:t>    for </a:t>
            </a:r>
            <a:r>
              <a:rPr lang="en-US" dirty="0" err="1"/>
              <a:t>i</a:t>
            </a:r>
            <a:r>
              <a:rPr lang="en-US" dirty="0"/>
              <a:t> in </a:t>
            </a:r>
            <a:r>
              <a:rPr lang="en-US" dirty="0" err="1"/>
              <a:t>sublist</a:t>
            </a:r>
            <a:r>
              <a:rPr lang="en-US" dirty="0"/>
              <a:t>:</a:t>
            </a:r>
          </a:p>
          <a:p>
            <a:r>
              <a:rPr lang="en-US" dirty="0"/>
              <a:t>        </a:t>
            </a:r>
            <a:r>
              <a:rPr lang="en-US" dirty="0" err="1"/>
              <a:t>b.append</a:t>
            </a:r>
            <a:r>
              <a:rPr lang="en-US" dirty="0"/>
              <a:t>(</a:t>
            </a:r>
            <a:r>
              <a:rPr lang="en-US" dirty="0" err="1"/>
              <a:t>i</a:t>
            </a:r>
            <a:r>
              <a:rPr lang="en-US" dirty="0"/>
              <a:t>)</a:t>
            </a:r>
          </a:p>
          <a:p>
            <a:r>
              <a:rPr lang="en-US" dirty="0"/>
              <a:t>print(b)</a:t>
            </a:r>
          </a:p>
          <a:p>
            <a:endParaRPr lang="en-US" dirty="0"/>
          </a:p>
          <a:p>
            <a:r>
              <a:rPr lang="en-US" b="1" dirty="0"/>
              <a:t>Example 6:</a:t>
            </a:r>
          </a:p>
          <a:p>
            <a:r>
              <a:rPr lang="en-US" dirty="0"/>
              <a:t>import </a:t>
            </a:r>
            <a:r>
              <a:rPr lang="en-US" dirty="0" err="1"/>
              <a:t>itertools</a:t>
            </a:r>
            <a:endParaRPr lang="en-US" dirty="0"/>
          </a:p>
          <a:p>
            <a:r>
              <a:rPr lang="en-US" dirty="0"/>
              <a:t>b = list(</a:t>
            </a:r>
            <a:r>
              <a:rPr lang="en-US" dirty="0" err="1"/>
              <a:t>itertools.chain</a:t>
            </a:r>
            <a:r>
              <a:rPr lang="en-US" dirty="0"/>
              <a:t>(*a))</a:t>
            </a:r>
          </a:p>
          <a:p>
            <a:r>
              <a:rPr lang="en-US" dirty="0"/>
              <a:t>print(b)</a:t>
            </a:r>
          </a:p>
        </p:txBody>
      </p:sp>
      <p:sp>
        <p:nvSpPr>
          <p:cNvPr id="10" name="TextBox 9">
            <a:extLst>
              <a:ext uri="{FF2B5EF4-FFF2-40B4-BE49-F238E27FC236}">
                <a16:creationId xmlns:a16="http://schemas.microsoft.com/office/drawing/2014/main" xmlns="" id="{4089AE2B-A8D0-2A9A-34B1-381AE150FAE7}"/>
              </a:ext>
            </a:extLst>
          </p:cNvPr>
          <p:cNvSpPr txBox="1"/>
          <p:nvPr/>
        </p:nvSpPr>
        <p:spPr>
          <a:xfrm>
            <a:off x="3298835" y="3429000"/>
            <a:ext cx="3884480" cy="2585323"/>
          </a:xfrm>
          <a:prstGeom prst="rect">
            <a:avLst/>
          </a:prstGeom>
          <a:noFill/>
        </p:spPr>
        <p:txBody>
          <a:bodyPr wrap="square">
            <a:spAutoFit/>
          </a:bodyPr>
          <a:lstStyle/>
          <a:p>
            <a:r>
              <a:rPr lang="en-US" b="1" dirty="0"/>
              <a:t>Example 4:</a:t>
            </a:r>
          </a:p>
          <a:p>
            <a:r>
              <a:rPr lang="en-US" dirty="0"/>
              <a:t>a = []</a:t>
            </a:r>
          </a:p>
          <a:p>
            <a:r>
              <a:rPr lang="en-US" dirty="0"/>
              <a:t>for </a:t>
            </a:r>
            <a:r>
              <a:rPr lang="en-US" dirty="0" err="1"/>
              <a:t>i</a:t>
            </a:r>
            <a:r>
              <a:rPr lang="en-US" dirty="0"/>
              <a:t> in range(8):</a:t>
            </a:r>
          </a:p>
          <a:p>
            <a:r>
              <a:rPr lang="en-US" dirty="0"/>
              <a:t>    </a:t>
            </a:r>
            <a:r>
              <a:rPr lang="en-US" dirty="0" err="1"/>
              <a:t>a.append</a:t>
            </a:r>
            <a:r>
              <a:rPr lang="en-US" dirty="0"/>
              <a:t>(</a:t>
            </a:r>
            <a:r>
              <a:rPr lang="en-US" dirty="0" err="1"/>
              <a:t>i</a:t>
            </a:r>
            <a:r>
              <a:rPr lang="en-US" dirty="0"/>
              <a:t>**2)</a:t>
            </a:r>
          </a:p>
          <a:p>
            <a:r>
              <a:rPr lang="en-US" dirty="0"/>
              <a:t>print("Using Loop: ", a)</a:t>
            </a:r>
          </a:p>
          <a:p>
            <a:endParaRPr lang="en-US" dirty="0"/>
          </a:p>
          <a:p>
            <a:r>
              <a:rPr lang="en-US" dirty="0"/>
              <a:t># With list comprehension</a:t>
            </a:r>
          </a:p>
          <a:p>
            <a:r>
              <a:rPr lang="en-US" dirty="0"/>
              <a:t>b = [</a:t>
            </a:r>
            <a:r>
              <a:rPr lang="en-US" dirty="0" err="1"/>
              <a:t>i</a:t>
            </a:r>
            <a:r>
              <a:rPr lang="en-US" dirty="0"/>
              <a:t>**2 for </a:t>
            </a:r>
            <a:r>
              <a:rPr lang="en-US" dirty="0" err="1"/>
              <a:t>i</a:t>
            </a:r>
            <a:r>
              <a:rPr lang="en-US" dirty="0"/>
              <a:t> in range(8)]</a:t>
            </a:r>
          </a:p>
          <a:p>
            <a:r>
              <a:rPr lang="en-US" dirty="0"/>
              <a:t>print("Using List Comprehension: ", b)</a:t>
            </a:r>
          </a:p>
        </p:txBody>
      </p:sp>
    </p:spTree>
    <p:extLst>
      <p:ext uri="{BB962C8B-B14F-4D97-AF65-F5344CB8AC3E}">
        <p14:creationId xmlns:p14="http://schemas.microsoft.com/office/powerpoint/2010/main" val="31702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
                                            <p:txEl>
                                              <p:pRg st="11" end="1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
                                            <p:txEl>
                                              <p:pRg st="12" end="12"/>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
                                            <p:txEl>
                                              <p:pRg st="13" end="13"/>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8F480A-F02E-3BDA-CB78-E12ED31F18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04ADED6-7F58-A07F-723F-8C168CBF6BD6}"/>
              </a:ext>
            </a:extLst>
          </p:cNvPr>
          <p:cNvSpPr>
            <a:spLocks noGrp="1"/>
          </p:cNvSpPr>
          <p:nvPr>
            <p:ph idx="1"/>
          </p:nvPr>
        </p:nvSpPr>
        <p:spPr>
          <a:xfrm>
            <a:off x="131180" y="863444"/>
            <a:ext cx="4906811" cy="5590565"/>
          </a:xfrm>
        </p:spPr>
        <p:txBody>
          <a:bodyPr/>
          <a:lstStyle/>
          <a:p>
            <a:pPr marL="0" indent="0">
              <a:buNone/>
            </a:pPr>
            <a:r>
              <a:rPr lang="en-US" sz="1800" dirty="0">
                <a:solidFill>
                  <a:schemeClr val="accent5">
                    <a:lumMod val="75000"/>
                  </a:schemeClr>
                </a:solidFill>
                <a:latin typeface="Times New Roman" panose="02020603050405020304" pitchFamily="18" charset="0"/>
                <a:cs typeface="Times New Roman" panose="02020603050405020304" pitchFamily="18" charset="0"/>
              </a:rPr>
              <a:t>print("1. Single Space")</a:t>
            </a:r>
          </a:p>
          <a:p>
            <a:pPr marL="0" indent="0">
              <a:buNone/>
            </a:pPr>
            <a:r>
              <a:rPr lang="en-US" sz="1800" dirty="0">
                <a:latin typeface="Times New Roman" panose="02020603050405020304" pitchFamily="18" charset="0"/>
                <a:cs typeface="Times New Roman" panose="02020603050405020304" pitchFamily="18" charset="0"/>
              </a:rPr>
              <a:t>print("Hello", end=" ")</a:t>
            </a:r>
          </a:p>
          <a:p>
            <a:pPr marL="0" indent="0">
              <a:buNone/>
            </a:pPr>
            <a:r>
              <a:rPr lang="en-US" sz="1800" dirty="0">
                <a:latin typeface="Times New Roman" panose="02020603050405020304" pitchFamily="18" charset="0"/>
                <a:cs typeface="Times New Roman" panose="02020603050405020304" pitchFamily="18" charset="0"/>
              </a:rPr>
              <a:t>print("World")</a:t>
            </a:r>
          </a:p>
          <a:p>
            <a:pPr marL="0" indent="0">
              <a:buNone/>
            </a:pPr>
            <a:r>
              <a:rPr lang="en-US" sz="1800" dirty="0">
                <a:solidFill>
                  <a:schemeClr val="accent5">
                    <a:lumMod val="75000"/>
                  </a:schemeClr>
                </a:solidFill>
                <a:latin typeface="Times New Roman" panose="02020603050405020304" pitchFamily="18" charset="0"/>
                <a:cs typeface="Times New Roman" panose="02020603050405020304" pitchFamily="18" charset="0"/>
              </a:rPr>
              <a:t>print("\n2. Multiple Spaces")</a:t>
            </a:r>
          </a:p>
          <a:p>
            <a:pPr marL="0" indent="0">
              <a:buNone/>
            </a:pPr>
            <a:r>
              <a:rPr lang="en-US" sz="1800" dirty="0">
                <a:latin typeface="Times New Roman" panose="02020603050405020304" pitchFamily="18" charset="0"/>
                <a:cs typeface="Times New Roman" panose="02020603050405020304" pitchFamily="18" charset="0"/>
              </a:rPr>
              <a:t>print("Hello", end="     ")</a:t>
            </a:r>
          </a:p>
          <a:p>
            <a:pPr marL="0" indent="0">
              <a:buNone/>
            </a:pPr>
            <a:r>
              <a:rPr lang="en-US" sz="1800" dirty="0">
                <a:latin typeface="Times New Roman" panose="02020603050405020304" pitchFamily="18" charset="0"/>
                <a:cs typeface="Times New Roman" panose="02020603050405020304" pitchFamily="18" charset="0"/>
              </a:rPr>
              <a:t>print("World")</a:t>
            </a:r>
          </a:p>
          <a:p>
            <a:pPr marL="0" indent="0">
              <a:buNone/>
            </a:pPr>
            <a:r>
              <a:rPr lang="en-US" sz="1800" dirty="0">
                <a:solidFill>
                  <a:schemeClr val="accent5">
                    <a:lumMod val="75000"/>
                  </a:schemeClr>
                </a:solidFill>
                <a:latin typeface="Times New Roman" panose="02020603050405020304" pitchFamily="18" charset="0"/>
                <a:cs typeface="Times New Roman" panose="02020603050405020304" pitchFamily="18" charset="0"/>
              </a:rPr>
              <a:t>print("\n3. Tab Space (\\t)")</a:t>
            </a:r>
          </a:p>
          <a:p>
            <a:pPr marL="0" indent="0">
              <a:buNone/>
            </a:pPr>
            <a:r>
              <a:rPr lang="en-US" sz="1800" dirty="0">
                <a:latin typeface="Times New Roman" panose="02020603050405020304" pitchFamily="18" charset="0"/>
                <a:cs typeface="Times New Roman" panose="02020603050405020304" pitchFamily="18" charset="0"/>
              </a:rPr>
              <a:t>print("Name\</a:t>
            </a:r>
            <a:r>
              <a:rPr lang="en-US" sz="1800" dirty="0" err="1">
                <a:latin typeface="Times New Roman" panose="02020603050405020304" pitchFamily="18" charset="0"/>
                <a:cs typeface="Times New Roman" panose="02020603050405020304" pitchFamily="18" charset="0"/>
              </a:rPr>
              <a:t>tAge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tCity</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print("Bijal\t30\</a:t>
            </a:r>
            <a:r>
              <a:rPr lang="en-US" sz="1800" dirty="0" err="1">
                <a:latin typeface="Times New Roman" panose="02020603050405020304" pitchFamily="18" charset="0"/>
                <a:cs typeface="Times New Roman" panose="02020603050405020304" pitchFamily="18" charset="0"/>
              </a:rPr>
              <a:t>tAhmedabad</a:t>
            </a:r>
            <a:r>
              <a:rPr lang="en-US" sz="1800" dirty="0">
                <a:latin typeface="Times New Roman" panose="02020603050405020304" pitchFamily="18" charset="0"/>
                <a:cs typeface="Times New Roman" panose="02020603050405020304" pitchFamily="18" charset="0"/>
              </a:rPr>
              <a:t>")</a:t>
            </a:r>
          </a:p>
          <a:p>
            <a:pPr marL="0" indent="0">
              <a:buNone/>
            </a:pPr>
            <a:r>
              <a:rPr lang="en-US" sz="1800" dirty="0">
                <a:solidFill>
                  <a:schemeClr val="accent5">
                    <a:lumMod val="75000"/>
                  </a:schemeClr>
                </a:solidFill>
                <a:latin typeface="Times New Roman" panose="02020603050405020304" pitchFamily="18" charset="0"/>
                <a:cs typeface="Times New Roman" panose="02020603050405020304" pitchFamily="18" charset="0"/>
              </a:rPr>
              <a:t>print("\n4. New Line (\\n)")</a:t>
            </a:r>
          </a:p>
          <a:p>
            <a:pPr marL="0" indent="0">
              <a:buNone/>
            </a:pPr>
            <a:r>
              <a:rPr lang="en-US" sz="1800" dirty="0">
                <a:latin typeface="Times New Roman" panose="02020603050405020304" pitchFamily="18" charset="0"/>
                <a:cs typeface="Times New Roman" panose="02020603050405020304" pitchFamily="18" charset="0"/>
              </a:rPr>
              <a:t>print("Python\n </a:t>
            </a:r>
            <a:r>
              <a:rPr lang="en-US" sz="1800" dirty="0" err="1">
                <a:latin typeface="Times New Roman" panose="02020603050405020304" pitchFamily="18" charset="0"/>
                <a:cs typeface="Times New Roman" panose="02020603050405020304" pitchFamily="18" charset="0"/>
              </a:rPr>
              <a:t>DataScience</a:t>
            </a:r>
            <a:r>
              <a:rPr lang="en-US" sz="1800" dirty="0">
                <a:latin typeface="Times New Roman" panose="02020603050405020304" pitchFamily="18" charset="0"/>
                <a:cs typeface="Times New Roman" panose="02020603050405020304" pitchFamily="18" charset="0"/>
              </a:rPr>
              <a:t>\n Machine Learning")</a:t>
            </a:r>
          </a:p>
          <a:p>
            <a:pPr marL="0" indent="0">
              <a:buNone/>
            </a:pPr>
            <a:r>
              <a:rPr lang="en-US" sz="1800" dirty="0">
                <a:solidFill>
                  <a:schemeClr val="accent5">
                    <a:lumMod val="75000"/>
                  </a:schemeClr>
                </a:solidFill>
                <a:latin typeface="Times New Roman" panose="02020603050405020304" pitchFamily="18" charset="0"/>
                <a:cs typeface="Times New Roman" panose="02020603050405020304" pitchFamily="18" charset="0"/>
              </a:rPr>
              <a:t>print("\n5. Spaces using string multiplication")</a:t>
            </a:r>
          </a:p>
          <a:p>
            <a:pPr marL="0" indent="0">
              <a:buNone/>
            </a:pPr>
            <a:r>
              <a:rPr lang="en-US" sz="1800" dirty="0">
                <a:latin typeface="Times New Roman" panose="02020603050405020304" pitchFamily="18" charset="0"/>
                <a:cs typeface="Times New Roman" panose="02020603050405020304" pitchFamily="18" charset="0"/>
              </a:rPr>
              <a:t>print("Hello" + " " * 10 + "World")</a:t>
            </a:r>
          </a:p>
        </p:txBody>
      </p:sp>
      <p:sp>
        <p:nvSpPr>
          <p:cNvPr id="5" name="TextBox 4">
            <a:extLst>
              <a:ext uri="{FF2B5EF4-FFF2-40B4-BE49-F238E27FC236}">
                <a16:creationId xmlns:a16="http://schemas.microsoft.com/office/drawing/2014/main" xmlns="" id="{091603FC-E162-46E7-F91F-8DA618890D79}"/>
              </a:ext>
            </a:extLst>
          </p:cNvPr>
          <p:cNvSpPr txBox="1"/>
          <p:nvPr/>
        </p:nvSpPr>
        <p:spPr>
          <a:xfrm>
            <a:off x="5932581" y="942762"/>
            <a:ext cx="6128238" cy="5016758"/>
          </a:xfrm>
          <a:prstGeom prst="rect">
            <a:avLst/>
          </a:prstGeom>
          <a:noFill/>
        </p:spPr>
        <p:txBody>
          <a:bodyPr wrap="square">
            <a:spAutoFit/>
          </a:bodyPr>
          <a:lstStyle/>
          <a:p>
            <a:r>
              <a:rPr lang="en-US" sz="2000" dirty="0">
                <a:solidFill>
                  <a:schemeClr val="accent5">
                    <a:lumMod val="75000"/>
                  </a:schemeClr>
                </a:solidFill>
              </a:rPr>
              <a:t>print("\n6. Leading and Trailing Spaces")</a:t>
            </a:r>
          </a:p>
          <a:p>
            <a:r>
              <a:rPr lang="en-US" sz="2000" dirty="0"/>
              <a:t>print("     Python")</a:t>
            </a:r>
          </a:p>
          <a:p>
            <a:r>
              <a:rPr lang="en-US" sz="2000" dirty="0"/>
              <a:t>print("Python     ")</a:t>
            </a:r>
          </a:p>
          <a:p>
            <a:r>
              <a:rPr lang="en-US" sz="2000" dirty="0">
                <a:solidFill>
                  <a:schemeClr val="accent5">
                    <a:lumMod val="75000"/>
                  </a:schemeClr>
                </a:solidFill>
              </a:rPr>
              <a:t>print("\n7. Center Alignment")</a:t>
            </a:r>
          </a:p>
          <a:p>
            <a:r>
              <a:rPr lang="en-US" sz="2000" dirty="0"/>
              <a:t>print("</a:t>
            </a:r>
            <a:r>
              <a:rPr lang="en-US" sz="2000" dirty="0" err="1"/>
              <a:t>Python".center</a:t>
            </a:r>
            <a:r>
              <a:rPr lang="en-US" sz="2000" dirty="0"/>
              <a:t>(20))</a:t>
            </a:r>
          </a:p>
          <a:p>
            <a:r>
              <a:rPr lang="en-US" sz="2000" dirty="0">
                <a:solidFill>
                  <a:schemeClr val="accent5">
                    <a:lumMod val="75000"/>
                  </a:schemeClr>
                </a:solidFill>
              </a:rPr>
              <a:t>print("\n8. Right Alignment")</a:t>
            </a:r>
          </a:p>
          <a:p>
            <a:r>
              <a:rPr lang="en-US" sz="2000" dirty="0"/>
              <a:t>print("Python".</a:t>
            </a:r>
            <a:r>
              <a:rPr lang="en-US" sz="2000" dirty="0" err="1"/>
              <a:t>rjust</a:t>
            </a:r>
            <a:r>
              <a:rPr lang="en-US" sz="2000" dirty="0"/>
              <a:t>(20))</a:t>
            </a:r>
          </a:p>
          <a:p>
            <a:r>
              <a:rPr lang="en-US" sz="2000" dirty="0">
                <a:solidFill>
                  <a:schemeClr val="accent5">
                    <a:lumMod val="75000"/>
                  </a:schemeClr>
                </a:solidFill>
              </a:rPr>
              <a:t>print("\n9. Left Alignment")</a:t>
            </a:r>
          </a:p>
          <a:p>
            <a:r>
              <a:rPr lang="en-US" sz="2000" dirty="0"/>
              <a:t>print("Python".</a:t>
            </a:r>
            <a:r>
              <a:rPr lang="en-US" sz="2000" dirty="0" err="1"/>
              <a:t>ljust</a:t>
            </a:r>
            <a:r>
              <a:rPr lang="en-US" sz="2000" dirty="0"/>
              <a:t>(20))</a:t>
            </a:r>
          </a:p>
          <a:p>
            <a:endParaRPr lang="en-US" sz="2000" dirty="0"/>
          </a:p>
          <a:p>
            <a:r>
              <a:rPr lang="en-US" sz="2000" dirty="0">
                <a:solidFill>
                  <a:schemeClr val="accent5">
                    <a:lumMod val="75000"/>
                  </a:schemeClr>
                </a:solidFill>
              </a:rPr>
              <a:t>print("\n10. Pattern using spaces")</a:t>
            </a:r>
          </a:p>
          <a:p>
            <a:r>
              <a:rPr lang="en-US" sz="2000" dirty="0"/>
              <a:t>for </a:t>
            </a:r>
            <a:r>
              <a:rPr lang="en-US" sz="2000" dirty="0" err="1"/>
              <a:t>i</a:t>
            </a:r>
            <a:r>
              <a:rPr lang="en-US" sz="2000" dirty="0"/>
              <a:t> in range(1, 6):</a:t>
            </a:r>
          </a:p>
          <a:p>
            <a:r>
              <a:rPr lang="en-US" sz="2000" dirty="0"/>
              <a:t>    print(" " * (5 - </a:t>
            </a:r>
            <a:r>
              <a:rPr lang="en-US" sz="2000" dirty="0" err="1"/>
              <a:t>i</a:t>
            </a:r>
            <a:r>
              <a:rPr lang="en-US" sz="2000" dirty="0"/>
              <a:t>) + "*" * </a:t>
            </a:r>
            <a:r>
              <a:rPr lang="en-US" sz="2000" dirty="0" err="1"/>
              <a:t>i</a:t>
            </a:r>
            <a:r>
              <a:rPr lang="en-US" sz="2000" dirty="0"/>
              <a:t>)</a:t>
            </a:r>
          </a:p>
          <a:p>
            <a:endParaRPr lang="en-US" sz="2000" dirty="0"/>
          </a:p>
          <a:p>
            <a:r>
              <a:rPr lang="en-US" sz="2000" dirty="0"/>
              <a:t>print("Start", "Middle", "End", </a:t>
            </a:r>
            <a:r>
              <a:rPr lang="en-US" sz="2000" dirty="0" err="1">
                <a:solidFill>
                  <a:schemeClr val="accent5">
                    <a:lumMod val="75000"/>
                  </a:schemeClr>
                </a:solidFill>
              </a:rPr>
              <a:t>sep</a:t>
            </a:r>
            <a:r>
              <a:rPr lang="en-US" sz="2000" dirty="0"/>
              <a:t>=" --&gt; ")</a:t>
            </a:r>
          </a:p>
          <a:p>
            <a:r>
              <a:rPr lang="en-US" sz="2000" dirty="0"/>
              <a:t>print("A", "B", "C", </a:t>
            </a:r>
            <a:r>
              <a:rPr lang="en-US" sz="2000" dirty="0" err="1">
                <a:solidFill>
                  <a:schemeClr val="accent5">
                    <a:lumMod val="75000"/>
                  </a:schemeClr>
                </a:solidFill>
              </a:rPr>
              <a:t>sep</a:t>
            </a:r>
            <a:r>
              <a:rPr lang="en-US" sz="2000" dirty="0"/>
              <a:t>="-", </a:t>
            </a:r>
            <a:r>
              <a:rPr lang="en-US" sz="2000" dirty="0">
                <a:solidFill>
                  <a:schemeClr val="accent5">
                    <a:lumMod val="75000"/>
                  </a:schemeClr>
                </a:solidFill>
              </a:rPr>
              <a:t>end</a:t>
            </a:r>
            <a:r>
              <a:rPr lang="en-US" sz="2000" dirty="0"/>
              <a:t>=" ")</a:t>
            </a:r>
          </a:p>
        </p:txBody>
      </p:sp>
    </p:spTree>
    <p:extLst>
      <p:ext uri="{BB962C8B-B14F-4D97-AF65-F5344CB8AC3E}">
        <p14:creationId xmlns:p14="http://schemas.microsoft.com/office/powerpoint/2010/main" val="399548626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Statement and Continue Statement</a:t>
            </a:r>
            <a:endParaRPr lang="en-IN" dirty="0"/>
          </a:p>
        </p:txBody>
      </p:sp>
      <p:sp>
        <p:nvSpPr>
          <p:cNvPr id="3" name="Content Placeholder 2"/>
          <p:cNvSpPr>
            <a:spLocks noGrp="1"/>
          </p:cNvSpPr>
          <p:nvPr>
            <p:ph idx="1"/>
          </p:nvPr>
        </p:nvSpPr>
        <p:spPr>
          <a:xfrm>
            <a:off x="131181" y="863444"/>
            <a:ext cx="2047244" cy="5590565"/>
          </a:xfrm>
        </p:spPr>
        <p:txBody>
          <a:bodyPr/>
          <a:lstStyle/>
          <a:p>
            <a:pPr marL="0" indent="0">
              <a:buNone/>
            </a:pPr>
            <a:r>
              <a:rPr lang="en-IN" dirty="0" err="1"/>
              <a:t>i</a:t>
            </a:r>
            <a:r>
              <a:rPr lang="en-IN" dirty="0"/>
              <a:t> = 1</a:t>
            </a:r>
          </a:p>
          <a:p>
            <a:pPr marL="0" indent="0">
              <a:buNone/>
            </a:pPr>
            <a:r>
              <a:rPr lang="en-IN" dirty="0"/>
              <a:t>while </a:t>
            </a:r>
            <a:r>
              <a:rPr lang="en-IN" dirty="0" err="1"/>
              <a:t>i</a:t>
            </a:r>
            <a:r>
              <a:rPr lang="en-IN" dirty="0"/>
              <a:t> &lt; 6:</a:t>
            </a:r>
          </a:p>
          <a:p>
            <a:pPr marL="0" indent="0">
              <a:buNone/>
            </a:pPr>
            <a:r>
              <a:rPr lang="en-IN" dirty="0"/>
              <a:t>  print(</a:t>
            </a:r>
            <a:r>
              <a:rPr lang="en-IN" dirty="0" err="1"/>
              <a:t>i</a:t>
            </a:r>
            <a:r>
              <a:rPr lang="en-IN" dirty="0"/>
              <a:t>)</a:t>
            </a:r>
          </a:p>
          <a:p>
            <a:pPr marL="0" indent="0">
              <a:buNone/>
            </a:pPr>
            <a:r>
              <a:rPr lang="en-IN" dirty="0"/>
              <a:t>  if </a:t>
            </a:r>
            <a:r>
              <a:rPr lang="en-IN" dirty="0" err="1"/>
              <a:t>i</a:t>
            </a:r>
            <a:r>
              <a:rPr lang="en-IN" dirty="0"/>
              <a:t> == 3:</a:t>
            </a:r>
          </a:p>
          <a:p>
            <a:pPr marL="0" indent="0">
              <a:buNone/>
            </a:pPr>
            <a:r>
              <a:rPr lang="en-IN" dirty="0"/>
              <a:t>    break</a:t>
            </a:r>
          </a:p>
          <a:p>
            <a:pPr marL="0" indent="0">
              <a:buNone/>
            </a:pPr>
            <a:r>
              <a:rPr lang="en-IN" dirty="0"/>
              <a:t>  </a:t>
            </a:r>
            <a:r>
              <a:rPr lang="en-IN" dirty="0" err="1"/>
              <a:t>i</a:t>
            </a:r>
            <a:r>
              <a:rPr lang="en-IN" dirty="0"/>
              <a:t> += 1</a:t>
            </a:r>
          </a:p>
        </p:txBody>
      </p:sp>
      <p:sp>
        <p:nvSpPr>
          <p:cNvPr id="4" name="Rectangle 3"/>
          <p:cNvSpPr/>
          <p:nvPr/>
        </p:nvSpPr>
        <p:spPr>
          <a:xfrm>
            <a:off x="131181" y="3902479"/>
            <a:ext cx="2854066" cy="1754326"/>
          </a:xfrm>
          <a:prstGeom prst="rect">
            <a:avLst/>
          </a:prstGeom>
        </p:spPr>
        <p:txBody>
          <a:bodyPr wrap="square">
            <a:spAutoFit/>
          </a:bodyPr>
          <a:lstStyle/>
          <a:p>
            <a:r>
              <a:rPr lang="en-IN" dirty="0" err="1">
                <a:latin typeface="Consolas" panose="020B0609020204030204" pitchFamily="49" charset="0"/>
              </a:rPr>
              <a:t>i</a:t>
            </a:r>
            <a:r>
              <a:rPr lang="en-IN" dirty="0">
                <a:latin typeface="Consolas" panose="020B0609020204030204" pitchFamily="49" charset="0"/>
              </a:rPr>
              <a:t> = 0</a:t>
            </a:r>
            <a:r>
              <a:rPr lang="en-IN" dirty="0"/>
              <a:t/>
            </a:r>
            <a:br>
              <a:rPr lang="en-IN" dirty="0"/>
            </a:br>
            <a:r>
              <a:rPr lang="en-IN" dirty="0">
                <a:latin typeface="Consolas" panose="020B0609020204030204" pitchFamily="49" charset="0"/>
              </a:rPr>
              <a:t>while </a:t>
            </a:r>
            <a:r>
              <a:rPr lang="en-IN" dirty="0" err="1">
                <a:latin typeface="Consolas" panose="020B0609020204030204" pitchFamily="49" charset="0"/>
              </a:rPr>
              <a:t>i</a:t>
            </a:r>
            <a:r>
              <a:rPr lang="en-IN" dirty="0">
                <a:latin typeface="Consolas" panose="020B0609020204030204" pitchFamily="49" charset="0"/>
              </a:rPr>
              <a:t> &lt; 6:</a:t>
            </a:r>
            <a:r>
              <a:rPr lang="en-IN" dirty="0"/>
              <a:t/>
            </a:r>
            <a:br>
              <a:rPr lang="en-IN" dirty="0"/>
            </a:br>
            <a:r>
              <a:rPr lang="en-IN" dirty="0">
                <a:latin typeface="Consolas" panose="020B0609020204030204" pitchFamily="49" charset="0"/>
              </a:rPr>
              <a:t>  </a:t>
            </a:r>
            <a:r>
              <a:rPr lang="en-IN" dirty="0" err="1">
                <a:latin typeface="Consolas" panose="020B0609020204030204" pitchFamily="49" charset="0"/>
              </a:rPr>
              <a:t>i</a:t>
            </a:r>
            <a:r>
              <a:rPr lang="en-IN" dirty="0">
                <a:latin typeface="Consolas" panose="020B0609020204030204" pitchFamily="49" charset="0"/>
              </a:rPr>
              <a:t> += 1</a:t>
            </a:r>
            <a:r>
              <a:rPr lang="en-IN" dirty="0"/>
              <a:t/>
            </a:r>
            <a:br>
              <a:rPr lang="en-IN" dirty="0"/>
            </a:br>
            <a:r>
              <a:rPr lang="en-IN" dirty="0">
                <a:latin typeface="Consolas" panose="020B0609020204030204" pitchFamily="49" charset="0"/>
              </a:rPr>
              <a:t>  if </a:t>
            </a:r>
            <a:r>
              <a:rPr lang="en-IN" dirty="0" err="1">
                <a:latin typeface="Consolas" panose="020B0609020204030204" pitchFamily="49" charset="0"/>
              </a:rPr>
              <a:t>i</a:t>
            </a:r>
            <a:r>
              <a:rPr lang="en-IN" dirty="0">
                <a:latin typeface="Consolas" panose="020B0609020204030204" pitchFamily="49" charset="0"/>
              </a:rPr>
              <a:t> == 3:</a:t>
            </a:r>
            <a:r>
              <a:rPr lang="en-IN" dirty="0"/>
              <a:t/>
            </a:r>
            <a:br>
              <a:rPr lang="en-IN" dirty="0"/>
            </a:br>
            <a:r>
              <a:rPr lang="en-IN" dirty="0">
                <a:latin typeface="Consolas" panose="020B0609020204030204" pitchFamily="49" charset="0"/>
              </a:rPr>
              <a:t>    continue</a:t>
            </a:r>
            <a:r>
              <a:rPr lang="en-IN" dirty="0"/>
              <a:t/>
            </a:r>
            <a:br>
              <a:rPr lang="en-IN" dirty="0"/>
            </a:br>
            <a:r>
              <a:rPr lang="en-IN" dirty="0">
                <a:latin typeface="Consolas" panose="020B0609020204030204" pitchFamily="49" charset="0"/>
              </a:rPr>
              <a:t>  print(</a:t>
            </a:r>
            <a:r>
              <a:rPr lang="en-IN" dirty="0" err="1">
                <a:latin typeface="Consolas" panose="020B0609020204030204" pitchFamily="49" charset="0"/>
              </a:rPr>
              <a:t>i</a:t>
            </a:r>
            <a:r>
              <a:rPr lang="en-IN" dirty="0">
                <a:latin typeface="Consolas" panose="020B0609020204030204" pitchFamily="49" charset="0"/>
              </a:rPr>
              <a:t>)</a:t>
            </a:r>
            <a:endParaRPr lang="en-IN" dirty="0"/>
          </a:p>
        </p:txBody>
      </p:sp>
      <p:cxnSp>
        <p:nvCxnSpPr>
          <p:cNvPr id="6" name="Straight Connector 5"/>
          <p:cNvCxnSpPr>
            <a:cxnSpLocks/>
            <a:stCxn id="3" idx="1"/>
          </p:cNvCxnSpPr>
          <p:nvPr/>
        </p:nvCxnSpPr>
        <p:spPr>
          <a:xfrm>
            <a:off x="131181" y="3658727"/>
            <a:ext cx="1183515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8480613" y="3902479"/>
            <a:ext cx="3485718" cy="1754326"/>
          </a:xfrm>
          <a:prstGeom prst="rect">
            <a:avLst/>
          </a:prstGeom>
        </p:spPr>
        <p:txBody>
          <a:bodyPr wrap="square">
            <a:spAutoFit/>
          </a:bodyPr>
          <a:lstStyle/>
          <a:p>
            <a:r>
              <a:rPr lang="en-US" dirty="0" err="1"/>
              <a:t>i</a:t>
            </a:r>
            <a:r>
              <a:rPr lang="en-US" dirty="0"/>
              <a:t> = 1</a:t>
            </a:r>
          </a:p>
          <a:p>
            <a:r>
              <a:rPr lang="en-US" dirty="0"/>
              <a:t>while </a:t>
            </a:r>
            <a:r>
              <a:rPr lang="en-US" dirty="0" err="1"/>
              <a:t>i</a:t>
            </a:r>
            <a:r>
              <a:rPr lang="en-US" dirty="0"/>
              <a:t> &lt; 6:</a:t>
            </a:r>
          </a:p>
          <a:p>
            <a:r>
              <a:rPr lang="en-US" dirty="0"/>
              <a:t>	print(</a:t>
            </a:r>
            <a:r>
              <a:rPr lang="en-US" dirty="0" err="1"/>
              <a:t>i</a:t>
            </a:r>
            <a:r>
              <a:rPr lang="en-US" dirty="0"/>
              <a:t>)</a:t>
            </a:r>
          </a:p>
          <a:p>
            <a:r>
              <a:rPr lang="en-US" dirty="0"/>
              <a:t> 	</a:t>
            </a:r>
            <a:r>
              <a:rPr lang="en-US" dirty="0" err="1"/>
              <a:t>i</a:t>
            </a:r>
            <a:r>
              <a:rPr lang="en-US" dirty="0"/>
              <a:t> += 1</a:t>
            </a:r>
          </a:p>
          <a:p>
            <a:r>
              <a:rPr lang="en-US" dirty="0"/>
              <a:t>else:</a:t>
            </a:r>
          </a:p>
          <a:p>
            <a:r>
              <a:rPr lang="en-US" dirty="0"/>
              <a:t> print("</a:t>
            </a:r>
            <a:r>
              <a:rPr lang="en-US" dirty="0" err="1"/>
              <a:t>i</a:t>
            </a:r>
            <a:r>
              <a:rPr lang="en-US" dirty="0"/>
              <a:t> is no longer less than 6")</a:t>
            </a:r>
            <a:endParaRPr lang="en-IN" dirty="0"/>
          </a:p>
        </p:txBody>
      </p:sp>
      <p:sp>
        <p:nvSpPr>
          <p:cNvPr id="9" name="Rectangle 8"/>
          <p:cNvSpPr/>
          <p:nvPr/>
        </p:nvSpPr>
        <p:spPr>
          <a:xfrm>
            <a:off x="2985247" y="863444"/>
            <a:ext cx="6096000" cy="2308324"/>
          </a:xfrm>
          <a:prstGeom prst="rect">
            <a:avLst/>
          </a:prstGeom>
        </p:spPr>
        <p:txBody>
          <a:bodyPr>
            <a:spAutoFit/>
          </a:bodyPr>
          <a:lstStyle/>
          <a:p>
            <a:r>
              <a:rPr lang="en-IN" dirty="0"/>
              <a:t># Use of break statement inside the loop</a:t>
            </a:r>
          </a:p>
          <a:p>
            <a:endParaRPr lang="en-IN" dirty="0"/>
          </a:p>
          <a:p>
            <a:r>
              <a:rPr lang="en-IN" dirty="0"/>
              <a:t>for </a:t>
            </a:r>
            <a:r>
              <a:rPr lang="en-IN" dirty="0" err="1"/>
              <a:t>val</a:t>
            </a:r>
            <a:r>
              <a:rPr lang="en-IN" dirty="0"/>
              <a:t> in "string":</a:t>
            </a:r>
          </a:p>
          <a:p>
            <a:r>
              <a:rPr lang="en-IN" dirty="0"/>
              <a:t>    if </a:t>
            </a:r>
            <a:r>
              <a:rPr lang="en-IN" dirty="0" err="1"/>
              <a:t>val</a:t>
            </a:r>
            <a:r>
              <a:rPr lang="en-IN" dirty="0"/>
              <a:t> == "</a:t>
            </a:r>
            <a:r>
              <a:rPr lang="en-IN" dirty="0" err="1"/>
              <a:t>i</a:t>
            </a:r>
            <a:r>
              <a:rPr lang="en-IN" dirty="0"/>
              <a:t>":</a:t>
            </a:r>
          </a:p>
          <a:p>
            <a:r>
              <a:rPr lang="en-IN" dirty="0"/>
              <a:t>        break</a:t>
            </a:r>
          </a:p>
          <a:p>
            <a:r>
              <a:rPr lang="en-IN" dirty="0"/>
              <a:t>    print(</a:t>
            </a:r>
            <a:r>
              <a:rPr lang="en-IN" dirty="0" err="1"/>
              <a:t>val</a:t>
            </a:r>
            <a:r>
              <a:rPr lang="en-IN" dirty="0"/>
              <a:t>)</a:t>
            </a:r>
          </a:p>
          <a:p>
            <a:endParaRPr lang="en-IN" dirty="0"/>
          </a:p>
          <a:p>
            <a:r>
              <a:rPr lang="en-IN" dirty="0"/>
              <a:t>print("The end")</a:t>
            </a:r>
          </a:p>
        </p:txBody>
      </p:sp>
      <p:sp>
        <p:nvSpPr>
          <p:cNvPr id="10" name="Rectangle 9"/>
          <p:cNvSpPr/>
          <p:nvPr/>
        </p:nvSpPr>
        <p:spPr>
          <a:xfrm>
            <a:off x="2510118" y="3881521"/>
            <a:ext cx="5665694" cy="2585323"/>
          </a:xfrm>
          <a:prstGeom prst="rect">
            <a:avLst/>
          </a:prstGeom>
        </p:spPr>
        <p:txBody>
          <a:bodyPr wrap="square">
            <a:spAutoFit/>
          </a:bodyPr>
          <a:lstStyle/>
          <a:p>
            <a:r>
              <a:rPr lang="en-IN" dirty="0"/>
              <a:t># Program to show the use of continue statement inside loops</a:t>
            </a:r>
          </a:p>
          <a:p>
            <a:endParaRPr lang="en-IN" dirty="0"/>
          </a:p>
          <a:p>
            <a:r>
              <a:rPr lang="en-IN" dirty="0"/>
              <a:t>for </a:t>
            </a:r>
            <a:r>
              <a:rPr lang="en-IN" dirty="0" err="1"/>
              <a:t>val</a:t>
            </a:r>
            <a:r>
              <a:rPr lang="en-IN" dirty="0"/>
              <a:t> in "string":</a:t>
            </a:r>
          </a:p>
          <a:p>
            <a:r>
              <a:rPr lang="en-IN" dirty="0"/>
              <a:t>    if </a:t>
            </a:r>
            <a:r>
              <a:rPr lang="en-IN" dirty="0" err="1"/>
              <a:t>val</a:t>
            </a:r>
            <a:r>
              <a:rPr lang="en-IN" dirty="0"/>
              <a:t> == "</a:t>
            </a:r>
            <a:r>
              <a:rPr lang="en-IN" dirty="0" err="1"/>
              <a:t>i</a:t>
            </a:r>
            <a:r>
              <a:rPr lang="en-IN" dirty="0"/>
              <a:t>":</a:t>
            </a:r>
          </a:p>
          <a:p>
            <a:r>
              <a:rPr lang="en-IN" dirty="0"/>
              <a:t>        continue</a:t>
            </a:r>
          </a:p>
          <a:p>
            <a:r>
              <a:rPr lang="en-IN" dirty="0"/>
              <a:t>    print(</a:t>
            </a:r>
            <a:r>
              <a:rPr lang="en-IN" dirty="0" err="1"/>
              <a:t>val</a:t>
            </a:r>
            <a:r>
              <a:rPr lang="en-IN" dirty="0"/>
              <a:t>)</a:t>
            </a:r>
          </a:p>
          <a:p>
            <a:endParaRPr lang="en-IN" dirty="0"/>
          </a:p>
          <a:p>
            <a:r>
              <a:rPr lang="en-IN" dirty="0"/>
              <a:t>print("The end")</a:t>
            </a:r>
          </a:p>
        </p:txBody>
      </p:sp>
    </p:spTree>
    <p:extLst>
      <p:ext uri="{BB962C8B-B14F-4D97-AF65-F5344CB8AC3E}">
        <p14:creationId xmlns:p14="http://schemas.microsoft.com/office/powerpoint/2010/main" val="194171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p:bldP spid="9"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 in python</a:t>
            </a:r>
          </a:p>
        </p:txBody>
      </p:sp>
      <p:sp>
        <p:nvSpPr>
          <p:cNvPr id="3" name="Content Placeholder 2"/>
          <p:cNvSpPr>
            <a:spLocks noGrp="1"/>
          </p:cNvSpPr>
          <p:nvPr>
            <p:ph idx="1"/>
          </p:nvPr>
        </p:nvSpPr>
        <p:spPr/>
        <p:txBody>
          <a:bodyPr/>
          <a:lstStyle/>
          <a:p>
            <a:r>
              <a:rPr lang="en-US" dirty="0"/>
              <a:t>There are four built-in data structures in Python - </a:t>
            </a:r>
            <a:r>
              <a:rPr lang="en-US" i="1" dirty="0"/>
              <a:t>list, dictionary, </a:t>
            </a:r>
            <a:r>
              <a:rPr lang="en-US" i="1" dirty="0" err="1"/>
              <a:t>tuple</a:t>
            </a:r>
            <a:r>
              <a:rPr lang="en-US" i="1" dirty="0"/>
              <a:t> and set</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Lets explore all the data structures in detail…</a:t>
            </a:r>
          </a:p>
        </p:txBody>
      </p:sp>
      <p:graphicFrame>
        <p:nvGraphicFramePr>
          <p:cNvPr id="21" name="Content Placeholder 4">
            <a:extLst>
              <a:ext uri="{FF2B5EF4-FFF2-40B4-BE49-F238E27FC236}">
                <a16:creationId xmlns:a16="http://schemas.microsoft.com/office/drawing/2014/main" xmlns="" id="{2486BC6F-42B7-4A1D-889E-1B1818D1D5FB}"/>
              </a:ext>
            </a:extLst>
          </p:cNvPr>
          <p:cNvGraphicFramePr>
            <a:graphicFrameLocks/>
          </p:cNvGraphicFramePr>
          <p:nvPr/>
        </p:nvGraphicFramePr>
        <p:xfrm>
          <a:off x="369291" y="1490045"/>
          <a:ext cx="11413358" cy="3520440"/>
        </p:xfrm>
        <a:graphic>
          <a:graphicData uri="http://schemas.openxmlformats.org/drawingml/2006/table">
            <a:tbl>
              <a:tblPr firstRow="1" bandRow="1">
                <a:tableStyleId>{8EC20E35-A176-4012-BC5E-935CFFF8708E}</a:tableStyleId>
              </a:tblPr>
              <a:tblGrid>
                <a:gridCol w="1354959">
                  <a:extLst>
                    <a:ext uri="{9D8B030D-6E8A-4147-A177-3AD203B41FA5}">
                      <a16:colId xmlns:a16="http://schemas.microsoft.com/office/drawing/2014/main" xmlns="" val="20000"/>
                    </a:ext>
                  </a:extLst>
                </a:gridCol>
                <a:gridCol w="1109609">
                  <a:extLst>
                    <a:ext uri="{9D8B030D-6E8A-4147-A177-3AD203B41FA5}">
                      <a16:colId xmlns:a16="http://schemas.microsoft.com/office/drawing/2014/main" xmlns="" val="20001"/>
                    </a:ext>
                  </a:extLst>
                </a:gridCol>
                <a:gridCol w="8948790">
                  <a:extLst>
                    <a:ext uri="{9D8B030D-6E8A-4147-A177-3AD203B41FA5}">
                      <a16:colId xmlns:a16="http://schemas.microsoft.com/office/drawing/2014/main" xmlns="" val="20002"/>
                    </a:ext>
                  </a:extLst>
                </a:gridCol>
              </a:tblGrid>
              <a:tr h="411480">
                <a:tc>
                  <a:txBody>
                    <a:bodyPr/>
                    <a:lstStyle/>
                    <a:p>
                      <a:r>
                        <a:rPr lang="en-US" b="1"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Type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val="10001"/>
                  </a:ext>
                </a:extLst>
              </a:tr>
              <a:tr h="411480">
                <a:tc>
                  <a:txBody>
                    <a:bodyPr/>
                    <a:lstStyle/>
                    <a:p>
                      <a:r>
                        <a:rPr lang="en-US" sz="1900" dirty="0"/>
                        <a:t>List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a:solidFill>
                            <a:schemeClr val="tx2"/>
                          </a:solidFill>
                        </a:rPr>
                        <a:t>list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b="1" dirty="0">
                          <a:solidFill>
                            <a:schemeClr val="tx1"/>
                          </a:solidFill>
                        </a:rPr>
                        <a:t>Ordered</a:t>
                      </a:r>
                      <a:r>
                        <a:rPr lang="en-US" sz="2000" dirty="0">
                          <a:solidFill>
                            <a:schemeClr val="tx1"/>
                          </a:solidFill>
                        </a:rPr>
                        <a:t> Sequence</a:t>
                      </a:r>
                      <a:r>
                        <a:rPr lang="en-US" sz="2000" baseline="0" dirty="0">
                          <a:solidFill>
                            <a:schemeClr val="tx1"/>
                          </a:solidFill>
                        </a:rPr>
                        <a:t> of objects, will be represented with </a:t>
                      </a:r>
                      <a:r>
                        <a:rPr lang="en-US" sz="2000" b="1" baseline="0" dirty="0">
                          <a:solidFill>
                            <a:schemeClr val="tx1"/>
                          </a:solidFill>
                        </a:rPr>
                        <a:t>square</a:t>
                      </a:r>
                      <a:r>
                        <a:rPr lang="en-US" sz="2000" baseline="0" dirty="0">
                          <a:solidFill>
                            <a:schemeClr val="tx1"/>
                          </a:solidFill>
                        </a:rPr>
                        <a:t> brackets </a:t>
                      </a:r>
                      <a:r>
                        <a:rPr lang="en-US" sz="2000" b="1" baseline="0" dirty="0">
                          <a:solidFill>
                            <a:srgbClr val="FF0000"/>
                          </a:solidFill>
                        </a:rPr>
                        <a:t>[ ]</a:t>
                      </a:r>
                    </a:p>
                    <a:p>
                      <a:pPr algn="l"/>
                      <a:r>
                        <a:rPr lang="en-IN" sz="2000" b="0" baseline="0" dirty="0">
                          <a:solidFill>
                            <a:schemeClr val="tx1"/>
                          </a:solidFill>
                        </a:rPr>
                        <a:t>Example : [ 18, “bijal88”,  True, 102.3 ]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7"/>
                  </a:ext>
                </a:extLst>
              </a:tr>
              <a:tr h="411480">
                <a:tc>
                  <a:txBody>
                    <a:bodyPr/>
                    <a:lstStyle/>
                    <a:p>
                      <a:r>
                        <a:rPr lang="en-US" sz="1900" dirty="0"/>
                        <a:t>Dictionary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2000" dirty="0" err="1">
                          <a:solidFill>
                            <a:schemeClr val="tx2"/>
                          </a:solidFill>
                        </a:rPr>
                        <a:t>dict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2000" b="1" dirty="0">
                          <a:solidFill>
                            <a:schemeClr val="tx1"/>
                          </a:solidFill>
                        </a:rPr>
                        <a:t>Unordered</a:t>
                      </a:r>
                      <a:r>
                        <a:rPr lang="en-US" sz="2000" dirty="0">
                          <a:solidFill>
                            <a:schemeClr val="tx1"/>
                          </a:solidFill>
                        </a:rPr>
                        <a:t> </a:t>
                      </a:r>
                      <a:r>
                        <a:rPr lang="en-US" sz="2000" b="1" dirty="0">
                          <a:solidFill>
                            <a:schemeClr val="tx1"/>
                          </a:solidFill>
                        </a:rPr>
                        <a:t>key </a:t>
                      </a:r>
                      <a:r>
                        <a:rPr lang="en-US" sz="2000" b="1" dirty="0">
                          <a:solidFill>
                            <a:srgbClr val="FF0000"/>
                          </a:solidFill>
                        </a:rPr>
                        <a:t>:</a:t>
                      </a:r>
                      <a:r>
                        <a:rPr lang="en-US" sz="2000" b="1" dirty="0">
                          <a:solidFill>
                            <a:schemeClr val="tx1"/>
                          </a:solidFill>
                        </a:rPr>
                        <a:t> value</a:t>
                      </a:r>
                      <a:r>
                        <a:rPr lang="en-US" sz="2000" baseline="0" dirty="0">
                          <a:solidFill>
                            <a:schemeClr val="tx1"/>
                          </a:solidFill>
                        </a:rPr>
                        <a:t> pair of objects , will be represented with </a:t>
                      </a:r>
                      <a:r>
                        <a:rPr lang="en-US" sz="2000" b="1" baseline="0" dirty="0">
                          <a:solidFill>
                            <a:schemeClr val="tx1"/>
                          </a:solidFill>
                        </a:rPr>
                        <a:t>curly</a:t>
                      </a:r>
                      <a:r>
                        <a:rPr lang="en-US" sz="2000" baseline="0" dirty="0">
                          <a:solidFill>
                            <a:schemeClr val="tx1"/>
                          </a:solidFill>
                        </a:rPr>
                        <a:t> brackets </a:t>
                      </a:r>
                      <a:r>
                        <a:rPr lang="en-US" sz="2000" b="1" baseline="0" dirty="0">
                          <a:solidFill>
                            <a:srgbClr val="FF0000"/>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sz="2000" b="0" baseline="0" dirty="0">
                          <a:solidFill>
                            <a:schemeClr val="tx1"/>
                          </a:solidFill>
                        </a:rPr>
                        <a:t>Example : { “College”: “</a:t>
                      </a:r>
                      <a:r>
                        <a:rPr lang="en-IN" sz="2000" b="0" baseline="0" dirty="0" err="1">
                          <a:solidFill>
                            <a:schemeClr val="tx1"/>
                          </a:solidFill>
                        </a:rPr>
                        <a:t>GEC,Gnagar</a:t>
                      </a:r>
                      <a:r>
                        <a:rPr lang="en-IN" sz="2000" b="0" baseline="0" dirty="0">
                          <a:solidFill>
                            <a:schemeClr val="tx1"/>
                          </a:solidFill>
                        </a:rPr>
                        <a:t>”,  “code”: “013”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411480">
                <a:tc>
                  <a:txBody>
                    <a:bodyPr/>
                    <a:lstStyle/>
                    <a:p>
                      <a:r>
                        <a:rPr lang="en-IN" sz="1900" dirty="0" err="1"/>
                        <a:t>Tuple</a:t>
                      </a:r>
                      <a:endParaRPr lang="en-IN"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err="1">
                          <a:solidFill>
                            <a:schemeClr val="tx2"/>
                          </a:solidFill>
                        </a:rPr>
                        <a:t>tup</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1" dirty="0">
                          <a:solidFill>
                            <a:schemeClr val="tx1"/>
                          </a:solidFill>
                        </a:rPr>
                        <a:t>Ordered</a:t>
                      </a:r>
                      <a:r>
                        <a:rPr lang="en-IN" sz="2000" baseline="0" dirty="0">
                          <a:solidFill>
                            <a:schemeClr val="tx1"/>
                          </a:solidFill>
                        </a:rPr>
                        <a:t> </a:t>
                      </a:r>
                      <a:r>
                        <a:rPr lang="en-IN" sz="2000" b="1" baseline="0" dirty="0">
                          <a:solidFill>
                            <a:schemeClr val="tx1"/>
                          </a:solidFill>
                        </a:rPr>
                        <a:t>immutable</a:t>
                      </a:r>
                      <a:r>
                        <a:rPr lang="en-IN" sz="2000" baseline="0" dirty="0">
                          <a:solidFill>
                            <a:schemeClr val="tx1"/>
                          </a:solidFill>
                        </a:rPr>
                        <a:t> sequence of objects, will be represented with </a:t>
                      </a:r>
                      <a:r>
                        <a:rPr lang="en-IN" sz="2000" b="1" baseline="0" dirty="0">
                          <a:solidFill>
                            <a:schemeClr val="tx1"/>
                          </a:solidFill>
                        </a:rPr>
                        <a:t>round</a:t>
                      </a:r>
                      <a:r>
                        <a:rPr lang="en-IN" sz="2000" baseline="0" dirty="0">
                          <a:solidFill>
                            <a:schemeClr val="tx1"/>
                          </a:solidFill>
                        </a:rPr>
                        <a:t> brackets </a:t>
                      </a:r>
                      <a:r>
                        <a:rPr lang="en-IN" sz="2000" b="1" baseline="0" dirty="0">
                          <a:solidFill>
                            <a:srgbClr val="FF0000"/>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sz="2000" b="0" baseline="0" dirty="0">
                          <a:solidFill>
                            <a:schemeClr val="tx1"/>
                          </a:solidFill>
                        </a:rPr>
                        <a:t>Example : ( 18, “</a:t>
                      </a:r>
                      <a:r>
                        <a:rPr lang="en-IN" sz="2000" b="0" baseline="0" dirty="0" err="1">
                          <a:solidFill>
                            <a:schemeClr val="tx1"/>
                          </a:solidFill>
                        </a:rPr>
                        <a:t>GEC,Gnagar</a:t>
                      </a:r>
                      <a:r>
                        <a:rPr lang="en-IN" sz="2000" b="0" baseline="0" dirty="0">
                          <a:solidFill>
                            <a:schemeClr val="tx1"/>
                          </a:solidFill>
                        </a:rPr>
                        <a:t>”,  True, 102.3 )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11480">
                <a:tc>
                  <a:txBody>
                    <a:bodyPr/>
                    <a:lstStyle/>
                    <a:p>
                      <a:r>
                        <a:rPr lang="en-IN" sz="1900" dirty="0"/>
                        <a:t>Set</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dirty="0">
                          <a:solidFill>
                            <a:schemeClr val="tx2"/>
                          </a:solidFill>
                        </a:rPr>
                        <a:t>set</a:t>
                      </a:r>
                      <a:endParaRPr lang="en-US" sz="20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1" dirty="0">
                          <a:solidFill>
                            <a:schemeClr val="tx1"/>
                          </a:solidFill>
                        </a:rPr>
                        <a:t>Unordered</a:t>
                      </a:r>
                      <a:r>
                        <a:rPr lang="en-IN" sz="2000" baseline="0" dirty="0">
                          <a:solidFill>
                            <a:schemeClr val="tx1"/>
                          </a:solidFill>
                        </a:rPr>
                        <a:t> collection of </a:t>
                      </a:r>
                      <a:r>
                        <a:rPr lang="en-IN" sz="2000" b="1" baseline="0" dirty="0">
                          <a:solidFill>
                            <a:schemeClr val="tx1"/>
                          </a:solidFill>
                        </a:rPr>
                        <a:t>unique</a:t>
                      </a:r>
                      <a:r>
                        <a:rPr lang="en-IN" sz="2000" baseline="0" dirty="0">
                          <a:solidFill>
                            <a:schemeClr val="tx1"/>
                          </a:solidFill>
                        </a:rPr>
                        <a:t> objects, will be represented with the </a:t>
                      </a:r>
                      <a:r>
                        <a:rPr lang="en-IN" sz="2000" b="1" baseline="0" dirty="0">
                          <a:solidFill>
                            <a:schemeClr val="tx1"/>
                          </a:solidFill>
                        </a:rPr>
                        <a:t>curly</a:t>
                      </a:r>
                      <a:r>
                        <a:rPr lang="en-IN" sz="2000" baseline="0" dirty="0">
                          <a:solidFill>
                            <a:schemeClr val="tx1"/>
                          </a:solidFill>
                        </a:rPr>
                        <a:t> brackets </a:t>
                      </a:r>
                      <a:r>
                        <a:rPr lang="en-IN" sz="2000" b="1" baseline="0" dirty="0">
                          <a:solidFill>
                            <a:srgbClr val="FF0000"/>
                          </a:solidFill>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sz="2000" b="0" baseline="0" dirty="0">
                          <a:solidFill>
                            <a:schemeClr val="tx1"/>
                          </a:solidFill>
                        </a:rPr>
                        <a:t>Example : { 18, “</a:t>
                      </a:r>
                      <a:r>
                        <a:rPr lang="en-IN" sz="2000" b="0" baseline="0" dirty="0" err="1">
                          <a:solidFill>
                            <a:schemeClr val="tx1"/>
                          </a:solidFill>
                        </a:rPr>
                        <a:t>GEC,Gnagar</a:t>
                      </a:r>
                      <a:r>
                        <a:rPr lang="en-IN" sz="2000" b="0" baseline="0" dirty="0">
                          <a:solidFill>
                            <a:schemeClr val="tx1"/>
                          </a:solidFill>
                        </a:rPr>
                        <a:t>”,  True, 102.3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8829114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a:t>
            </a:r>
          </a:p>
        </p:txBody>
      </p:sp>
      <p:sp>
        <p:nvSpPr>
          <p:cNvPr id="3" name="Content Placeholder 2"/>
          <p:cNvSpPr>
            <a:spLocks noGrp="1"/>
          </p:cNvSpPr>
          <p:nvPr>
            <p:ph idx="1"/>
          </p:nvPr>
        </p:nvSpPr>
        <p:spPr/>
        <p:txBody>
          <a:bodyPr/>
          <a:lstStyle/>
          <a:p>
            <a:r>
              <a:rPr lang="en-US" dirty="0"/>
              <a:t>List is a </a:t>
            </a:r>
            <a:r>
              <a:rPr lang="en-US" dirty="0">
                <a:solidFill>
                  <a:schemeClr val="accent3">
                    <a:lumMod val="75000"/>
                  </a:schemeClr>
                </a:solidFill>
              </a:rPr>
              <a:t>mutable</a:t>
            </a:r>
            <a:r>
              <a:rPr lang="en-US" dirty="0"/>
              <a:t> </a:t>
            </a:r>
            <a:r>
              <a:rPr lang="en-US" dirty="0">
                <a:solidFill>
                  <a:schemeClr val="accent5"/>
                </a:solidFill>
              </a:rPr>
              <a:t>ordered</a:t>
            </a:r>
            <a:r>
              <a:rPr lang="en-US" dirty="0"/>
              <a:t> sequence of objects, </a:t>
            </a:r>
            <a:r>
              <a:rPr lang="en-US" dirty="0">
                <a:solidFill>
                  <a:schemeClr val="accent6">
                    <a:lumMod val="75000"/>
                  </a:schemeClr>
                </a:solidFill>
              </a:rPr>
              <a:t>duplicate</a:t>
            </a:r>
            <a:r>
              <a:rPr lang="en-US" dirty="0"/>
              <a:t> values are allowed inside list.</a:t>
            </a:r>
          </a:p>
          <a:p>
            <a:r>
              <a:rPr lang="en-US" dirty="0"/>
              <a:t>List will be represented by square brackets [ ].</a:t>
            </a:r>
          </a:p>
          <a:p>
            <a:r>
              <a:rPr lang="en-US" dirty="0"/>
              <a:t>Python does not have array, List can be used similar to Array.</a:t>
            </a:r>
          </a:p>
          <a:p>
            <a:endParaRPr lang="en-US" dirty="0"/>
          </a:p>
          <a:p>
            <a:endParaRPr lang="en-US" dirty="0"/>
          </a:p>
          <a:p>
            <a:endParaRPr lang="en-US" dirty="0"/>
          </a:p>
          <a:p>
            <a:endParaRPr lang="en-US" dirty="0"/>
          </a:p>
          <a:p>
            <a:endParaRPr lang="en-US" dirty="0"/>
          </a:p>
          <a:p>
            <a:r>
              <a:rPr lang="en-US" dirty="0"/>
              <a:t>We can use slicing similar to string in order to get the sub list from the list.</a:t>
            </a:r>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2614991"/>
            <a:ext cx="8472276" cy="1600438"/>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 = </a:t>
            </a:r>
            <a:r>
              <a:rPr lang="en-IN" sz="1600" dirty="0"/>
              <a:t>['physics', 'chemistry', 1997, 2000];</a:t>
            </a:r>
            <a:endParaRPr lang="en-US" sz="1600" dirty="0">
              <a:solidFill>
                <a:srgbClr val="000000"/>
              </a:solidFill>
              <a:latin typeface="Consolas"/>
            </a:endParaRP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r>
              <a:rPr lang="en-US" sz="1600" dirty="0">
                <a:solidFill>
                  <a:srgbClr val="098658"/>
                </a:solidFill>
                <a:latin typeface="Consolas"/>
              </a:rPr>
              <a:t>2</a:t>
            </a:r>
            <a:r>
              <a:rPr lang="en-US" sz="1600" dirty="0">
                <a:solidFill>
                  <a:srgbClr val="000000"/>
                </a:solidFill>
                <a:latin typeface="Consolas"/>
              </a:rPr>
              <a:t>])</a:t>
            </a:r>
          </a:p>
          <a:p>
            <a:r>
              <a:rPr lang="en-US" sz="1600" dirty="0">
                <a:solidFill>
                  <a:srgbClr val="000000"/>
                </a:solidFill>
                <a:latin typeface="Consolas"/>
              </a:rPr>
              <a:t>print(</a:t>
            </a:r>
            <a:r>
              <a:rPr lang="en-US" sz="1600" dirty="0" err="1">
                <a:solidFill>
                  <a:srgbClr val="000000"/>
                </a:solidFill>
                <a:latin typeface="Consolas"/>
              </a:rPr>
              <a:t>len</a:t>
            </a:r>
            <a:r>
              <a:rPr lang="en-US" sz="1600" dirty="0">
                <a:solidFill>
                  <a:srgbClr val="000000"/>
                </a:solidFill>
                <a:latin typeface="Consolas"/>
              </a:rPr>
              <a:t>(</a:t>
            </a:r>
            <a:r>
              <a:rPr lang="en-US" sz="1600" dirty="0" err="1">
                <a:solidFill>
                  <a:srgbClr val="000000"/>
                </a:solidFill>
                <a:latin typeface="Consolas"/>
              </a:rPr>
              <a:t>my_list</a:t>
            </a:r>
            <a:r>
              <a:rPr lang="en-US" sz="1600" dirty="0">
                <a:solidFill>
                  <a:srgbClr val="000000"/>
                </a:solidFill>
                <a:latin typeface="Consolas"/>
              </a:rPr>
              <a:t>))</a:t>
            </a:r>
          </a:p>
          <a:p>
            <a:r>
              <a:rPr lang="en-US" sz="1600" dirty="0" err="1">
                <a:solidFill>
                  <a:srgbClr val="000000"/>
                </a:solidFill>
                <a:latin typeface="Consolas"/>
              </a:rPr>
              <a:t>my_list</a:t>
            </a:r>
            <a:r>
              <a:rPr lang="en-US" sz="1600" dirty="0">
                <a:solidFill>
                  <a:srgbClr val="000000"/>
                </a:solidFill>
                <a:latin typeface="Consolas"/>
              </a:rPr>
              <a:t>[</a:t>
            </a:r>
            <a:r>
              <a:rPr lang="en-US" sz="1600" dirty="0">
                <a:solidFill>
                  <a:srgbClr val="098658"/>
                </a:solidFill>
                <a:latin typeface="Consolas"/>
              </a:rPr>
              <a:t>2</a:t>
            </a:r>
            <a:r>
              <a:rPr lang="en-US" sz="1600" dirty="0">
                <a:solidFill>
                  <a:srgbClr val="000000"/>
                </a:solidFill>
                <a:latin typeface="Consolas"/>
              </a:rPr>
              <a:t>] = </a:t>
            </a:r>
            <a:r>
              <a:rPr lang="en-US" sz="1600" dirty="0">
                <a:solidFill>
                  <a:srgbClr val="A31515"/>
                </a:solidFill>
                <a:latin typeface="Consolas"/>
              </a:rPr>
              <a:t>2001</a:t>
            </a:r>
            <a:endParaRPr lang="en-US" sz="1600" dirty="0">
              <a:solidFill>
                <a:srgbClr val="000000"/>
              </a:solidFill>
              <a:latin typeface="Consolas"/>
            </a:endParaRP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p>
          <a:p>
            <a:r>
              <a:rPr lang="en-US" sz="1600" b="0" dirty="0">
                <a:solidFill>
                  <a:srgbClr val="000000"/>
                </a:solidFill>
                <a:latin typeface="Consolas"/>
              </a:rPr>
              <a:t>print(</a:t>
            </a:r>
            <a:r>
              <a:rPr lang="en-US" sz="1600" b="0" dirty="0" err="1">
                <a:solidFill>
                  <a:srgbClr val="000000"/>
                </a:solidFill>
                <a:latin typeface="Consolas"/>
              </a:rPr>
              <a:t>my_list</a:t>
            </a:r>
            <a:r>
              <a:rPr lang="en-US" sz="1600" b="0" dirty="0">
                <a:solidFill>
                  <a:srgbClr val="000000"/>
                </a:solidFill>
                <a:latin typeface="Consolas"/>
              </a:rPr>
              <a:t>[-1])</a:t>
            </a: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2614991"/>
            <a:ext cx="499993" cy="156966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228580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list.py</a:t>
            </a:r>
          </a:p>
        </p:txBody>
      </p:sp>
      <p:sp>
        <p:nvSpPr>
          <p:cNvPr id="10" name="Rectangle 9">
            <a:extLst>
              <a:ext uri="{FF2B5EF4-FFF2-40B4-BE49-F238E27FC236}">
                <a16:creationId xmlns:a16="http://schemas.microsoft.com/office/drawing/2014/main" xmlns="" id="{D456EBDA-49A4-A843-A786-6989C63A54AA}"/>
              </a:ext>
            </a:extLst>
          </p:cNvPr>
          <p:cNvSpPr/>
          <p:nvPr/>
        </p:nvSpPr>
        <p:spPr>
          <a:xfrm>
            <a:off x="1022635" y="5222724"/>
            <a:ext cx="8472276" cy="584775"/>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 = [</a:t>
            </a:r>
            <a:r>
              <a:rPr lang="en-US" sz="1600" dirty="0">
                <a:solidFill>
                  <a:srgbClr val="A31515"/>
                </a:solidFill>
                <a:latin typeface="Consolas"/>
              </a:rPr>
              <a:t>'d'</a:t>
            </a:r>
            <a:r>
              <a:rPr lang="en-US" sz="1600" dirty="0">
                <a:solidFill>
                  <a:srgbClr val="000000"/>
                </a:solidFill>
                <a:latin typeface="Consolas"/>
              </a:rPr>
              <a:t>, </a:t>
            </a:r>
            <a:r>
              <a:rPr lang="en-US" sz="1600" dirty="0">
                <a:solidFill>
                  <a:srgbClr val="A31515"/>
                </a:solidFill>
                <a:latin typeface="Consolas"/>
              </a:rPr>
              <a:t>'</a:t>
            </a:r>
            <a:r>
              <a:rPr lang="en-US" sz="1600" dirty="0" err="1">
                <a:solidFill>
                  <a:srgbClr val="A31515"/>
                </a:solidFill>
                <a:latin typeface="Consolas"/>
              </a:rPr>
              <a:t>i</a:t>
            </a:r>
            <a:r>
              <a:rPr lang="en-US" sz="1600" dirty="0">
                <a:solidFill>
                  <a:srgbClr val="A31515"/>
                </a:solidFill>
                <a:latin typeface="Consolas"/>
              </a:rPr>
              <a:t>'</a:t>
            </a:r>
            <a:r>
              <a:rPr lang="en-US" sz="1600" dirty="0">
                <a:solidFill>
                  <a:srgbClr val="000000"/>
                </a:solidFill>
                <a:latin typeface="Consolas"/>
              </a:rPr>
              <a:t>, </a:t>
            </a:r>
            <a:r>
              <a:rPr lang="en-US" sz="1600" dirty="0">
                <a:solidFill>
                  <a:srgbClr val="A31515"/>
                </a:solidFill>
                <a:latin typeface="Consolas"/>
              </a:rPr>
              <a:t>'</a:t>
            </a:r>
            <a:r>
              <a:rPr lang="en-US" sz="1600" dirty="0" err="1">
                <a:solidFill>
                  <a:srgbClr val="A31515"/>
                </a:solidFill>
                <a:latin typeface="Consolas"/>
              </a:rPr>
              <a:t>r'</a:t>
            </a:r>
            <a:r>
              <a:rPr lang="en-US" sz="1600" dirty="0" err="1">
                <a:solidFill>
                  <a:srgbClr val="000000"/>
                </a:solidFill>
                <a:latin typeface="Consolas"/>
              </a:rPr>
              <a:t>,</a:t>
            </a:r>
            <a:r>
              <a:rPr lang="en-US" sz="1600" dirty="0" err="1">
                <a:solidFill>
                  <a:srgbClr val="A31515"/>
                </a:solidFill>
                <a:latin typeface="Consolas"/>
              </a:rPr>
              <a:t>'g'</a:t>
            </a:r>
            <a:r>
              <a:rPr lang="en-US" sz="1600" dirty="0" err="1">
                <a:solidFill>
                  <a:srgbClr val="000000"/>
                </a:solidFill>
                <a:latin typeface="Consolas"/>
              </a:rPr>
              <a:t>,</a:t>
            </a:r>
            <a:r>
              <a:rPr lang="en-US" sz="1600" dirty="0" err="1">
                <a:solidFill>
                  <a:srgbClr val="A31515"/>
                </a:solidFill>
                <a:latin typeface="Consolas"/>
              </a:rPr>
              <a:t>'I</a:t>
            </a:r>
            <a:r>
              <a:rPr lang="en-US" sz="1600" dirty="0">
                <a:solidFill>
                  <a:srgbClr val="A31515"/>
                </a:solidFill>
                <a:latin typeface="Consolas"/>
              </a:rPr>
              <a:t>'</a:t>
            </a:r>
            <a:r>
              <a:rPr lang="en-US" sz="1600" dirty="0">
                <a:solidFill>
                  <a:srgbClr val="000000"/>
                </a:solidFill>
                <a:latin typeface="Consolas"/>
              </a:rPr>
              <a:t>]</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r>
              <a:rPr lang="en-US" sz="1600" dirty="0">
                <a:solidFill>
                  <a:srgbClr val="098658"/>
                </a:solidFill>
                <a:latin typeface="Consolas"/>
              </a:rPr>
              <a:t>1</a:t>
            </a:r>
            <a:r>
              <a:rPr lang="en-US" sz="1600" dirty="0">
                <a:solidFill>
                  <a:srgbClr val="000000"/>
                </a:solidFill>
                <a:latin typeface="Consolas"/>
              </a:rPr>
              <a:t>:</a:t>
            </a:r>
            <a:r>
              <a:rPr lang="en-US" sz="1600" dirty="0">
                <a:solidFill>
                  <a:srgbClr val="098658"/>
                </a:solidFill>
                <a:latin typeface="Consolas"/>
              </a:rPr>
              <a:t>3</a:t>
            </a:r>
            <a:r>
              <a:rPr lang="en-US" sz="1600" dirty="0">
                <a:solidFill>
                  <a:srgbClr val="000000"/>
                </a:solidFill>
                <a:latin typeface="Consolas"/>
              </a:rPr>
              <a:t>])</a:t>
            </a:r>
            <a:endParaRPr lang="en-US" sz="1600" b="0" dirty="0">
              <a:solidFill>
                <a:srgbClr val="000000"/>
              </a:solidFill>
              <a:latin typeface="Consolas"/>
            </a:endParaRPr>
          </a:p>
        </p:txBody>
      </p:sp>
      <p:sp>
        <p:nvSpPr>
          <p:cNvPr id="11" name="Rectangle 10">
            <a:extLst>
              <a:ext uri="{FF2B5EF4-FFF2-40B4-BE49-F238E27FC236}">
                <a16:creationId xmlns:a16="http://schemas.microsoft.com/office/drawing/2014/main" xmlns="" id="{35F9F4A0-4592-C04D-B2D0-0BF66A3BFA20}"/>
              </a:ext>
            </a:extLst>
          </p:cNvPr>
          <p:cNvSpPr/>
          <p:nvPr/>
        </p:nvSpPr>
        <p:spPr>
          <a:xfrm>
            <a:off x="522642" y="5222724"/>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12" name="Rectangle: Top Corners Rounded 6">
            <a:extLst>
              <a:ext uri="{FF2B5EF4-FFF2-40B4-BE49-F238E27FC236}">
                <a16:creationId xmlns:a16="http://schemas.microsoft.com/office/drawing/2014/main" xmlns="" id="{0336C271-A2A3-9445-9946-5006F0A250F4}"/>
              </a:ext>
            </a:extLst>
          </p:cNvPr>
          <p:cNvSpPr/>
          <p:nvPr/>
        </p:nvSpPr>
        <p:spPr>
          <a:xfrm>
            <a:off x="522642" y="4908503"/>
            <a:ext cx="1778770" cy="299258"/>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list.py</a:t>
            </a:r>
          </a:p>
        </p:txBody>
      </p:sp>
      <p:sp>
        <p:nvSpPr>
          <p:cNvPr id="7" name="Rectangle 6">
            <a:extLst>
              <a:ext uri="{FF2B5EF4-FFF2-40B4-BE49-F238E27FC236}">
                <a16:creationId xmlns:a16="http://schemas.microsoft.com/office/drawing/2014/main" xmlns="" id="{492264D1-CB63-1FE5-9CB2-5C3CBD0010A1}"/>
              </a:ext>
            </a:extLst>
          </p:cNvPr>
          <p:cNvSpPr/>
          <p:nvPr/>
        </p:nvSpPr>
        <p:spPr>
          <a:xfrm>
            <a:off x="522641" y="6021477"/>
            <a:ext cx="8972269"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b = list("GFG")</a:t>
            </a:r>
          </a:p>
          <a:p>
            <a:r>
              <a:rPr lang="en-US" sz="1600" dirty="0">
                <a:solidFill>
                  <a:srgbClr val="000000"/>
                </a:solidFill>
                <a:latin typeface="Consolas"/>
              </a:rPr>
              <a:t>print(b)</a:t>
            </a:r>
            <a:endParaRPr lang="en-US" sz="1600" b="0" dirty="0">
              <a:solidFill>
                <a:srgbClr val="000000"/>
              </a:solidFill>
              <a:latin typeface="Consolas"/>
            </a:endParaRPr>
          </a:p>
        </p:txBody>
      </p:sp>
    </p:spTree>
    <p:extLst>
      <p:ext uri="{BB962C8B-B14F-4D97-AF65-F5344CB8AC3E}">
        <p14:creationId xmlns:p14="http://schemas.microsoft.com/office/powerpoint/2010/main" val="214612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
                                            <p:txEl>
                                              <p:pRg st="1" end="1"/>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P spid="10" grpId="0" build="p" animBg="1"/>
      <p:bldP spid="11" grpId="0" animBg="1"/>
      <p:bldP spid="12" grpId="0" animBg="1"/>
      <p:bldP spid="7" grpId="0" build="p"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
            </a:r>
            <a:br>
              <a:rPr lang="en-IN" sz="3600" dirty="0"/>
            </a:br>
            <a:r>
              <a:rPr lang="en-IN" sz="3600" dirty="0"/>
              <a:t>List indexing (Check on Notebook)</a:t>
            </a:r>
            <a:br>
              <a:rPr lang="en-IN" sz="3600" dirty="0"/>
            </a:br>
            <a:endParaRPr lang="en-IN" dirty="0"/>
          </a:p>
        </p:txBody>
      </p:sp>
      <p:sp>
        <p:nvSpPr>
          <p:cNvPr id="3" name="Content Placeholder 2"/>
          <p:cNvSpPr>
            <a:spLocks noGrp="1"/>
          </p:cNvSpPr>
          <p:nvPr>
            <p:ph idx="1"/>
          </p:nvPr>
        </p:nvSpPr>
        <p:spPr/>
        <p:txBody>
          <a:bodyPr/>
          <a:lstStyle/>
          <a:p>
            <a:pPr marL="0" indent="0">
              <a:buNone/>
            </a:pPr>
            <a:r>
              <a:rPr lang="en-IN" sz="2000" dirty="0" err="1"/>
              <a:t>mylist</a:t>
            </a:r>
            <a:r>
              <a:rPr lang="en-IN" sz="2000" dirty="0"/>
              <a:t> = ['p', 'r', 'o', 'b', 'e']</a:t>
            </a:r>
          </a:p>
          <a:p>
            <a:pPr marL="0" indent="0">
              <a:buNone/>
            </a:pPr>
            <a:r>
              <a:rPr lang="en-IN" sz="2000" dirty="0"/>
              <a:t>print(</a:t>
            </a:r>
            <a:r>
              <a:rPr lang="en-IN" sz="2000" dirty="0" err="1"/>
              <a:t>mylist</a:t>
            </a:r>
            <a:r>
              <a:rPr lang="en-IN" sz="2000" dirty="0"/>
              <a:t>[0])</a:t>
            </a:r>
          </a:p>
          <a:p>
            <a:pPr marL="0" indent="0">
              <a:buNone/>
            </a:pPr>
            <a:r>
              <a:rPr lang="en-IN" sz="2000" dirty="0"/>
              <a:t>print(</a:t>
            </a:r>
            <a:r>
              <a:rPr lang="en-IN" sz="2000" dirty="0" err="1"/>
              <a:t>mylist</a:t>
            </a:r>
            <a:r>
              <a:rPr lang="en-IN" sz="2000" dirty="0"/>
              <a:t>[2])</a:t>
            </a:r>
          </a:p>
          <a:p>
            <a:pPr marL="0" indent="0">
              <a:buNone/>
            </a:pPr>
            <a:r>
              <a:rPr lang="en-IN" sz="2000" dirty="0"/>
              <a:t>print(</a:t>
            </a:r>
            <a:r>
              <a:rPr lang="en-IN" sz="2000" dirty="0" err="1"/>
              <a:t>mylist</a:t>
            </a:r>
            <a:r>
              <a:rPr lang="en-IN" sz="2000" dirty="0"/>
              <a:t>[4])</a:t>
            </a:r>
          </a:p>
          <a:p>
            <a:pPr marL="0" indent="0">
              <a:buNone/>
            </a:pPr>
            <a:r>
              <a:rPr lang="en-IN" sz="2000" dirty="0"/>
              <a:t># Nested List</a:t>
            </a:r>
          </a:p>
          <a:p>
            <a:pPr marL="0" indent="0">
              <a:buNone/>
            </a:pPr>
            <a:r>
              <a:rPr lang="en-IN" sz="2000" dirty="0" err="1"/>
              <a:t>nlist</a:t>
            </a:r>
            <a:r>
              <a:rPr lang="en-IN" sz="2000" dirty="0"/>
              <a:t> = ["Happy", [2, 0, 1, 5]]</a:t>
            </a:r>
          </a:p>
          <a:p>
            <a:pPr marL="0" indent="0">
              <a:buNone/>
            </a:pPr>
            <a:r>
              <a:rPr lang="en-IN" sz="2000" dirty="0"/>
              <a:t># Nested indexing</a:t>
            </a:r>
          </a:p>
          <a:p>
            <a:pPr marL="0" indent="0">
              <a:buNone/>
            </a:pPr>
            <a:r>
              <a:rPr lang="en-IN" sz="2000" dirty="0"/>
              <a:t>print(</a:t>
            </a:r>
            <a:r>
              <a:rPr lang="en-IN" sz="2000" dirty="0" err="1"/>
              <a:t>nlist</a:t>
            </a:r>
            <a:r>
              <a:rPr lang="en-IN" sz="2000" dirty="0"/>
              <a:t>[0][1])</a:t>
            </a:r>
          </a:p>
          <a:p>
            <a:pPr marL="0" indent="0">
              <a:buNone/>
            </a:pPr>
            <a:r>
              <a:rPr lang="en-IN" sz="2000" dirty="0"/>
              <a:t>print(</a:t>
            </a:r>
            <a:r>
              <a:rPr lang="en-IN" sz="2000" dirty="0" err="1"/>
              <a:t>nlist</a:t>
            </a:r>
            <a:r>
              <a:rPr lang="en-IN" sz="2000" dirty="0"/>
              <a:t>[1][3])</a:t>
            </a:r>
          </a:p>
        </p:txBody>
      </p:sp>
    </p:spTree>
    <p:extLst>
      <p:ext uri="{BB962C8B-B14F-4D97-AF65-F5344CB8AC3E}">
        <p14:creationId xmlns:p14="http://schemas.microsoft.com/office/powerpoint/2010/main" val="425596846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methods</a:t>
            </a:r>
          </a:p>
        </p:txBody>
      </p:sp>
      <p:sp>
        <p:nvSpPr>
          <p:cNvPr id="3" name="Content Placeholder 2"/>
          <p:cNvSpPr>
            <a:spLocks noGrp="1"/>
          </p:cNvSpPr>
          <p:nvPr>
            <p:ph idx="1"/>
          </p:nvPr>
        </p:nvSpPr>
        <p:spPr/>
        <p:txBody>
          <a:bodyPr/>
          <a:lstStyle/>
          <a:p>
            <a:r>
              <a:rPr lang="en-US" dirty="0"/>
              <a:t>append() method will add element at the end of the list.</a:t>
            </a:r>
          </a:p>
          <a:p>
            <a:endParaRPr lang="en-US" dirty="0"/>
          </a:p>
          <a:p>
            <a:endParaRPr lang="en-US" dirty="0"/>
          </a:p>
          <a:p>
            <a:pPr>
              <a:buNone/>
            </a:pPr>
            <a:endParaRPr lang="en-US" dirty="0"/>
          </a:p>
          <a:p>
            <a:r>
              <a:rPr lang="en-US" dirty="0"/>
              <a:t>insert() method will add element at the specified index in the list</a:t>
            </a:r>
          </a:p>
          <a:p>
            <a:endParaRPr lang="en-US" dirty="0"/>
          </a:p>
          <a:p>
            <a:endParaRPr lang="en-US" dirty="0"/>
          </a:p>
          <a:p>
            <a:endParaRPr lang="en-US" dirty="0"/>
          </a:p>
          <a:p>
            <a:endParaRPr lang="en-US" sz="700" dirty="0"/>
          </a:p>
          <a:p>
            <a:r>
              <a:rPr lang="en-US" dirty="0"/>
              <a:t>extend() method will add one data structure (List or any) to current List</a:t>
            </a:r>
          </a:p>
          <a:p>
            <a:endParaRPr lang="en-US" dirty="0"/>
          </a:p>
          <a:p>
            <a:pPr>
              <a:buNone/>
            </a:pPr>
            <a:endParaRPr lang="en-US" dirty="0"/>
          </a:p>
        </p:txBody>
      </p:sp>
      <p:sp>
        <p:nvSpPr>
          <p:cNvPr id="12" name="Rectangle 11">
            <a:extLst>
              <a:ext uri="{FF2B5EF4-FFF2-40B4-BE49-F238E27FC236}">
                <a16:creationId xmlns:a16="http://schemas.microsoft.com/office/drawing/2014/main" xmlns="" id="{D456EBDA-49A4-A843-A786-6989C63A54AA}"/>
              </a:ext>
            </a:extLst>
          </p:cNvPr>
          <p:cNvSpPr/>
          <p:nvPr/>
        </p:nvSpPr>
        <p:spPr>
          <a:xfrm>
            <a:off x="1022635" y="1641324"/>
            <a:ext cx="8472276" cy="86177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=['d','</a:t>
            </a:r>
            <a:r>
              <a:rPr lang="en-US" sz="1600" dirty="0" err="1">
                <a:solidFill>
                  <a:srgbClr val="000000"/>
                </a:solidFill>
                <a:latin typeface="Consolas"/>
              </a:rPr>
              <a:t>i</a:t>
            </a:r>
            <a:r>
              <a:rPr lang="en-US" sz="1600" dirty="0">
                <a:solidFill>
                  <a:srgbClr val="000000"/>
                </a:solidFill>
                <a:latin typeface="Consolas"/>
              </a:rPr>
              <a:t>','r']</a:t>
            </a:r>
          </a:p>
          <a:p>
            <a:r>
              <a:rPr lang="en-US" sz="1600" dirty="0" err="1">
                <a:solidFill>
                  <a:srgbClr val="000000"/>
                </a:solidFill>
                <a:latin typeface="Consolas"/>
              </a:rPr>
              <a:t>my_list.append</a:t>
            </a:r>
            <a:r>
              <a:rPr lang="en-US" sz="1600" dirty="0">
                <a:solidFill>
                  <a:srgbClr val="000000"/>
                </a:solidFill>
                <a:latin typeface="Consolas"/>
              </a:rPr>
              <a:t>('g')</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endParaRPr lang="en-US" sz="1600" b="0" dirty="0">
              <a:solidFill>
                <a:srgbClr val="000000"/>
              </a:solidFill>
              <a:latin typeface="Consolas"/>
            </a:endParaRPr>
          </a:p>
        </p:txBody>
      </p:sp>
      <p:sp>
        <p:nvSpPr>
          <p:cNvPr id="13" name="Rectangle 12">
            <a:extLst>
              <a:ext uri="{FF2B5EF4-FFF2-40B4-BE49-F238E27FC236}">
                <a16:creationId xmlns:a16="http://schemas.microsoft.com/office/drawing/2014/main" xmlns="" id="{35F9F4A0-4592-C04D-B2D0-0BF66A3BFA20}"/>
              </a:ext>
            </a:extLst>
          </p:cNvPr>
          <p:cNvSpPr/>
          <p:nvPr/>
        </p:nvSpPr>
        <p:spPr>
          <a:xfrm>
            <a:off x="522642" y="1641324"/>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14" name="Rectangle: Top Corners Rounded 6">
            <a:extLst>
              <a:ext uri="{FF2B5EF4-FFF2-40B4-BE49-F238E27FC236}">
                <a16:creationId xmlns:a16="http://schemas.microsoft.com/office/drawing/2014/main" xmlns="" id="{0336C271-A2A3-9445-9946-5006F0A250F4}"/>
              </a:ext>
            </a:extLst>
          </p:cNvPr>
          <p:cNvSpPr/>
          <p:nvPr/>
        </p:nvSpPr>
        <p:spPr>
          <a:xfrm>
            <a:off x="522642" y="1312140"/>
            <a:ext cx="203592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appendlistdemo.py</a:t>
            </a:r>
          </a:p>
        </p:txBody>
      </p:sp>
      <p:sp>
        <p:nvSpPr>
          <p:cNvPr id="21" name="Rectangle 20">
            <a:extLst>
              <a:ext uri="{FF2B5EF4-FFF2-40B4-BE49-F238E27FC236}">
                <a16:creationId xmlns:a16="http://schemas.microsoft.com/office/drawing/2014/main" xmlns="" id="{D456EBDA-49A4-A843-A786-6989C63A54AA}"/>
              </a:ext>
            </a:extLst>
          </p:cNvPr>
          <p:cNvSpPr/>
          <p:nvPr/>
        </p:nvSpPr>
        <p:spPr>
          <a:xfrm>
            <a:off x="1022635" y="3436257"/>
            <a:ext cx="8472276" cy="1077218"/>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a:t>
            </a:r>
            <a:r>
              <a:rPr lang="en-US" sz="1600" dirty="0" err="1">
                <a:solidFill>
                  <a:srgbClr val="000000"/>
                </a:solidFill>
                <a:latin typeface="Consolas"/>
              </a:rPr>
              <a:t>a','b','c</a:t>
            </a:r>
            <a:r>
              <a:rPr lang="en-US" sz="1600" dirty="0">
                <a:solidFill>
                  <a:srgbClr val="000000"/>
                </a:solidFill>
                <a:latin typeface="Consolas"/>
              </a:rPr>
              <a:t>']</a:t>
            </a:r>
          </a:p>
          <a:p>
            <a:r>
              <a:rPr lang="en-US" sz="1600" dirty="0" err="1">
                <a:solidFill>
                  <a:srgbClr val="000000"/>
                </a:solidFill>
                <a:latin typeface="Consolas"/>
              </a:rPr>
              <a:t>my_list.insert</a:t>
            </a:r>
            <a:r>
              <a:rPr lang="en-US" sz="1600" dirty="0">
                <a:solidFill>
                  <a:srgbClr val="000000"/>
                </a:solidFill>
                <a:latin typeface="Consolas"/>
              </a:rPr>
              <a:t>(2,'d')</a:t>
            </a:r>
          </a:p>
          <a:p>
            <a:r>
              <a:rPr lang="en-US" sz="1600" dirty="0" err="1">
                <a:solidFill>
                  <a:srgbClr val="000000"/>
                </a:solidFill>
                <a:latin typeface="Consolas"/>
              </a:rPr>
              <a:t>my_list.insert</a:t>
            </a:r>
            <a:r>
              <a:rPr lang="en-US" sz="1600" dirty="0">
                <a:solidFill>
                  <a:srgbClr val="000000"/>
                </a:solidFill>
                <a:latin typeface="Consolas"/>
              </a:rPr>
              <a:t>(3,'e')</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endParaRPr lang="en-US" sz="1600" b="0" dirty="0">
              <a:solidFill>
                <a:srgbClr val="000000"/>
              </a:solidFill>
              <a:latin typeface="Consolas"/>
            </a:endParaRPr>
          </a:p>
        </p:txBody>
      </p:sp>
      <p:sp>
        <p:nvSpPr>
          <p:cNvPr id="28" name="Rectangle 27">
            <a:extLst>
              <a:ext uri="{FF2B5EF4-FFF2-40B4-BE49-F238E27FC236}">
                <a16:creationId xmlns:a16="http://schemas.microsoft.com/office/drawing/2014/main" xmlns="" id="{35F9F4A0-4592-C04D-B2D0-0BF66A3BFA20}"/>
              </a:ext>
            </a:extLst>
          </p:cNvPr>
          <p:cNvSpPr/>
          <p:nvPr/>
        </p:nvSpPr>
        <p:spPr>
          <a:xfrm>
            <a:off x="522642" y="3436257"/>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29" name="Rectangle: Top Corners Rounded 6">
            <a:extLst>
              <a:ext uri="{FF2B5EF4-FFF2-40B4-BE49-F238E27FC236}">
                <a16:creationId xmlns:a16="http://schemas.microsoft.com/office/drawing/2014/main" xmlns="" id="{0336C271-A2A3-9445-9946-5006F0A250F4}"/>
              </a:ext>
            </a:extLst>
          </p:cNvPr>
          <p:cNvSpPr/>
          <p:nvPr/>
        </p:nvSpPr>
        <p:spPr>
          <a:xfrm>
            <a:off x="522642" y="31070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insertlistdemo.py</a:t>
            </a:r>
          </a:p>
        </p:txBody>
      </p:sp>
      <p:sp>
        <p:nvSpPr>
          <p:cNvPr id="31" name="Rectangle 30">
            <a:extLst>
              <a:ext uri="{FF2B5EF4-FFF2-40B4-BE49-F238E27FC236}">
                <a16:creationId xmlns:a16="http://schemas.microsoft.com/office/drawing/2014/main" xmlns="" id="{D456EBDA-49A4-A843-A786-6989C63A54AA}"/>
              </a:ext>
            </a:extLst>
          </p:cNvPr>
          <p:cNvSpPr/>
          <p:nvPr/>
        </p:nvSpPr>
        <p:spPr>
          <a:xfrm>
            <a:off x="1039568" y="5468257"/>
            <a:ext cx="8472276"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my_list1 = [</a:t>
            </a:r>
            <a:r>
              <a:rPr lang="en-US" sz="1600" dirty="0">
                <a:solidFill>
                  <a:srgbClr val="A31515"/>
                </a:solidFill>
                <a:latin typeface="Consolas"/>
              </a:rPr>
              <a:t>'d'</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i</a:t>
            </a:r>
            <a:r>
              <a:rPr lang="en-US" sz="1600" dirty="0">
                <a:solidFill>
                  <a:srgbClr val="A31515"/>
                </a:solidFill>
                <a:latin typeface="Consolas"/>
              </a:rPr>
              <a:t>'</a:t>
            </a:r>
            <a:r>
              <a:rPr lang="en-US" sz="1600" dirty="0">
                <a:solidFill>
                  <a:srgbClr val="000000"/>
                </a:solidFill>
                <a:latin typeface="Consolas"/>
              </a:rPr>
              <a:t>]</a:t>
            </a:r>
          </a:p>
          <a:p>
            <a:r>
              <a:rPr lang="en-US" sz="1600" dirty="0">
                <a:solidFill>
                  <a:srgbClr val="000000"/>
                </a:solidFill>
                <a:latin typeface="Consolas"/>
              </a:rPr>
              <a:t>my_list2 = [</a:t>
            </a:r>
            <a:r>
              <a:rPr lang="en-US" sz="1600" dirty="0">
                <a:solidFill>
                  <a:srgbClr val="A31515"/>
                </a:solidFill>
                <a:latin typeface="Consolas"/>
              </a:rPr>
              <a:t>'</a:t>
            </a:r>
            <a:r>
              <a:rPr lang="en-US" sz="1600" dirty="0" err="1">
                <a:solidFill>
                  <a:srgbClr val="A31515"/>
                </a:solidFill>
                <a:latin typeface="Consolas"/>
              </a:rPr>
              <a:t>r'</a:t>
            </a:r>
            <a:r>
              <a:rPr lang="en-US" sz="1600" dirty="0" err="1">
                <a:solidFill>
                  <a:srgbClr val="000000"/>
                </a:solidFill>
                <a:latin typeface="Consolas"/>
              </a:rPr>
              <a:t>,</a:t>
            </a:r>
            <a:r>
              <a:rPr lang="en-US" sz="1600" dirty="0" err="1">
                <a:solidFill>
                  <a:srgbClr val="A31515"/>
                </a:solidFill>
                <a:latin typeface="Consolas"/>
              </a:rPr>
              <a:t>'g</a:t>
            </a:r>
            <a:r>
              <a:rPr lang="en-US" sz="1600" dirty="0">
                <a:solidFill>
                  <a:srgbClr val="A31515"/>
                </a:solidFill>
                <a:latin typeface="Consolas"/>
              </a:rPr>
              <a:t>'</a:t>
            </a:r>
            <a:r>
              <a:rPr lang="en-US" sz="1600" dirty="0">
                <a:solidFill>
                  <a:srgbClr val="000000"/>
                </a:solidFill>
                <a:latin typeface="Consolas"/>
              </a:rPr>
              <a:t>]</a:t>
            </a:r>
          </a:p>
          <a:p>
            <a:r>
              <a:rPr lang="en-US" sz="1600" dirty="0">
                <a:solidFill>
                  <a:srgbClr val="000000"/>
                </a:solidFill>
                <a:latin typeface="Consolas"/>
              </a:rPr>
              <a:t>my_list1.extend(my_list2)</a:t>
            </a:r>
          </a:p>
          <a:p>
            <a:r>
              <a:rPr lang="en-US" sz="1600" dirty="0">
                <a:solidFill>
                  <a:srgbClr val="000000"/>
                </a:solidFill>
                <a:latin typeface="Consolas"/>
              </a:rPr>
              <a:t>print(my_list1)</a:t>
            </a:r>
            <a:endParaRPr lang="en-US" sz="1600" b="0" dirty="0">
              <a:solidFill>
                <a:srgbClr val="000000"/>
              </a:solidFill>
              <a:latin typeface="Consolas"/>
            </a:endParaRPr>
          </a:p>
        </p:txBody>
      </p:sp>
      <p:sp>
        <p:nvSpPr>
          <p:cNvPr id="32" name="Rectangle 31">
            <a:extLst>
              <a:ext uri="{FF2B5EF4-FFF2-40B4-BE49-F238E27FC236}">
                <a16:creationId xmlns:a16="http://schemas.microsoft.com/office/drawing/2014/main" xmlns="" id="{35F9F4A0-4592-C04D-B2D0-0BF66A3BFA20}"/>
              </a:ext>
            </a:extLst>
          </p:cNvPr>
          <p:cNvSpPr/>
          <p:nvPr/>
        </p:nvSpPr>
        <p:spPr>
          <a:xfrm>
            <a:off x="539575" y="5468257"/>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33" name="Rectangle: Top Corners Rounded 6">
            <a:extLst>
              <a:ext uri="{FF2B5EF4-FFF2-40B4-BE49-F238E27FC236}">
                <a16:creationId xmlns:a16="http://schemas.microsoft.com/office/drawing/2014/main" xmlns="" id="{0336C271-A2A3-9445-9946-5006F0A250F4}"/>
              </a:ext>
            </a:extLst>
          </p:cNvPr>
          <p:cNvSpPr/>
          <p:nvPr/>
        </p:nvSpPr>
        <p:spPr>
          <a:xfrm>
            <a:off x="539575" y="51390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extendlistdemo.py</a:t>
            </a:r>
          </a:p>
        </p:txBody>
      </p:sp>
    </p:spTree>
    <p:extLst>
      <p:ext uri="{BB962C8B-B14F-4D97-AF65-F5344CB8AC3E}">
        <p14:creationId xmlns:p14="http://schemas.microsoft.com/office/powerpoint/2010/main" val="20450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1">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build="p" animBg="1"/>
      <p:bldP spid="13" grpId="0" animBg="1"/>
      <p:bldP spid="14" grpId="0" animBg="1"/>
      <p:bldP spid="21" grpId="0" build="p" animBg="1"/>
      <p:bldP spid="28" grpId="0" animBg="1"/>
      <p:bldP spid="29" grpId="0" animBg="1"/>
      <p:bldP spid="31" grpId="0" build="p" animBg="1"/>
      <p:bldP spid="32" grpId="0" animBg="1"/>
      <p:bldP spid="33"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methods (cont.)</a:t>
            </a:r>
          </a:p>
        </p:txBody>
      </p:sp>
      <p:sp>
        <p:nvSpPr>
          <p:cNvPr id="3" name="Content Placeholder 2"/>
          <p:cNvSpPr>
            <a:spLocks noGrp="1"/>
          </p:cNvSpPr>
          <p:nvPr>
            <p:ph idx="1"/>
          </p:nvPr>
        </p:nvSpPr>
        <p:spPr/>
        <p:txBody>
          <a:bodyPr/>
          <a:lstStyle/>
          <a:p>
            <a:r>
              <a:rPr lang="en-US" dirty="0"/>
              <a:t>pop() method will remove the last element from the list and return it.</a:t>
            </a:r>
          </a:p>
          <a:p>
            <a:endParaRPr lang="en-US" dirty="0"/>
          </a:p>
          <a:p>
            <a:endParaRPr lang="en-US" dirty="0"/>
          </a:p>
          <a:p>
            <a:pPr>
              <a:buNone/>
            </a:pPr>
            <a:endParaRPr lang="en-US" dirty="0"/>
          </a:p>
          <a:p>
            <a:r>
              <a:rPr lang="en-US" dirty="0"/>
              <a:t>remove() method will remove first occurrence of specified element</a:t>
            </a:r>
          </a:p>
          <a:p>
            <a:endParaRPr lang="en-US" dirty="0"/>
          </a:p>
          <a:p>
            <a:endParaRPr lang="en-US" dirty="0"/>
          </a:p>
          <a:p>
            <a:pPr>
              <a:buNone/>
            </a:pPr>
            <a:endParaRPr lang="en-US" sz="700" dirty="0"/>
          </a:p>
          <a:p>
            <a:r>
              <a:rPr lang="en-US" dirty="0"/>
              <a:t>clear() method will remove all the elements from the List</a:t>
            </a:r>
          </a:p>
          <a:p>
            <a:endParaRPr lang="en-US" dirty="0"/>
          </a:p>
          <a:p>
            <a:endParaRPr lang="en-US" dirty="0"/>
          </a:p>
          <a:p>
            <a:endParaRPr lang="en-US" dirty="0"/>
          </a:p>
          <a:p>
            <a:r>
              <a:rPr lang="en-US" dirty="0"/>
              <a:t>index() method will return first index of the specified element.</a:t>
            </a:r>
          </a:p>
          <a:p>
            <a:pPr>
              <a:buNone/>
            </a:pPr>
            <a:endParaRPr lang="en-US" dirty="0"/>
          </a:p>
        </p:txBody>
      </p:sp>
      <p:sp>
        <p:nvSpPr>
          <p:cNvPr id="12" name="Rectangle 11">
            <a:extLst>
              <a:ext uri="{FF2B5EF4-FFF2-40B4-BE49-F238E27FC236}">
                <a16:creationId xmlns:a16="http://schemas.microsoft.com/office/drawing/2014/main" xmlns="" id="{D456EBDA-49A4-A843-A786-6989C63A54AA}"/>
              </a:ext>
            </a:extLst>
          </p:cNvPr>
          <p:cNvSpPr/>
          <p:nvPr/>
        </p:nvSpPr>
        <p:spPr>
          <a:xfrm>
            <a:off x="1022635" y="1641324"/>
            <a:ext cx="8472276" cy="1077218"/>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=['d','</a:t>
            </a:r>
            <a:r>
              <a:rPr lang="en-US" sz="1600" dirty="0" err="1">
                <a:solidFill>
                  <a:srgbClr val="000000"/>
                </a:solidFill>
                <a:latin typeface="Consolas"/>
              </a:rPr>
              <a:t>i</a:t>
            </a:r>
            <a:r>
              <a:rPr lang="en-US" sz="1600" dirty="0">
                <a:solidFill>
                  <a:srgbClr val="000000"/>
                </a:solidFill>
                <a:latin typeface="Consolas"/>
              </a:rPr>
              <a:t>','r']</a:t>
            </a:r>
          </a:p>
          <a:p>
            <a:r>
              <a:rPr lang="en-US" sz="1600" dirty="0">
                <a:solidFill>
                  <a:srgbClr val="000000"/>
                </a:solidFill>
                <a:latin typeface="Consolas"/>
              </a:rPr>
              <a:t>temp=</a:t>
            </a:r>
            <a:r>
              <a:rPr lang="en-US" sz="1600" dirty="0" err="1">
                <a:solidFill>
                  <a:srgbClr val="000000"/>
                </a:solidFill>
                <a:latin typeface="Consolas"/>
              </a:rPr>
              <a:t>my_list.pop</a:t>
            </a:r>
            <a:r>
              <a:rPr lang="en-US" sz="1600" dirty="0">
                <a:solidFill>
                  <a:srgbClr val="000000"/>
                </a:solidFill>
                <a:latin typeface="Consolas"/>
              </a:rPr>
              <a:t>()</a:t>
            </a:r>
          </a:p>
          <a:p>
            <a:r>
              <a:rPr lang="en-US" sz="1600" dirty="0">
                <a:solidFill>
                  <a:srgbClr val="000000"/>
                </a:solidFill>
                <a:latin typeface="Consolas"/>
              </a:rPr>
              <a:t>print(temp)</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endParaRPr lang="en-US" sz="1600" b="0" dirty="0">
              <a:solidFill>
                <a:srgbClr val="000000"/>
              </a:solidFill>
              <a:latin typeface="Consolas"/>
            </a:endParaRPr>
          </a:p>
        </p:txBody>
      </p:sp>
      <p:sp>
        <p:nvSpPr>
          <p:cNvPr id="13" name="Rectangle 12">
            <a:extLst>
              <a:ext uri="{FF2B5EF4-FFF2-40B4-BE49-F238E27FC236}">
                <a16:creationId xmlns:a16="http://schemas.microsoft.com/office/drawing/2014/main" xmlns="" id="{35F9F4A0-4592-C04D-B2D0-0BF66A3BFA20}"/>
              </a:ext>
            </a:extLst>
          </p:cNvPr>
          <p:cNvSpPr/>
          <p:nvPr/>
        </p:nvSpPr>
        <p:spPr>
          <a:xfrm>
            <a:off x="522642" y="1641324"/>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14" name="Rectangle: Top Corners Rounded 6">
            <a:extLst>
              <a:ext uri="{FF2B5EF4-FFF2-40B4-BE49-F238E27FC236}">
                <a16:creationId xmlns:a16="http://schemas.microsoft.com/office/drawing/2014/main" xmlns="" id="{0336C271-A2A3-9445-9946-5006F0A250F4}"/>
              </a:ext>
            </a:extLst>
          </p:cNvPr>
          <p:cNvSpPr/>
          <p:nvPr/>
        </p:nvSpPr>
        <p:spPr>
          <a:xfrm>
            <a:off x="522642" y="13121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poplistdemo.py</a:t>
            </a:r>
          </a:p>
        </p:txBody>
      </p:sp>
      <p:sp>
        <p:nvSpPr>
          <p:cNvPr id="21" name="Rectangle 20">
            <a:extLst>
              <a:ext uri="{FF2B5EF4-FFF2-40B4-BE49-F238E27FC236}">
                <a16:creationId xmlns:a16="http://schemas.microsoft.com/office/drawing/2014/main" xmlns="" id="{D456EBDA-49A4-A843-A786-6989C63A54AA}"/>
              </a:ext>
            </a:extLst>
          </p:cNvPr>
          <p:cNvSpPr/>
          <p:nvPr/>
        </p:nvSpPr>
        <p:spPr>
          <a:xfrm>
            <a:off x="1022635" y="3436257"/>
            <a:ext cx="8472276" cy="86177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a:t>
            </a:r>
            <a:r>
              <a:rPr lang="en-US" sz="1600" dirty="0">
                <a:solidFill>
                  <a:srgbClr val="A31515"/>
                </a:solidFill>
                <a:latin typeface="Consolas"/>
              </a:rPr>
              <a:t>'d'</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i</a:t>
            </a:r>
            <a:r>
              <a:rPr lang="en-US" sz="1600" dirty="0">
                <a:solidFill>
                  <a:srgbClr val="A31515"/>
                </a:solidFill>
                <a:latin typeface="Consolas"/>
              </a:rPr>
              <a:t>'</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d'</a:t>
            </a:r>
            <a:r>
              <a:rPr lang="en-US" sz="1600" dirty="0" err="1">
                <a:solidFill>
                  <a:srgbClr val="000000"/>
                </a:solidFill>
                <a:latin typeface="Consolas"/>
              </a:rPr>
              <a:t>,</a:t>
            </a:r>
            <a:r>
              <a:rPr lang="en-US" sz="1600" dirty="0" err="1">
                <a:solidFill>
                  <a:srgbClr val="A31515"/>
                </a:solidFill>
                <a:latin typeface="Consolas"/>
              </a:rPr>
              <a:t>'r</a:t>
            </a:r>
            <a:r>
              <a:rPr lang="en-US" sz="1600" dirty="0">
                <a:solidFill>
                  <a:srgbClr val="A31515"/>
                </a:solidFill>
                <a:latin typeface="Consolas"/>
              </a:rPr>
              <a:t>'</a:t>
            </a:r>
            <a:r>
              <a:rPr lang="en-US" sz="1600" dirty="0">
                <a:solidFill>
                  <a:srgbClr val="000000"/>
                </a:solidFill>
                <a:latin typeface="Consolas"/>
              </a:rPr>
              <a:t>]</a:t>
            </a:r>
          </a:p>
          <a:p>
            <a:r>
              <a:rPr lang="en-US" sz="1600" dirty="0" err="1">
                <a:solidFill>
                  <a:srgbClr val="000000"/>
                </a:solidFill>
                <a:latin typeface="Consolas"/>
              </a:rPr>
              <a:t>my_list.remove</a:t>
            </a:r>
            <a:r>
              <a:rPr lang="en-US" sz="1600" dirty="0">
                <a:solidFill>
                  <a:srgbClr val="000000"/>
                </a:solidFill>
                <a:latin typeface="Consolas"/>
              </a:rPr>
              <a:t>(</a:t>
            </a:r>
            <a:r>
              <a:rPr lang="en-US" sz="1600" dirty="0">
                <a:solidFill>
                  <a:srgbClr val="A31515"/>
                </a:solidFill>
                <a:latin typeface="Consolas"/>
              </a:rPr>
              <a:t>'d'</a:t>
            </a:r>
            <a:r>
              <a:rPr lang="en-US" sz="1600" dirty="0">
                <a:solidFill>
                  <a:srgbClr val="000000"/>
                </a:solidFill>
                <a:latin typeface="Consolas"/>
              </a:rPr>
              <a:t>)</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endParaRPr lang="en-US" sz="1600" b="0" dirty="0">
              <a:solidFill>
                <a:srgbClr val="000000"/>
              </a:solidFill>
              <a:latin typeface="Consolas"/>
            </a:endParaRPr>
          </a:p>
        </p:txBody>
      </p:sp>
      <p:sp>
        <p:nvSpPr>
          <p:cNvPr id="28" name="Rectangle 27">
            <a:extLst>
              <a:ext uri="{FF2B5EF4-FFF2-40B4-BE49-F238E27FC236}">
                <a16:creationId xmlns:a16="http://schemas.microsoft.com/office/drawing/2014/main" xmlns="" id="{35F9F4A0-4592-C04D-B2D0-0BF66A3BFA20}"/>
              </a:ext>
            </a:extLst>
          </p:cNvPr>
          <p:cNvSpPr/>
          <p:nvPr/>
        </p:nvSpPr>
        <p:spPr>
          <a:xfrm>
            <a:off x="522642" y="3436257"/>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29" name="Rectangle: Top Corners Rounded 6">
            <a:extLst>
              <a:ext uri="{FF2B5EF4-FFF2-40B4-BE49-F238E27FC236}">
                <a16:creationId xmlns:a16="http://schemas.microsoft.com/office/drawing/2014/main" xmlns="" id="{0336C271-A2A3-9445-9946-5006F0A250F4}"/>
              </a:ext>
            </a:extLst>
          </p:cNvPr>
          <p:cNvSpPr/>
          <p:nvPr/>
        </p:nvSpPr>
        <p:spPr>
          <a:xfrm>
            <a:off x="522642" y="31070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removelistdemo.py</a:t>
            </a:r>
          </a:p>
        </p:txBody>
      </p:sp>
      <p:sp>
        <p:nvSpPr>
          <p:cNvPr id="31" name="Rectangle 30">
            <a:extLst>
              <a:ext uri="{FF2B5EF4-FFF2-40B4-BE49-F238E27FC236}">
                <a16:creationId xmlns:a16="http://schemas.microsoft.com/office/drawing/2014/main" xmlns="" id="{D456EBDA-49A4-A843-A786-6989C63A54AA}"/>
              </a:ext>
            </a:extLst>
          </p:cNvPr>
          <p:cNvSpPr/>
          <p:nvPr/>
        </p:nvSpPr>
        <p:spPr>
          <a:xfrm>
            <a:off x="1039568" y="4993805"/>
            <a:ext cx="8472276" cy="86177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a:t>
            </a:r>
            <a:r>
              <a:rPr lang="en-US" sz="1600" dirty="0">
                <a:solidFill>
                  <a:srgbClr val="A31515"/>
                </a:solidFill>
                <a:latin typeface="Consolas"/>
              </a:rPr>
              <a:t>'d'</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i</a:t>
            </a:r>
            <a:r>
              <a:rPr lang="en-US" sz="1600" dirty="0">
                <a:solidFill>
                  <a:srgbClr val="A31515"/>
                </a:solidFill>
                <a:latin typeface="Consolas"/>
              </a:rPr>
              <a:t>'</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d'</a:t>
            </a:r>
            <a:r>
              <a:rPr lang="en-US" sz="1600" dirty="0" err="1">
                <a:solidFill>
                  <a:srgbClr val="000000"/>
                </a:solidFill>
                <a:latin typeface="Consolas"/>
              </a:rPr>
              <a:t>,</a:t>
            </a:r>
            <a:r>
              <a:rPr lang="en-US" sz="1600" dirty="0" err="1">
                <a:solidFill>
                  <a:srgbClr val="A31515"/>
                </a:solidFill>
                <a:latin typeface="Consolas"/>
              </a:rPr>
              <a:t>'r</a:t>
            </a:r>
            <a:r>
              <a:rPr lang="en-US" sz="1600" dirty="0">
                <a:solidFill>
                  <a:srgbClr val="A31515"/>
                </a:solidFill>
                <a:latin typeface="Consolas"/>
              </a:rPr>
              <a:t>'</a:t>
            </a:r>
            <a:r>
              <a:rPr lang="en-US" sz="1600" dirty="0">
                <a:solidFill>
                  <a:srgbClr val="000000"/>
                </a:solidFill>
                <a:latin typeface="Consolas"/>
              </a:rPr>
              <a:t>]</a:t>
            </a:r>
          </a:p>
          <a:p>
            <a:r>
              <a:rPr lang="en-US" sz="1600" dirty="0" err="1">
                <a:solidFill>
                  <a:srgbClr val="000000"/>
                </a:solidFill>
                <a:latin typeface="Consolas"/>
              </a:rPr>
              <a:t>my_list.clear</a:t>
            </a:r>
            <a:r>
              <a:rPr lang="en-US" sz="1600" dirty="0">
                <a:solidFill>
                  <a:srgbClr val="000000"/>
                </a:solidFill>
                <a:latin typeface="Consolas"/>
              </a:rPr>
              <a:t>()</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endParaRPr lang="en-US" sz="1600" b="0" dirty="0">
              <a:solidFill>
                <a:srgbClr val="000000"/>
              </a:solidFill>
              <a:latin typeface="Consolas"/>
            </a:endParaRPr>
          </a:p>
        </p:txBody>
      </p:sp>
      <p:sp>
        <p:nvSpPr>
          <p:cNvPr id="32" name="Rectangle 31">
            <a:extLst>
              <a:ext uri="{FF2B5EF4-FFF2-40B4-BE49-F238E27FC236}">
                <a16:creationId xmlns:a16="http://schemas.microsoft.com/office/drawing/2014/main" xmlns="" id="{35F9F4A0-4592-C04D-B2D0-0BF66A3BFA20}"/>
              </a:ext>
            </a:extLst>
          </p:cNvPr>
          <p:cNvSpPr/>
          <p:nvPr/>
        </p:nvSpPr>
        <p:spPr>
          <a:xfrm>
            <a:off x="539575" y="4993805"/>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33" name="Rectangle: Top Corners Rounded 6">
            <a:extLst>
              <a:ext uri="{FF2B5EF4-FFF2-40B4-BE49-F238E27FC236}">
                <a16:creationId xmlns:a16="http://schemas.microsoft.com/office/drawing/2014/main" xmlns="" id="{0336C271-A2A3-9445-9946-5006F0A250F4}"/>
              </a:ext>
            </a:extLst>
          </p:cNvPr>
          <p:cNvSpPr/>
          <p:nvPr/>
        </p:nvSpPr>
        <p:spPr>
          <a:xfrm>
            <a:off x="539575" y="4664621"/>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clearlistdemo.py</a:t>
            </a:r>
          </a:p>
        </p:txBody>
      </p:sp>
    </p:spTree>
    <p:extLst>
      <p:ext uri="{BB962C8B-B14F-4D97-AF65-F5344CB8AC3E}">
        <p14:creationId xmlns:p14="http://schemas.microsoft.com/office/powerpoint/2010/main" val="275284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1">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build="p" animBg="1"/>
      <p:bldP spid="13" grpId="0" animBg="1"/>
      <p:bldP spid="14" grpId="0" animBg="1"/>
      <p:bldP spid="21" grpId="0" build="p" animBg="1"/>
      <p:bldP spid="28" grpId="0" animBg="1"/>
      <p:bldP spid="29" grpId="0" animBg="1"/>
      <p:bldP spid="31" grpId="0" build="p" animBg="1"/>
      <p:bldP spid="32" grpId="0" animBg="1"/>
      <p:bldP spid="33"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methods (cont.)</a:t>
            </a:r>
          </a:p>
        </p:txBody>
      </p:sp>
      <p:sp>
        <p:nvSpPr>
          <p:cNvPr id="3" name="Content Placeholder 2"/>
          <p:cNvSpPr>
            <a:spLocks noGrp="1"/>
          </p:cNvSpPr>
          <p:nvPr>
            <p:ph idx="1"/>
          </p:nvPr>
        </p:nvSpPr>
        <p:spPr/>
        <p:txBody>
          <a:bodyPr/>
          <a:lstStyle/>
          <a:p>
            <a:r>
              <a:rPr lang="en-US" dirty="0"/>
              <a:t>count() method will return the number of occurrence of the specified element.</a:t>
            </a:r>
          </a:p>
          <a:p>
            <a:endParaRPr lang="en-US" dirty="0"/>
          </a:p>
          <a:p>
            <a:endParaRPr lang="en-US" dirty="0"/>
          </a:p>
          <a:p>
            <a:pPr>
              <a:buNone/>
            </a:pPr>
            <a:endParaRPr lang="en-US" dirty="0"/>
          </a:p>
          <a:p>
            <a:r>
              <a:rPr lang="en-US" dirty="0"/>
              <a:t>reverse() method will reverse the elements of the List</a:t>
            </a:r>
          </a:p>
          <a:p>
            <a:endParaRPr lang="en-US" dirty="0"/>
          </a:p>
          <a:p>
            <a:endParaRPr lang="en-US" dirty="0"/>
          </a:p>
          <a:p>
            <a:pPr>
              <a:buNone/>
            </a:pPr>
            <a:endParaRPr lang="en-US" sz="700" dirty="0"/>
          </a:p>
          <a:p>
            <a:r>
              <a:rPr lang="en-US" dirty="0"/>
              <a:t>sort() method will sort the elements in the List</a:t>
            </a:r>
          </a:p>
          <a:p>
            <a:pPr>
              <a:buNone/>
            </a:pPr>
            <a:endParaRPr lang="en-US" dirty="0"/>
          </a:p>
        </p:txBody>
      </p:sp>
      <p:sp>
        <p:nvSpPr>
          <p:cNvPr id="12" name="Rectangle 11">
            <a:extLst>
              <a:ext uri="{FF2B5EF4-FFF2-40B4-BE49-F238E27FC236}">
                <a16:creationId xmlns:a16="http://schemas.microsoft.com/office/drawing/2014/main" xmlns="" id="{D456EBDA-49A4-A843-A786-6989C63A54AA}"/>
              </a:ext>
            </a:extLst>
          </p:cNvPr>
          <p:cNvSpPr/>
          <p:nvPr/>
        </p:nvSpPr>
        <p:spPr>
          <a:xfrm>
            <a:off x="1022635" y="1641324"/>
            <a:ext cx="8472276" cy="86177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=['d','</a:t>
            </a:r>
            <a:r>
              <a:rPr lang="en-US" sz="1600" dirty="0" err="1">
                <a:solidFill>
                  <a:srgbClr val="000000"/>
                </a:solidFill>
                <a:latin typeface="Consolas"/>
              </a:rPr>
              <a:t>i</a:t>
            </a:r>
            <a:r>
              <a:rPr lang="en-US" sz="1600" dirty="0">
                <a:solidFill>
                  <a:srgbClr val="000000"/>
                </a:solidFill>
                <a:latin typeface="Consolas"/>
              </a:rPr>
              <a:t>','</a:t>
            </a:r>
            <a:r>
              <a:rPr lang="en-US" sz="1600" dirty="0" err="1">
                <a:solidFill>
                  <a:srgbClr val="000000"/>
                </a:solidFill>
                <a:latin typeface="Consolas"/>
              </a:rPr>
              <a:t>d','r</a:t>
            </a:r>
            <a:r>
              <a:rPr lang="en-US" sz="1600" dirty="0">
                <a:solidFill>
                  <a:srgbClr val="000000"/>
                </a:solidFill>
                <a:latin typeface="Consolas"/>
              </a:rPr>
              <a:t>']</a:t>
            </a:r>
          </a:p>
          <a:p>
            <a:r>
              <a:rPr lang="en-US" sz="1600" dirty="0">
                <a:solidFill>
                  <a:srgbClr val="000000"/>
                </a:solidFill>
                <a:latin typeface="Consolas"/>
              </a:rPr>
              <a:t>c=</a:t>
            </a:r>
            <a:r>
              <a:rPr lang="en-US" sz="1600" dirty="0" err="1">
                <a:solidFill>
                  <a:srgbClr val="000000"/>
                </a:solidFill>
                <a:latin typeface="Consolas"/>
              </a:rPr>
              <a:t>my_list.count</a:t>
            </a:r>
            <a:r>
              <a:rPr lang="en-US" sz="1600" dirty="0">
                <a:solidFill>
                  <a:srgbClr val="000000"/>
                </a:solidFill>
                <a:latin typeface="Consolas"/>
              </a:rPr>
              <a:t>('d')</a:t>
            </a:r>
          </a:p>
          <a:p>
            <a:r>
              <a:rPr lang="en-US" sz="1600" dirty="0">
                <a:solidFill>
                  <a:srgbClr val="000000"/>
                </a:solidFill>
                <a:latin typeface="Consolas"/>
              </a:rPr>
              <a:t>print(c)</a:t>
            </a:r>
            <a:endParaRPr lang="en-US" sz="1600" b="0" dirty="0">
              <a:solidFill>
                <a:srgbClr val="000000"/>
              </a:solidFill>
              <a:latin typeface="Consolas"/>
            </a:endParaRPr>
          </a:p>
        </p:txBody>
      </p:sp>
      <p:sp>
        <p:nvSpPr>
          <p:cNvPr id="13" name="Rectangle 12">
            <a:extLst>
              <a:ext uri="{FF2B5EF4-FFF2-40B4-BE49-F238E27FC236}">
                <a16:creationId xmlns:a16="http://schemas.microsoft.com/office/drawing/2014/main" xmlns="" id="{35F9F4A0-4592-C04D-B2D0-0BF66A3BFA20}"/>
              </a:ext>
            </a:extLst>
          </p:cNvPr>
          <p:cNvSpPr/>
          <p:nvPr/>
        </p:nvSpPr>
        <p:spPr>
          <a:xfrm>
            <a:off x="522642" y="1641324"/>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14" name="Rectangle: Top Corners Rounded 6">
            <a:extLst>
              <a:ext uri="{FF2B5EF4-FFF2-40B4-BE49-F238E27FC236}">
                <a16:creationId xmlns:a16="http://schemas.microsoft.com/office/drawing/2014/main" xmlns="" id="{0336C271-A2A3-9445-9946-5006F0A250F4}"/>
              </a:ext>
            </a:extLst>
          </p:cNvPr>
          <p:cNvSpPr/>
          <p:nvPr/>
        </p:nvSpPr>
        <p:spPr>
          <a:xfrm>
            <a:off x="522642" y="13121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countlistdemo.py</a:t>
            </a:r>
          </a:p>
        </p:txBody>
      </p:sp>
      <p:sp>
        <p:nvSpPr>
          <p:cNvPr id="21" name="Rectangle 20">
            <a:extLst>
              <a:ext uri="{FF2B5EF4-FFF2-40B4-BE49-F238E27FC236}">
                <a16:creationId xmlns:a16="http://schemas.microsoft.com/office/drawing/2014/main" xmlns="" id="{D456EBDA-49A4-A843-A786-6989C63A54AA}"/>
              </a:ext>
            </a:extLst>
          </p:cNvPr>
          <p:cNvSpPr/>
          <p:nvPr/>
        </p:nvSpPr>
        <p:spPr>
          <a:xfrm>
            <a:off x="1022635" y="3436257"/>
            <a:ext cx="8472276" cy="86177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a:t>
            </a:r>
            <a:r>
              <a:rPr lang="en-US" sz="1600" dirty="0">
                <a:solidFill>
                  <a:srgbClr val="A31515"/>
                </a:solidFill>
                <a:latin typeface="Consolas"/>
              </a:rPr>
              <a:t>'d'</a:t>
            </a:r>
            <a:r>
              <a:rPr lang="en-US" sz="1600" dirty="0">
                <a:solidFill>
                  <a:srgbClr val="000000"/>
                </a:solidFill>
                <a:latin typeface="Consolas"/>
              </a:rPr>
              <a:t>,</a:t>
            </a:r>
            <a:r>
              <a:rPr lang="en-US" sz="1600" dirty="0">
                <a:solidFill>
                  <a:srgbClr val="A31515"/>
                </a:solidFill>
                <a:latin typeface="Consolas"/>
              </a:rPr>
              <a:t>'</a:t>
            </a:r>
            <a:r>
              <a:rPr lang="en-US" sz="1600" dirty="0" err="1">
                <a:solidFill>
                  <a:srgbClr val="A31515"/>
                </a:solidFill>
                <a:latin typeface="Consolas"/>
              </a:rPr>
              <a:t>i</a:t>
            </a:r>
            <a:r>
              <a:rPr lang="en-US" sz="1600" dirty="0">
                <a:solidFill>
                  <a:srgbClr val="A31515"/>
                </a:solidFill>
                <a:latin typeface="Consolas"/>
              </a:rPr>
              <a:t>'</a:t>
            </a:r>
            <a:r>
              <a:rPr lang="en-US" sz="1600" dirty="0">
                <a:solidFill>
                  <a:srgbClr val="000000"/>
                </a:solidFill>
                <a:latin typeface="Consolas"/>
              </a:rPr>
              <a:t>,</a:t>
            </a:r>
            <a:r>
              <a:rPr lang="en-US" sz="1600" dirty="0">
                <a:solidFill>
                  <a:srgbClr val="A31515"/>
                </a:solidFill>
                <a:latin typeface="Consolas"/>
              </a:rPr>
              <a:t>'r'</a:t>
            </a:r>
            <a:r>
              <a:rPr lang="en-US" sz="1600" dirty="0">
                <a:solidFill>
                  <a:srgbClr val="000000"/>
                </a:solidFill>
                <a:latin typeface="Consolas"/>
              </a:rPr>
              <a:t>]</a:t>
            </a:r>
          </a:p>
          <a:p>
            <a:r>
              <a:rPr lang="en-US" sz="1600" dirty="0" err="1">
                <a:solidFill>
                  <a:srgbClr val="000000"/>
                </a:solidFill>
                <a:latin typeface="Consolas"/>
              </a:rPr>
              <a:t>my_list.reverse</a:t>
            </a:r>
            <a:r>
              <a:rPr lang="en-US" sz="1600" dirty="0">
                <a:solidFill>
                  <a:srgbClr val="000000"/>
                </a:solidFill>
                <a:latin typeface="Consolas"/>
              </a:rPr>
              <a:t>()</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endParaRPr lang="en-US" sz="1600" b="0" dirty="0">
              <a:solidFill>
                <a:srgbClr val="000000"/>
              </a:solidFill>
              <a:latin typeface="Consolas"/>
            </a:endParaRPr>
          </a:p>
        </p:txBody>
      </p:sp>
      <p:sp>
        <p:nvSpPr>
          <p:cNvPr id="28" name="Rectangle 27">
            <a:extLst>
              <a:ext uri="{FF2B5EF4-FFF2-40B4-BE49-F238E27FC236}">
                <a16:creationId xmlns:a16="http://schemas.microsoft.com/office/drawing/2014/main" xmlns="" id="{35F9F4A0-4592-C04D-B2D0-0BF66A3BFA20}"/>
              </a:ext>
            </a:extLst>
          </p:cNvPr>
          <p:cNvSpPr/>
          <p:nvPr/>
        </p:nvSpPr>
        <p:spPr>
          <a:xfrm>
            <a:off x="522642" y="3436257"/>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29" name="Rectangle: Top Corners Rounded 6">
            <a:extLst>
              <a:ext uri="{FF2B5EF4-FFF2-40B4-BE49-F238E27FC236}">
                <a16:creationId xmlns:a16="http://schemas.microsoft.com/office/drawing/2014/main" xmlns="" id="{0336C271-A2A3-9445-9946-5006F0A250F4}"/>
              </a:ext>
            </a:extLst>
          </p:cNvPr>
          <p:cNvSpPr/>
          <p:nvPr/>
        </p:nvSpPr>
        <p:spPr>
          <a:xfrm>
            <a:off x="522642" y="31070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reverselistdemo.py</a:t>
            </a:r>
          </a:p>
        </p:txBody>
      </p:sp>
      <p:sp>
        <p:nvSpPr>
          <p:cNvPr id="31" name="Rectangle 30">
            <a:extLst>
              <a:ext uri="{FF2B5EF4-FFF2-40B4-BE49-F238E27FC236}">
                <a16:creationId xmlns:a16="http://schemas.microsoft.com/office/drawing/2014/main" xmlns="" id="{D456EBDA-49A4-A843-A786-6989C63A54AA}"/>
              </a:ext>
            </a:extLst>
          </p:cNvPr>
          <p:cNvSpPr/>
          <p:nvPr/>
        </p:nvSpPr>
        <p:spPr>
          <a:xfrm>
            <a:off x="1039568" y="4993805"/>
            <a:ext cx="8472276" cy="1323439"/>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my_list</a:t>
            </a:r>
            <a:r>
              <a:rPr lang="en-US" sz="1600" dirty="0">
                <a:solidFill>
                  <a:srgbClr val="000000"/>
                </a:solidFill>
                <a:latin typeface="Consolas"/>
              </a:rPr>
              <a:t>=['</a:t>
            </a:r>
            <a:r>
              <a:rPr lang="en-US" sz="1600" dirty="0" err="1">
                <a:solidFill>
                  <a:srgbClr val="000000"/>
                </a:solidFill>
                <a:latin typeface="Consolas"/>
              </a:rPr>
              <a:t>d','c','o','e','r</a:t>
            </a:r>
            <a:r>
              <a:rPr lang="en-US" sz="1600" dirty="0">
                <a:solidFill>
                  <a:srgbClr val="000000"/>
                </a:solidFill>
                <a:latin typeface="Consolas"/>
              </a:rPr>
              <a:t>']</a:t>
            </a:r>
          </a:p>
          <a:p>
            <a:r>
              <a:rPr lang="en-US" sz="1600" dirty="0" err="1">
                <a:solidFill>
                  <a:srgbClr val="000000"/>
                </a:solidFill>
                <a:latin typeface="Consolas"/>
              </a:rPr>
              <a:t>my_list.sort</a:t>
            </a:r>
            <a:r>
              <a:rPr lang="en-US" sz="1600" dirty="0">
                <a:solidFill>
                  <a:srgbClr val="000000"/>
                </a:solidFill>
                <a:latin typeface="Consolas"/>
              </a:rPr>
              <a:t>()</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p>
          <a:p>
            <a:r>
              <a:rPr lang="en-US" sz="1600" dirty="0" err="1">
                <a:solidFill>
                  <a:srgbClr val="000000"/>
                </a:solidFill>
                <a:latin typeface="Consolas"/>
              </a:rPr>
              <a:t>my_list.sort</a:t>
            </a:r>
            <a:r>
              <a:rPr lang="en-US" sz="1600" dirty="0">
                <a:solidFill>
                  <a:srgbClr val="000000"/>
                </a:solidFill>
                <a:latin typeface="Consolas"/>
              </a:rPr>
              <a:t>(reverse=True)</a:t>
            </a:r>
          </a:p>
          <a:p>
            <a:r>
              <a:rPr lang="en-US" sz="1600" dirty="0">
                <a:solidFill>
                  <a:srgbClr val="000000"/>
                </a:solidFill>
                <a:latin typeface="Consolas"/>
              </a:rPr>
              <a:t>print(</a:t>
            </a:r>
            <a:r>
              <a:rPr lang="en-US" sz="1600" dirty="0" err="1">
                <a:solidFill>
                  <a:srgbClr val="000000"/>
                </a:solidFill>
                <a:latin typeface="Consolas"/>
              </a:rPr>
              <a:t>my_list</a:t>
            </a:r>
            <a:r>
              <a:rPr lang="en-US" sz="1600" dirty="0">
                <a:solidFill>
                  <a:srgbClr val="000000"/>
                </a:solidFill>
                <a:latin typeface="Consolas"/>
              </a:rPr>
              <a:t>)</a:t>
            </a:r>
          </a:p>
        </p:txBody>
      </p:sp>
      <p:sp>
        <p:nvSpPr>
          <p:cNvPr id="32" name="Rectangle 31">
            <a:extLst>
              <a:ext uri="{FF2B5EF4-FFF2-40B4-BE49-F238E27FC236}">
                <a16:creationId xmlns:a16="http://schemas.microsoft.com/office/drawing/2014/main" xmlns="" id="{35F9F4A0-4592-C04D-B2D0-0BF66A3BFA20}"/>
              </a:ext>
            </a:extLst>
          </p:cNvPr>
          <p:cNvSpPr/>
          <p:nvPr/>
        </p:nvSpPr>
        <p:spPr>
          <a:xfrm>
            <a:off x="539575" y="4993805"/>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p:txBody>
      </p:sp>
      <p:sp>
        <p:nvSpPr>
          <p:cNvPr id="33" name="Rectangle: Top Corners Rounded 6">
            <a:extLst>
              <a:ext uri="{FF2B5EF4-FFF2-40B4-BE49-F238E27FC236}">
                <a16:creationId xmlns:a16="http://schemas.microsoft.com/office/drawing/2014/main" xmlns="" id="{0336C271-A2A3-9445-9946-5006F0A250F4}"/>
              </a:ext>
            </a:extLst>
          </p:cNvPr>
          <p:cNvSpPr/>
          <p:nvPr/>
        </p:nvSpPr>
        <p:spPr>
          <a:xfrm>
            <a:off x="539575" y="4664621"/>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sortlistdemo.py</a:t>
            </a:r>
          </a:p>
        </p:txBody>
      </p:sp>
    </p:spTree>
    <p:extLst>
      <p:ext uri="{BB962C8B-B14F-4D97-AF65-F5344CB8AC3E}">
        <p14:creationId xmlns:p14="http://schemas.microsoft.com/office/powerpoint/2010/main" val="378062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bg/>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build="p" animBg="1"/>
      <p:bldP spid="13" grpId="0" animBg="1"/>
      <p:bldP spid="14" grpId="0" animBg="1"/>
      <p:bldP spid="21" grpId="0" build="p" animBg="1"/>
      <p:bldP spid="28" grpId="0" animBg="1"/>
      <p:bldP spid="29" grpId="0" animBg="1"/>
      <p:bldP spid="31" grpId="0" build="p" animBg="1"/>
      <p:bldP spid="32" grpId="0" animBg="1"/>
      <p:bldP spid="33"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6152B2-AD3C-B35A-3B8A-BDD94D7ACB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D6521E8-EB91-916F-5E63-801999FD364A}"/>
              </a:ext>
            </a:extLst>
          </p:cNvPr>
          <p:cNvSpPr>
            <a:spLocks noGrp="1"/>
          </p:cNvSpPr>
          <p:nvPr>
            <p:ph idx="1"/>
          </p:nvPr>
        </p:nvSpPr>
        <p:spPr/>
        <p:txBody>
          <a:bodyPr/>
          <a:lstStyle/>
          <a:p>
            <a:pPr marL="0" indent="0" algn="ctr">
              <a:buNone/>
            </a:pPr>
            <a:r>
              <a:rPr lang="en-US" sz="6600" dirty="0"/>
              <a:t>Write any five methods </a:t>
            </a:r>
          </a:p>
          <a:p>
            <a:pPr marL="0" indent="0" algn="ctr">
              <a:buNone/>
            </a:pPr>
            <a:r>
              <a:rPr lang="en-US" sz="6600" dirty="0"/>
              <a:t>in your Notebook </a:t>
            </a:r>
          </a:p>
          <a:p>
            <a:pPr marL="0" indent="0" algn="ctr">
              <a:buNone/>
            </a:pPr>
            <a:r>
              <a:rPr lang="en-US" sz="6600" dirty="0"/>
              <a:t>which you remember </a:t>
            </a:r>
          </a:p>
          <a:p>
            <a:pPr marL="0" indent="0" algn="ctr">
              <a:buNone/>
            </a:pPr>
            <a:r>
              <a:rPr lang="en-US" sz="6600" dirty="0"/>
              <a:t>from </a:t>
            </a:r>
          </a:p>
          <a:p>
            <a:pPr marL="0" indent="0" algn="ctr">
              <a:buNone/>
            </a:pPr>
            <a:r>
              <a:rPr lang="en-US" sz="6600" dirty="0"/>
              <a:t>LIST</a:t>
            </a:r>
          </a:p>
        </p:txBody>
      </p:sp>
    </p:spTree>
    <p:extLst>
      <p:ext uri="{BB962C8B-B14F-4D97-AF65-F5344CB8AC3E}">
        <p14:creationId xmlns:p14="http://schemas.microsoft.com/office/powerpoint/2010/main" val="14483086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87F1FA-7105-CF13-58A1-465EFCDC7BAF}"/>
              </a:ext>
            </a:extLst>
          </p:cNvPr>
          <p:cNvSpPr>
            <a:spLocks noGrp="1"/>
          </p:cNvSpPr>
          <p:nvPr>
            <p:ph type="title"/>
          </p:nvPr>
        </p:nvSpPr>
        <p:spPr/>
        <p:txBody>
          <a:bodyPr/>
          <a:lstStyle/>
          <a:p>
            <a:r>
              <a:rPr lang="en-US" dirty="0"/>
              <a:t>Write a program to count frequency of words</a:t>
            </a:r>
          </a:p>
        </p:txBody>
      </p:sp>
      <p:sp>
        <p:nvSpPr>
          <p:cNvPr id="3" name="Content Placeholder 2">
            <a:extLst>
              <a:ext uri="{FF2B5EF4-FFF2-40B4-BE49-F238E27FC236}">
                <a16:creationId xmlns:a16="http://schemas.microsoft.com/office/drawing/2014/main" xmlns="" id="{5FD8D36C-4E81-2BE2-922A-35787E1FB585}"/>
              </a:ext>
            </a:extLst>
          </p:cNvPr>
          <p:cNvSpPr>
            <a:spLocks noGrp="1"/>
          </p:cNvSpPr>
          <p:nvPr>
            <p:ph idx="1"/>
          </p:nvPr>
        </p:nvSpPr>
        <p:spPr/>
        <p:txBody>
          <a:bodyPr/>
          <a:lstStyle/>
          <a:p>
            <a:pPr marL="0" indent="0">
              <a:buNone/>
            </a:pPr>
            <a:r>
              <a:rPr lang="en-US" dirty="0"/>
              <a:t>text = "python is easy python is powerful python is simple"</a:t>
            </a:r>
          </a:p>
          <a:p>
            <a:pPr marL="0" indent="0">
              <a:buNone/>
            </a:pPr>
            <a:r>
              <a:rPr lang="en-US" dirty="0"/>
              <a:t>words = </a:t>
            </a:r>
            <a:r>
              <a:rPr lang="en-US" dirty="0" err="1"/>
              <a:t>text.split</a:t>
            </a:r>
            <a:r>
              <a:rPr lang="en-US" dirty="0"/>
              <a:t>()</a:t>
            </a:r>
          </a:p>
          <a:p>
            <a:pPr marL="0" indent="0">
              <a:buNone/>
            </a:pPr>
            <a:r>
              <a:rPr lang="en-US" dirty="0" err="1"/>
              <a:t>freq</a:t>
            </a:r>
            <a:r>
              <a:rPr lang="en-US" dirty="0"/>
              <a:t> = {}</a:t>
            </a:r>
          </a:p>
          <a:p>
            <a:pPr marL="0" indent="0">
              <a:buNone/>
            </a:pPr>
            <a:r>
              <a:rPr lang="en-US" dirty="0"/>
              <a:t>for word in words:</a:t>
            </a:r>
          </a:p>
          <a:p>
            <a:pPr marL="0" indent="0">
              <a:buNone/>
            </a:pPr>
            <a:r>
              <a:rPr lang="en-US" dirty="0"/>
              <a:t>    if word in </a:t>
            </a:r>
            <a:r>
              <a:rPr lang="en-US" dirty="0" err="1"/>
              <a:t>freq</a:t>
            </a:r>
            <a:r>
              <a:rPr lang="en-US" dirty="0"/>
              <a:t>:</a:t>
            </a:r>
          </a:p>
          <a:p>
            <a:pPr marL="0" indent="0">
              <a:buNone/>
            </a:pPr>
            <a:r>
              <a:rPr lang="en-US" dirty="0"/>
              <a:t>        </a:t>
            </a:r>
            <a:r>
              <a:rPr lang="en-US" dirty="0" err="1"/>
              <a:t>freq</a:t>
            </a:r>
            <a:r>
              <a:rPr lang="en-US" dirty="0"/>
              <a:t>[word] += 1</a:t>
            </a:r>
          </a:p>
          <a:p>
            <a:pPr marL="0" indent="0">
              <a:buNone/>
            </a:pPr>
            <a:r>
              <a:rPr lang="en-US" dirty="0"/>
              <a:t>    else:</a:t>
            </a:r>
          </a:p>
          <a:p>
            <a:pPr marL="0" indent="0">
              <a:buNone/>
            </a:pPr>
            <a:r>
              <a:rPr lang="en-US" dirty="0"/>
              <a:t>        </a:t>
            </a:r>
            <a:r>
              <a:rPr lang="en-US" dirty="0" err="1"/>
              <a:t>freq</a:t>
            </a:r>
            <a:r>
              <a:rPr lang="en-US" dirty="0"/>
              <a:t>[word] = 1</a:t>
            </a:r>
          </a:p>
          <a:p>
            <a:pPr marL="0" indent="0">
              <a:buNone/>
            </a:pPr>
            <a:r>
              <a:rPr lang="en-US" dirty="0"/>
              <a:t>print(</a:t>
            </a:r>
            <a:r>
              <a:rPr lang="en-US" dirty="0" err="1"/>
              <a:t>freq</a:t>
            </a:r>
            <a:r>
              <a:rPr lang="en-US" dirty="0"/>
              <a:t>)</a:t>
            </a:r>
          </a:p>
        </p:txBody>
      </p:sp>
    </p:spTree>
    <p:extLst>
      <p:ext uri="{BB962C8B-B14F-4D97-AF65-F5344CB8AC3E}">
        <p14:creationId xmlns:p14="http://schemas.microsoft.com/office/powerpoint/2010/main" val="272095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ADC43B-90F9-E062-9B67-84AF23246069}"/>
              </a:ext>
            </a:extLst>
          </p:cNvPr>
          <p:cNvSpPr>
            <a:spLocks noGrp="1"/>
          </p:cNvSpPr>
          <p:nvPr>
            <p:ph type="title"/>
          </p:nvPr>
        </p:nvSpPr>
        <p:spPr/>
        <p:txBody>
          <a:bodyPr/>
          <a:lstStyle/>
          <a:p>
            <a:r>
              <a:rPr lang="en-US" dirty="0"/>
              <a:t>Find the Student with Highest Average Marks</a:t>
            </a:r>
          </a:p>
        </p:txBody>
      </p:sp>
      <p:sp>
        <p:nvSpPr>
          <p:cNvPr id="3" name="Content Placeholder 2">
            <a:extLst>
              <a:ext uri="{FF2B5EF4-FFF2-40B4-BE49-F238E27FC236}">
                <a16:creationId xmlns:a16="http://schemas.microsoft.com/office/drawing/2014/main" xmlns="" id="{AC48E936-6C3E-7D7F-D4D9-E196E1E1AD9B}"/>
              </a:ext>
            </a:extLst>
          </p:cNvPr>
          <p:cNvSpPr>
            <a:spLocks noGrp="1"/>
          </p:cNvSpPr>
          <p:nvPr>
            <p:ph idx="1"/>
          </p:nvPr>
        </p:nvSpPr>
        <p:spPr/>
        <p:txBody>
          <a:bodyPr/>
          <a:lstStyle/>
          <a:p>
            <a:pPr marL="0" indent="0">
              <a:buNone/>
            </a:pPr>
            <a:r>
              <a:rPr lang="en-US" sz="1200" dirty="0"/>
              <a:t>students = {</a:t>
            </a:r>
          </a:p>
          <a:p>
            <a:pPr marL="0" indent="0">
              <a:buNone/>
            </a:pPr>
            <a:r>
              <a:rPr lang="en-US" sz="1200" dirty="0"/>
              <a:t>    "Rahul": [80, 90, 85],</a:t>
            </a:r>
          </a:p>
          <a:p>
            <a:pPr marL="0" indent="0">
              <a:buNone/>
            </a:pPr>
            <a:r>
              <a:rPr lang="en-US" sz="1200" dirty="0"/>
              <a:t>    "Amit": [95, 88, 91],</a:t>
            </a:r>
          </a:p>
          <a:p>
            <a:pPr marL="0" indent="0">
              <a:buNone/>
            </a:pPr>
            <a:r>
              <a:rPr lang="en-US" sz="1200" dirty="0"/>
              <a:t>    "Neha": [70, 85, 78],</a:t>
            </a:r>
          </a:p>
          <a:p>
            <a:pPr marL="0" indent="0">
              <a:buNone/>
            </a:pPr>
            <a:r>
              <a:rPr lang="en-US" sz="1200" dirty="0"/>
              <a:t>    "Priya": [92, 90, 89]</a:t>
            </a:r>
          </a:p>
          <a:p>
            <a:pPr marL="0" indent="0">
              <a:buNone/>
            </a:pPr>
            <a:r>
              <a:rPr lang="en-US" sz="1200" dirty="0"/>
              <a:t>}</a:t>
            </a:r>
          </a:p>
          <a:p>
            <a:pPr marL="0" indent="0">
              <a:buNone/>
            </a:pPr>
            <a:r>
              <a:rPr lang="en-US" sz="1200" dirty="0"/>
              <a:t>highest = ""</a:t>
            </a:r>
          </a:p>
          <a:p>
            <a:pPr marL="0" indent="0">
              <a:buNone/>
            </a:pPr>
            <a:r>
              <a:rPr lang="en-US" sz="1200" dirty="0" err="1"/>
              <a:t>max_avg</a:t>
            </a:r>
            <a:r>
              <a:rPr lang="en-US" sz="1200" dirty="0"/>
              <a:t> = 0</a:t>
            </a:r>
          </a:p>
          <a:p>
            <a:pPr marL="0" indent="0">
              <a:buNone/>
            </a:pPr>
            <a:r>
              <a:rPr lang="en-US" sz="1200" dirty="0"/>
              <a:t>for name, marks in </a:t>
            </a:r>
            <a:r>
              <a:rPr lang="en-US" sz="1200" dirty="0" err="1"/>
              <a:t>students.items</a:t>
            </a:r>
            <a:r>
              <a:rPr lang="en-US" sz="1200" dirty="0"/>
              <a:t>():</a:t>
            </a:r>
          </a:p>
          <a:p>
            <a:pPr marL="0" indent="0">
              <a:buNone/>
            </a:pPr>
            <a:r>
              <a:rPr lang="en-US" sz="1200" dirty="0"/>
              <a:t>    avg = sum(marks) / </a:t>
            </a:r>
            <a:r>
              <a:rPr lang="en-US" sz="1200" dirty="0" err="1"/>
              <a:t>len</a:t>
            </a:r>
            <a:r>
              <a:rPr lang="en-US" sz="1200" dirty="0"/>
              <a:t>(marks)</a:t>
            </a:r>
          </a:p>
          <a:p>
            <a:pPr marL="0" indent="0">
              <a:buNone/>
            </a:pPr>
            <a:r>
              <a:rPr lang="en-US" sz="1200" dirty="0"/>
              <a:t>    if avg &gt; </a:t>
            </a:r>
            <a:r>
              <a:rPr lang="en-US" sz="1200" dirty="0" err="1"/>
              <a:t>max_avg</a:t>
            </a:r>
            <a:r>
              <a:rPr lang="en-US" sz="1200" dirty="0"/>
              <a:t>:</a:t>
            </a:r>
          </a:p>
          <a:p>
            <a:pPr marL="0" indent="0">
              <a:buNone/>
            </a:pPr>
            <a:r>
              <a:rPr lang="en-US" sz="1200" dirty="0"/>
              <a:t>        </a:t>
            </a:r>
            <a:r>
              <a:rPr lang="en-US" sz="1200" dirty="0" err="1"/>
              <a:t>max_avg</a:t>
            </a:r>
            <a:r>
              <a:rPr lang="en-US" sz="1200" dirty="0"/>
              <a:t> = avg</a:t>
            </a:r>
          </a:p>
          <a:p>
            <a:pPr marL="0" indent="0">
              <a:buNone/>
            </a:pPr>
            <a:r>
              <a:rPr lang="en-US" sz="1200" dirty="0"/>
              <a:t>        highest = name</a:t>
            </a:r>
          </a:p>
          <a:p>
            <a:pPr marL="0" indent="0">
              <a:buNone/>
            </a:pPr>
            <a:endParaRPr lang="en-US" sz="1200" dirty="0"/>
          </a:p>
          <a:p>
            <a:pPr marL="0" indent="0">
              <a:buNone/>
            </a:pPr>
            <a:r>
              <a:rPr lang="en-US" sz="1200" dirty="0"/>
              <a:t>print("Top Student:", highest)</a:t>
            </a:r>
          </a:p>
          <a:p>
            <a:pPr marL="0" indent="0">
              <a:buNone/>
            </a:pPr>
            <a:r>
              <a:rPr lang="en-US" sz="1200" dirty="0"/>
              <a:t>print("Average:", </a:t>
            </a:r>
            <a:r>
              <a:rPr lang="en-US" sz="1200" dirty="0" err="1"/>
              <a:t>max_avg</a:t>
            </a:r>
            <a:r>
              <a:rPr lang="en-US" sz="1200" dirty="0"/>
              <a:t>)</a:t>
            </a:r>
          </a:p>
        </p:txBody>
      </p:sp>
    </p:spTree>
    <p:extLst>
      <p:ext uri="{BB962C8B-B14F-4D97-AF65-F5344CB8AC3E}">
        <p14:creationId xmlns:p14="http://schemas.microsoft.com/office/powerpoint/2010/main" val="110669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 </a:t>
            </a:r>
          </a:p>
        </p:txBody>
      </p:sp>
      <p:sp>
        <p:nvSpPr>
          <p:cNvPr id="3" name="Content Placeholder 2"/>
          <p:cNvSpPr>
            <a:spLocks noGrp="1"/>
          </p:cNvSpPr>
          <p:nvPr>
            <p:ph idx="1"/>
          </p:nvPr>
        </p:nvSpPr>
        <p:spPr/>
        <p:txBody>
          <a:bodyPr/>
          <a:lstStyle/>
          <a:p>
            <a:r>
              <a:rPr lang="en-US" dirty="0"/>
              <a:t>Dictionary is a unordered collection of key value pairs.</a:t>
            </a:r>
          </a:p>
          <a:p>
            <a:r>
              <a:rPr lang="en-US" dirty="0"/>
              <a:t>Dictionary will be represented by curly brackets { }.</a:t>
            </a:r>
          </a:p>
          <a:p>
            <a:r>
              <a:rPr lang="en-US" dirty="0"/>
              <a:t>Dictionary is mutable.</a:t>
            </a:r>
          </a:p>
          <a:p>
            <a:endParaRPr lang="en-US" dirty="0"/>
          </a:p>
          <a:p>
            <a:endParaRPr lang="en-US" dirty="0"/>
          </a:p>
          <a:p>
            <a:endParaRPr lang="en-US" dirty="0"/>
          </a:p>
          <a:p>
            <a:endParaRPr lang="en-US"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4728461"/>
            <a:ext cx="10211422" cy="830997"/>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my_dict</a:t>
            </a:r>
            <a:r>
              <a:rPr lang="en-US" sz="1600" dirty="0">
                <a:solidFill>
                  <a:srgbClr val="000000"/>
                </a:solidFill>
                <a:latin typeface="Consolas"/>
              </a:rPr>
              <a:t>={'name' :"abc",'enrollment':101,'class':"5thCEA"}</a:t>
            </a:r>
          </a:p>
          <a:p>
            <a:r>
              <a:rPr lang="en-US" sz="1600" dirty="0">
                <a:solidFill>
                  <a:srgbClr val="000000"/>
                </a:solidFill>
                <a:latin typeface="Consolas"/>
              </a:rPr>
              <a:t>print(</a:t>
            </a:r>
            <a:r>
              <a:rPr lang="en-US" sz="1600" dirty="0" err="1">
                <a:solidFill>
                  <a:srgbClr val="000000"/>
                </a:solidFill>
                <a:latin typeface="Consolas"/>
              </a:rPr>
              <a:t>my_dict</a:t>
            </a:r>
            <a:r>
              <a:rPr lang="en-US" sz="1600" dirty="0">
                <a:solidFill>
                  <a:srgbClr val="000000"/>
                </a:solidFill>
                <a:latin typeface="Consolas"/>
              </a:rPr>
              <a:t>[</a:t>
            </a:r>
            <a:r>
              <a:rPr lang="en-US" sz="1600" dirty="0">
                <a:solidFill>
                  <a:srgbClr val="A31515"/>
                </a:solidFill>
                <a:latin typeface="Consolas"/>
              </a:rPr>
              <a:t>name'</a:t>
            </a:r>
            <a:r>
              <a:rPr lang="en-US" sz="1600" dirty="0">
                <a:solidFill>
                  <a:srgbClr val="000000"/>
                </a:solidFill>
                <a:latin typeface="Consolas"/>
              </a:rPr>
              <a:t>])</a:t>
            </a:r>
          </a:p>
          <a:p>
            <a:r>
              <a:rPr lang="en-US" sz="1600" dirty="0">
                <a:solidFill>
                  <a:srgbClr val="000000"/>
                </a:solidFill>
                <a:latin typeface="Consolas"/>
              </a:rPr>
              <a:t>print(my_dict.get(</a:t>
            </a:r>
            <a:r>
              <a:rPr lang="en-US" sz="1600" dirty="0">
                <a:solidFill>
                  <a:srgbClr val="A31515"/>
                </a:solidFill>
                <a:latin typeface="Consolas"/>
              </a:rPr>
              <a:t>'class'</a:t>
            </a:r>
            <a:r>
              <a:rPr lang="en-US" sz="1600" dirty="0">
                <a:solidFill>
                  <a:srgbClr val="000000"/>
                </a:solidFill>
                <a:latin typeface="Consolas"/>
              </a:rPr>
              <a:t>))</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4728462"/>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439927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dictdemo.py</a:t>
            </a:r>
          </a:p>
        </p:txBody>
      </p:sp>
      <p:sp>
        <p:nvSpPr>
          <p:cNvPr id="7" name="Line Callout 1 6"/>
          <p:cNvSpPr/>
          <p:nvPr/>
        </p:nvSpPr>
        <p:spPr>
          <a:xfrm>
            <a:off x="5547558" y="5366937"/>
            <a:ext cx="5523624" cy="1020201"/>
          </a:xfrm>
          <a:prstGeom prst="borderCallout1">
            <a:avLst>
              <a:gd name="adj1" fmla="val 53885"/>
              <a:gd name="adj2" fmla="val -612"/>
              <a:gd name="adj3" fmla="val 5546"/>
              <a:gd name="adj4" fmla="val -25326"/>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values can be accessed using key inside square brackets as well as using get() method</a:t>
            </a:r>
          </a:p>
        </p:txBody>
      </p:sp>
      <p:sp>
        <p:nvSpPr>
          <p:cNvPr id="19" name="Rectangle 18">
            <a:extLst>
              <a:ext uri="{FF2B5EF4-FFF2-40B4-BE49-F238E27FC236}">
                <a16:creationId xmlns:a16="http://schemas.microsoft.com/office/drawing/2014/main" xmlns="" id="{D456EBDA-49A4-A843-A786-6989C63A54AA}"/>
              </a:ext>
            </a:extLst>
          </p:cNvPr>
          <p:cNvSpPr/>
          <p:nvPr/>
        </p:nvSpPr>
        <p:spPr>
          <a:xfrm>
            <a:off x="522641" y="2533680"/>
            <a:ext cx="10238491"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my_dict</a:t>
            </a:r>
            <a:r>
              <a:rPr lang="en-US" sz="1600" dirty="0">
                <a:solidFill>
                  <a:srgbClr val="000000"/>
                </a:solidFill>
                <a:latin typeface="Consolas"/>
              </a:rPr>
              <a:t> = { </a:t>
            </a:r>
            <a:r>
              <a:rPr lang="en-US" sz="1600" dirty="0">
                <a:solidFill>
                  <a:srgbClr val="A31515"/>
                </a:solidFill>
                <a:latin typeface="Consolas"/>
              </a:rPr>
              <a:t>'key1'</a:t>
            </a:r>
            <a:r>
              <a:rPr lang="en-US" sz="1600" dirty="0">
                <a:solidFill>
                  <a:srgbClr val="000000"/>
                </a:solidFill>
                <a:latin typeface="Consolas"/>
              </a:rPr>
              <a:t>:</a:t>
            </a:r>
            <a:r>
              <a:rPr lang="en-US" sz="1600" dirty="0">
                <a:solidFill>
                  <a:srgbClr val="A31515"/>
                </a:solidFill>
                <a:latin typeface="Consolas"/>
              </a:rPr>
              <a:t>'value1'</a:t>
            </a:r>
            <a:r>
              <a:rPr lang="en-US" sz="1600" dirty="0">
                <a:solidFill>
                  <a:srgbClr val="000000"/>
                </a:solidFill>
                <a:latin typeface="Consolas"/>
              </a:rPr>
              <a:t>, </a:t>
            </a:r>
            <a:r>
              <a:rPr lang="en-US" sz="1600" dirty="0">
                <a:solidFill>
                  <a:srgbClr val="A31515"/>
                </a:solidFill>
                <a:latin typeface="Consolas"/>
              </a:rPr>
              <a:t>'key2'</a:t>
            </a:r>
            <a:r>
              <a:rPr lang="en-US" sz="1600" dirty="0">
                <a:solidFill>
                  <a:srgbClr val="000000"/>
                </a:solidFill>
                <a:latin typeface="Consolas"/>
              </a:rPr>
              <a:t>:</a:t>
            </a:r>
            <a:r>
              <a:rPr lang="en-US" sz="1600" dirty="0">
                <a:solidFill>
                  <a:srgbClr val="A31515"/>
                </a:solidFill>
                <a:latin typeface="Consolas"/>
              </a:rPr>
              <a:t>'value2'</a:t>
            </a:r>
            <a:r>
              <a:rPr lang="en-US" sz="1600" dirty="0">
                <a:solidFill>
                  <a:srgbClr val="000000"/>
                </a:solidFill>
                <a:latin typeface="Consolas"/>
              </a:rPr>
              <a:t> }</a:t>
            </a:r>
          </a:p>
        </p:txBody>
      </p:sp>
      <p:sp>
        <p:nvSpPr>
          <p:cNvPr id="20" name="Rectangle: Top Corners Rounded 6">
            <a:extLst>
              <a:ext uri="{FF2B5EF4-FFF2-40B4-BE49-F238E27FC236}">
                <a16:creationId xmlns:a16="http://schemas.microsoft.com/office/drawing/2014/main" xmlns="" id="{0336C271-A2A3-9445-9946-5006F0A250F4}"/>
              </a:ext>
            </a:extLst>
          </p:cNvPr>
          <p:cNvSpPr/>
          <p:nvPr/>
        </p:nvSpPr>
        <p:spPr>
          <a:xfrm>
            <a:off x="522642" y="220449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21" name="Line Callout 1 20"/>
          <p:cNvSpPr/>
          <p:nvPr/>
        </p:nvSpPr>
        <p:spPr>
          <a:xfrm>
            <a:off x="946187" y="3237430"/>
            <a:ext cx="2754544" cy="626533"/>
          </a:xfrm>
          <a:prstGeom prst="borderCallout1">
            <a:avLst>
              <a:gd name="adj1" fmla="val 2941"/>
              <a:gd name="adj2" fmla="val 50044"/>
              <a:gd name="adj3" fmla="val -69174"/>
              <a:gd name="adj4" fmla="val 61425"/>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Key value is separated by </a:t>
            </a:r>
            <a:r>
              <a:rPr lang="en-IN" b="1" dirty="0">
                <a:solidFill>
                  <a:srgbClr val="FF0000"/>
                </a:solidFill>
              </a:rPr>
              <a:t>:</a:t>
            </a:r>
            <a:endParaRPr lang="en-US" b="1" i="1" dirty="0">
              <a:solidFill>
                <a:srgbClr val="FF0000"/>
              </a:solidFill>
            </a:endParaRPr>
          </a:p>
        </p:txBody>
      </p:sp>
      <p:sp>
        <p:nvSpPr>
          <p:cNvPr id="22" name="Line Callout 1 21"/>
          <p:cNvSpPr/>
          <p:nvPr/>
        </p:nvSpPr>
        <p:spPr>
          <a:xfrm>
            <a:off x="4077575" y="3237430"/>
            <a:ext cx="3306635" cy="626533"/>
          </a:xfrm>
          <a:prstGeom prst="borderCallout1">
            <a:avLst>
              <a:gd name="adj1" fmla="val 2941"/>
              <a:gd name="adj2" fmla="val 50044"/>
              <a:gd name="adj3" fmla="val -60913"/>
              <a:gd name="adj4" fmla="val -1185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Key value pairs is separated by </a:t>
            </a:r>
            <a:r>
              <a:rPr lang="en-IN" b="1" dirty="0">
                <a:solidFill>
                  <a:srgbClr val="FF0000"/>
                </a:solidFill>
              </a:rPr>
              <a:t>,</a:t>
            </a:r>
            <a:endParaRPr lang="en-US" b="1" i="1" dirty="0">
              <a:solidFill>
                <a:srgbClr val="FF0000"/>
              </a:solidFill>
            </a:endParaRPr>
          </a:p>
        </p:txBody>
      </p:sp>
    </p:spTree>
    <p:extLst>
      <p:ext uri="{BB962C8B-B14F-4D97-AF65-F5344CB8AC3E}">
        <p14:creationId xmlns:p14="http://schemas.microsoft.com/office/powerpoint/2010/main" val="260338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P spid="7" grpId="0" animBg="1"/>
      <p:bldP spid="7" grpId="1" animBg="1"/>
      <p:bldP spid="19" grpId="0" build="p" animBg="1"/>
      <p:bldP spid="20" grpId="0" animBg="1"/>
      <p:bldP spid="21" grpId="0" animBg="1"/>
      <p:bldP spid="21" grpId="1" animBg="1"/>
      <p:bldP spid="22" grpId="0" animBg="1"/>
      <p:bldP spid="22" grpId="1"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 methods</a:t>
            </a:r>
          </a:p>
        </p:txBody>
      </p:sp>
      <p:sp>
        <p:nvSpPr>
          <p:cNvPr id="3" name="Content Placeholder 2"/>
          <p:cNvSpPr>
            <a:spLocks noGrp="1"/>
          </p:cNvSpPr>
          <p:nvPr>
            <p:ph idx="1"/>
          </p:nvPr>
        </p:nvSpPr>
        <p:spPr/>
        <p:txBody>
          <a:bodyPr/>
          <a:lstStyle/>
          <a:p>
            <a:r>
              <a:rPr lang="en-US" dirty="0"/>
              <a:t>keys() method will return list of all the keys associated with the Dictionary.</a:t>
            </a:r>
          </a:p>
          <a:p>
            <a:endParaRPr lang="en-US" dirty="0"/>
          </a:p>
          <a:p>
            <a:endParaRPr lang="en-US" dirty="0"/>
          </a:p>
          <a:p>
            <a:pPr>
              <a:buNone/>
            </a:pPr>
            <a:endParaRPr lang="en-US" dirty="0"/>
          </a:p>
          <a:p>
            <a:r>
              <a:rPr lang="en-US" dirty="0"/>
              <a:t>values() method will return list of all the values associated with the Dictionary.</a:t>
            </a:r>
          </a:p>
          <a:p>
            <a:endParaRPr lang="en-US" dirty="0"/>
          </a:p>
          <a:p>
            <a:endParaRPr lang="en-US" dirty="0"/>
          </a:p>
          <a:p>
            <a:pPr>
              <a:buNone/>
            </a:pPr>
            <a:endParaRPr lang="en-US" sz="700" dirty="0"/>
          </a:p>
          <a:p>
            <a:r>
              <a:rPr lang="en-US" dirty="0"/>
              <a:t>items() method will return list of </a:t>
            </a:r>
            <a:r>
              <a:rPr lang="en-US" dirty="0" err="1"/>
              <a:t>tuples</a:t>
            </a:r>
            <a:r>
              <a:rPr lang="en-US" dirty="0"/>
              <a:t> for each key value pair associated with the Dictionary.</a:t>
            </a:r>
          </a:p>
          <a:p>
            <a:endParaRPr lang="en-US" dirty="0"/>
          </a:p>
          <a:p>
            <a:endParaRPr lang="en-US" dirty="0"/>
          </a:p>
          <a:p>
            <a:endParaRPr lang="en-US" dirty="0"/>
          </a:p>
          <a:p>
            <a:pPr>
              <a:buNone/>
            </a:pPr>
            <a:endParaRPr lang="en-US" dirty="0"/>
          </a:p>
        </p:txBody>
      </p:sp>
      <p:sp>
        <p:nvSpPr>
          <p:cNvPr id="12" name="Rectangle 11">
            <a:extLst>
              <a:ext uri="{FF2B5EF4-FFF2-40B4-BE49-F238E27FC236}">
                <a16:creationId xmlns:a16="http://schemas.microsoft.com/office/drawing/2014/main" xmlns="" id="{D456EBDA-49A4-A843-A786-6989C63A54AA}"/>
              </a:ext>
            </a:extLst>
          </p:cNvPr>
          <p:cNvSpPr/>
          <p:nvPr/>
        </p:nvSpPr>
        <p:spPr>
          <a:xfrm>
            <a:off x="1022635" y="1641324"/>
            <a:ext cx="8472276" cy="584775"/>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my_dict</a:t>
            </a:r>
            <a:r>
              <a:rPr lang="en-US" sz="1600" dirty="0">
                <a:solidFill>
                  <a:srgbClr val="000000"/>
                </a:solidFill>
                <a:latin typeface="Consolas"/>
              </a:rPr>
              <a:t>={'name' :"abc",'enrollment':101,'class':"5thCEA"}</a:t>
            </a:r>
          </a:p>
          <a:p>
            <a:r>
              <a:rPr lang="en-US" sz="1600" dirty="0">
                <a:solidFill>
                  <a:srgbClr val="000000"/>
                </a:solidFill>
                <a:latin typeface="Consolas"/>
              </a:rPr>
              <a:t>print(</a:t>
            </a:r>
            <a:r>
              <a:rPr lang="en-US" sz="1600" dirty="0" err="1">
                <a:solidFill>
                  <a:srgbClr val="000000"/>
                </a:solidFill>
                <a:latin typeface="Consolas"/>
              </a:rPr>
              <a:t>my_dict.keys</a:t>
            </a:r>
            <a:r>
              <a:rPr lang="en-US" sz="1600" dirty="0">
                <a:solidFill>
                  <a:srgbClr val="000000"/>
                </a:solidFill>
                <a:latin typeface="Consolas"/>
              </a:rPr>
              <a:t>())</a:t>
            </a:r>
            <a:endParaRPr lang="en-US" sz="1600" b="0" dirty="0">
              <a:solidFill>
                <a:srgbClr val="000000"/>
              </a:solidFill>
              <a:latin typeface="Consolas"/>
            </a:endParaRPr>
          </a:p>
        </p:txBody>
      </p:sp>
      <p:sp>
        <p:nvSpPr>
          <p:cNvPr id="13" name="Rectangle 12">
            <a:extLst>
              <a:ext uri="{FF2B5EF4-FFF2-40B4-BE49-F238E27FC236}">
                <a16:creationId xmlns:a16="http://schemas.microsoft.com/office/drawing/2014/main" xmlns="" id="{35F9F4A0-4592-C04D-B2D0-0BF66A3BFA20}"/>
              </a:ext>
            </a:extLst>
          </p:cNvPr>
          <p:cNvSpPr/>
          <p:nvPr/>
        </p:nvSpPr>
        <p:spPr>
          <a:xfrm>
            <a:off x="522642" y="1641324"/>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14" name="Rectangle: Top Corners Rounded 6">
            <a:extLst>
              <a:ext uri="{FF2B5EF4-FFF2-40B4-BE49-F238E27FC236}">
                <a16:creationId xmlns:a16="http://schemas.microsoft.com/office/drawing/2014/main" xmlns="" id="{0336C271-A2A3-9445-9946-5006F0A250F4}"/>
              </a:ext>
            </a:extLst>
          </p:cNvPr>
          <p:cNvSpPr/>
          <p:nvPr/>
        </p:nvSpPr>
        <p:spPr>
          <a:xfrm>
            <a:off x="522642" y="131214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keydemo.py</a:t>
            </a:r>
          </a:p>
        </p:txBody>
      </p:sp>
      <p:sp>
        <p:nvSpPr>
          <p:cNvPr id="21" name="Rectangle 20">
            <a:extLst>
              <a:ext uri="{FF2B5EF4-FFF2-40B4-BE49-F238E27FC236}">
                <a16:creationId xmlns:a16="http://schemas.microsoft.com/office/drawing/2014/main" xmlns="" id="{D456EBDA-49A4-A843-A786-6989C63A54AA}"/>
              </a:ext>
            </a:extLst>
          </p:cNvPr>
          <p:cNvSpPr/>
          <p:nvPr/>
        </p:nvSpPr>
        <p:spPr>
          <a:xfrm>
            <a:off x="1022635" y="3436257"/>
            <a:ext cx="8472276" cy="584775"/>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my_dict</a:t>
            </a:r>
            <a:r>
              <a:rPr lang="en-US" sz="1600" dirty="0">
                <a:solidFill>
                  <a:srgbClr val="000000"/>
                </a:solidFill>
                <a:latin typeface="Consolas"/>
              </a:rPr>
              <a:t>={'name' :"abc",'enrollment':101,'class':"5thCEA"}</a:t>
            </a:r>
          </a:p>
          <a:p>
            <a:r>
              <a:rPr lang="en-US" sz="1600" dirty="0">
                <a:solidFill>
                  <a:srgbClr val="000000"/>
                </a:solidFill>
                <a:latin typeface="Consolas"/>
              </a:rPr>
              <a:t>print(</a:t>
            </a:r>
            <a:r>
              <a:rPr lang="en-US" sz="1600" dirty="0" err="1">
                <a:solidFill>
                  <a:srgbClr val="000000"/>
                </a:solidFill>
                <a:latin typeface="Consolas"/>
              </a:rPr>
              <a:t>my_dict.values</a:t>
            </a:r>
            <a:r>
              <a:rPr lang="en-US" sz="1600" dirty="0">
                <a:solidFill>
                  <a:srgbClr val="000000"/>
                </a:solidFill>
                <a:latin typeface="Consolas"/>
              </a:rPr>
              <a:t>())</a:t>
            </a:r>
            <a:endParaRPr lang="en-US" sz="1600" b="0" dirty="0">
              <a:solidFill>
                <a:srgbClr val="000000"/>
              </a:solidFill>
              <a:latin typeface="Consolas"/>
            </a:endParaRPr>
          </a:p>
        </p:txBody>
      </p:sp>
      <p:sp>
        <p:nvSpPr>
          <p:cNvPr id="28" name="Rectangle 27">
            <a:extLst>
              <a:ext uri="{FF2B5EF4-FFF2-40B4-BE49-F238E27FC236}">
                <a16:creationId xmlns:a16="http://schemas.microsoft.com/office/drawing/2014/main" xmlns="" id="{35F9F4A0-4592-C04D-B2D0-0BF66A3BFA20}"/>
              </a:ext>
            </a:extLst>
          </p:cNvPr>
          <p:cNvSpPr/>
          <p:nvPr/>
        </p:nvSpPr>
        <p:spPr>
          <a:xfrm>
            <a:off x="522642" y="3436257"/>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29" name="Rectangle: Top Corners Rounded 6">
            <a:extLst>
              <a:ext uri="{FF2B5EF4-FFF2-40B4-BE49-F238E27FC236}">
                <a16:creationId xmlns:a16="http://schemas.microsoft.com/office/drawing/2014/main" xmlns="" id="{0336C271-A2A3-9445-9946-5006F0A250F4}"/>
              </a:ext>
            </a:extLst>
          </p:cNvPr>
          <p:cNvSpPr/>
          <p:nvPr/>
        </p:nvSpPr>
        <p:spPr>
          <a:xfrm>
            <a:off x="522642" y="310707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valuedemo.py</a:t>
            </a:r>
          </a:p>
        </p:txBody>
      </p:sp>
      <p:sp>
        <p:nvSpPr>
          <p:cNvPr id="4" name="Rectangle 3">
            <a:extLst>
              <a:ext uri="{FF2B5EF4-FFF2-40B4-BE49-F238E27FC236}">
                <a16:creationId xmlns:a16="http://schemas.microsoft.com/office/drawing/2014/main" xmlns="" id="{4BA2257B-AC57-96A1-FFDE-61BAB72F0D51}"/>
              </a:ext>
            </a:extLst>
          </p:cNvPr>
          <p:cNvSpPr/>
          <p:nvPr/>
        </p:nvSpPr>
        <p:spPr>
          <a:xfrm>
            <a:off x="941914" y="5578580"/>
            <a:ext cx="8472276" cy="584775"/>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my_dict</a:t>
            </a:r>
            <a:r>
              <a:rPr lang="en-US" sz="1600" dirty="0">
                <a:solidFill>
                  <a:srgbClr val="000000"/>
                </a:solidFill>
                <a:latin typeface="Consolas"/>
              </a:rPr>
              <a:t>={'name' :"abc",'enrollment':101,'class':"5thCEA"}</a:t>
            </a:r>
          </a:p>
          <a:p>
            <a:r>
              <a:rPr lang="en-US" sz="1600" dirty="0">
                <a:solidFill>
                  <a:srgbClr val="000000"/>
                </a:solidFill>
                <a:latin typeface="Consolas"/>
              </a:rPr>
              <a:t>print(</a:t>
            </a:r>
            <a:r>
              <a:rPr lang="en-US" sz="1600" dirty="0" err="1">
                <a:solidFill>
                  <a:srgbClr val="000000"/>
                </a:solidFill>
                <a:latin typeface="Consolas"/>
              </a:rPr>
              <a:t>my_dict.items</a:t>
            </a:r>
            <a:r>
              <a:rPr lang="en-US" sz="1600" dirty="0">
                <a:solidFill>
                  <a:srgbClr val="000000"/>
                </a:solidFill>
                <a:latin typeface="Consolas"/>
              </a:rPr>
              <a:t>())</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C732F647-7DCB-BAAA-3065-7B3F2DA99D0B}"/>
              </a:ext>
            </a:extLst>
          </p:cNvPr>
          <p:cNvSpPr/>
          <p:nvPr/>
        </p:nvSpPr>
        <p:spPr>
          <a:xfrm>
            <a:off x="441921" y="5578580"/>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6" name="Rectangle: Top Corners Rounded 6">
            <a:extLst>
              <a:ext uri="{FF2B5EF4-FFF2-40B4-BE49-F238E27FC236}">
                <a16:creationId xmlns:a16="http://schemas.microsoft.com/office/drawing/2014/main" xmlns="" id="{E80E0C1A-1BE1-7892-0EA9-A3A7711807B9}"/>
              </a:ext>
            </a:extLst>
          </p:cNvPr>
          <p:cNvSpPr/>
          <p:nvPr/>
        </p:nvSpPr>
        <p:spPr>
          <a:xfrm>
            <a:off x="441921" y="524939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itemsdemo.py</a:t>
            </a:r>
          </a:p>
        </p:txBody>
      </p:sp>
    </p:spTree>
    <p:extLst>
      <p:ext uri="{BB962C8B-B14F-4D97-AF65-F5344CB8AC3E}">
        <p14:creationId xmlns:p14="http://schemas.microsoft.com/office/powerpoint/2010/main" val="379625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bg/>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build="p" animBg="1"/>
      <p:bldP spid="13" grpId="0" animBg="1"/>
      <p:bldP spid="14" grpId="0" animBg="1"/>
      <p:bldP spid="21" grpId="0" build="p" animBg="1"/>
      <p:bldP spid="28" grpId="0" animBg="1"/>
      <p:bldP spid="29" grpId="0" animBg="1"/>
      <p:bldP spid="4" grpId="0" build="p" animBg="1"/>
      <p:bldP spid="5" grpId="0" animBg="1"/>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4EC36E-3E41-C6C3-A096-D93CE10FE87F}"/>
              </a:ext>
            </a:extLst>
          </p:cNvPr>
          <p:cNvSpPr>
            <a:spLocks noGrp="1"/>
          </p:cNvSpPr>
          <p:nvPr>
            <p:ph type="title"/>
          </p:nvPr>
        </p:nvSpPr>
        <p:spPr/>
        <p:txBody>
          <a:bodyPr/>
          <a:lstStyle/>
          <a:p>
            <a:r>
              <a:rPr lang="en-US" dirty="0"/>
              <a:t>Nested Dictionary</a:t>
            </a:r>
          </a:p>
        </p:txBody>
      </p:sp>
      <p:sp>
        <p:nvSpPr>
          <p:cNvPr id="3" name="Content Placeholder 2">
            <a:extLst>
              <a:ext uri="{FF2B5EF4-FFF2-40B4-BE49-F238E27FC236}">
                <a16:creationId xmlns:a16="http://schemas.microsoft.com/office/drawing/2014/main" xmlns="" id="{9741CB44-FA5A-003B-A0BE-FAF6B91F3593}"/>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a:t>
            </a:r>
            <a:r>
              <a:rPr lang="en-US" b="1" dirty="0">
                <a:solidFill>
                  <a:srgbClr val="7030A0"/>
                </a:solidFill>
                <a:latin typeface="Times New Roman" panose="02020603050405020304" pitchFamily="18" charset="0"/>
                <a:cs typeface="Times New Roman" panose="02020603050405020304" pitchFamily="18" charset="0"/>
              </a:rPr>
              <a:t>Nested dictionary</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a dictionary that contains </a:t>
            </a:r>
            <a:r>
              <a:rPr lang="en-US" b="1" dirty="0">
                <a:solidFill>
                  <a:srgbClr val="7030A0"/>
                </a:solidFill>
                <a:latin typeface="Times New Roman" panose="02020603050405020304" pitchFamily="18" charset="0"/>
                <a:cs typeface="Times New Roman" panose="02020603050405020304" pitchFamily="18" charset="0"/>
              </a:rPr>
              <a:t>another dictionary </a:t>
            </a:r>
            <a:r>
              <a:rPr lang="en-US" dirty="0">
                <a:latin typeface="Times New Roman" panose="02020603050405020304" pitchFamily="18" charset="0"/>
                <a:cs typeface="Times New Roman" panose="02020603050405020304" pitchFamily="18" charset="0"/>
              </a:rPr>
              <a:t>as one of its values. </a:t>
            </a:r>
          </a:p>
          <a:p>
            <a:pPr marL="0" indent="0">
              <a:buNone/>
            </a:pPr>
            <a:r>
              <a:rPr lang="en-US" dirty="0">
                <a:latin typeface="Times New Roman" panose="02020603050405020304" pitchFamily="18" charset="0"/>
                <a:cs typeface="Times New Roman" panose="02020603050405020304" pitchFamily="18" charset="0"/>
              </a:rPr>
              <a:t>d = {</a:t>
            </a:r>
          </a:p>
          <a:p>
            <a:pPr marL="0" indent="0">
              <a:buNone/>
            </a:pPr>
            <a:r>
              <a:rPr lang="en-US" dirty="0">
                <a:latin typeface="Times New Roman" panose="02020603050405020304" pitchFamily="18" charset="0"/>
                <a:cs typeface="Times New Roman" panose="02020603050405020304" pitchFamily="18" charset="0"/>
              </a:rPr>
              <a:t>    "student": {</a:t>
            </a:r>
          </a:p>
          <a:p>
            <a:pPr marL="0" indent="0">
              <a:buNone/>
            </a:pPr>
            <a:r>
              <a:rPr lang="en-US" dirty="0">
                <a:latin typeface="Times New Roman" panose="02020603050405020304" pitchFamily="18" charset="0"/>
                <a:cs typeface="Times New Roman" panose="02020603050405020304" pitchFamily="18" charset="0"/>
              </a:rPr>
              <a:t>        		"name": “HET",</a:t>
            </a:r>
          </a:p>
          <a:p>
            <a:pPr marL="0" indent="0">
              <a:buNone/>
            </a:pPr>
            <a:r>
              <a:rPr lang="en-US" dirty="0">
                <a:latin typeface="Times New Roman" panose="02020603050405020304" pitchFamily="18" charset="0"/>
                <a:cs typeface="Times New Roman" panose="02020603050405020304" pitchFamily="18" charset="0"/>
              </a:rPr>
              <a:t>        		"age": 20</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print(d["student"]["name"])</a:t>
            </a:r>
          </a:p>
        </p:txBody>
      </p:sp>
    </p:spTree>
    <p:extLst>
      <p:ext uri="{BB962C8B-B14F-4D97-AF65-F5344CB8AC3E}">
        <p14:creationId xmlns:p14="http://schemas.microsoft.com/office/powerpoint/2010/main" val="261064891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635D86-0A2F-5422-BC9A-4531BAEAFD74}"/>
              </a:ext>
            </a:extLst>
          </p:cNvPr>
          <p:cNvSpPr>
            <a:spLocks noGrp="1"/>
          </p:cNvSpPr>
          <p:nvPr>
            <p:ph type="title"/>
          </p:nvPr>
        </p:nvSpPr>
        <p:spPr/>
        <p:txBody>
          <a:bodyPr/>
          <a:lstStyle/>
          <a:p>
            <a:r>
              <a:rPr lang="en-US" dirty="0"/>
              <a:t>Example of Nested Dictionary</a:t>
            </a:r>
          </a:p>
        </p:txBody>
      </p:sp>
      <p:sp>
        <p:nvSpPr>
          <p:cNvPr id="5" name="TextBox 4">
            <a:extLst>
              <a:ext uri="{FF2B5EF4-FFF2-40B4-BE49-F238E27FC236}">
                <a16:creationId xmlns:a16="http://schemas.microsoft.com/office/drawing/2014/main" xmlns="" id="{464F3E5A-EE7E-ABA0-8B7E-1B1D939DF243}"/>
              </a:ext>
            </a:extLst>
          </p:cNvPr>
          <p:cNvSpPr txBox="1"/>
          <p:nvPr/>
        </p:nvSpPr>
        <p:spPr>
          <a:xfrm>
            <a:off x="468190" y="1140301"/>
            <a:ext cx="6123842" cy="5078313"/>
          </a:xfrm>
          <a:prstGeom prst="rect">
            <a:avLst/>
          </a:prstGeom>
          <a:noFill/>
        </p:spPr>
        <p:txBody>
          <a:bodyPr wrap="square">
            <a:spAutoFit/>
          </a:bodyPr>
          <a:lstStyle/>
          <a:p>
            <a:r>
              <a:rPr lang="en-US" dirty="0"/>
              <a:t>employees = {</a:t>
            </a:r>
          </a:p>
          <a:p>
            <a:r>
              <a:rPr lang="en-US" dirty="0"/>
              <a:t>    		</a:t>
            </a:r>
            <a:r>
              <a:rPr lang="en-US" dirty="0">
                <a:solidFill>
                  <a:srgbClr val="7030A0"/>
                </a:solidFill>
              </a:rPr>
              <a:t>"E101": </a:t>
            </a:r>
            <a:r>
              <a:rPr lang="en-US" dirty="0"/>
              <a:t>{</a:t>
            </a:r>
          </a:p>
          <a:p>
            <a:r>
              <a:rPr lang="en-US" dirty="0"/>
              <a:t>        				"</a:t>
            </a:r>
            <a:r>
              <a:rPr lang="en-US" dirty="0">
                <a:solidFill>
                  <a:schemeClr val="accent5"/>
                </a:solidFill>
              </a:rPr>
              <a:t>Name</a:t>
            </a:r>
            <a:r>
              <a:rPr lang="en-US" dirty="0"/>
              <a:t>": "Ravi",</a:t>
            </a:r>
          </a:p>
          <a:p>
            <a:r>
              <a:rPr lang="en-US" dirty="0"/>
              <a:t>        				"</a:t>
            </a:r>
            <a:r>
              <a:rPr lang="en-US" dirty="0">
                <a:solidFill>
                  <a:schemeClr val="accent5"/>
                </a:solidFill>
              </a:rPr>
              <a:t>Department</a:t>
            </a:r>
            <a:r>
              <a:rPr lang="en-US" dirty="0"/>
              <a:t>": "IT",</a:t>
            </a:r>
          </a:p>
          <a:p>
            <a:r>
              <a:rPr lang="en-US" dirty="0"/>
              <a:t>        				"</a:t>
            </a:r>
            <a:r>
              <a:rPr lang="en-US" dirty="0">
                <a:solidFill>
                  <a:schemeClr val="accent5"/>
                </a:solidFill>
              </a:rPr>
              <a:t>Salary</a:t>
            </a:r>
            <a:r>
              <a:rPr lang="en-US" dirty="0"/>
              <a:t>": 50000</a:t>
            </a:r>
          </a:p>
          <a:p>
            <a:r>
              <a:rPr lang="en-US" dirty="0"/>
              <a:t>    			        },</a:t>
            </a:r>
          </a:p>
          <a:p>
            <a:r>
              <a:rPr lang="en-US" dirty="0"/>
              <a:t>    		"</a:t>
            </a:r>
            <a:r>
              <a:rPr lang="en-US" dirty="0">
                <a:solidFill>
                  <a:srgbClr val="7030A0"/>
                </a:solidFill>
              </a:rPr>
              <a:t>E102</a:t>
            </a:r>
            <a:r>
              <a:rPr lang="en-US" dirty="0"/>
              <a:t>": {</a:t>
            </a:r>
          </a:p>
          <a:p>
            <a:r>
              <a:rPr lang="en-US" dirty="0"/>
              <a:t>        				"</a:t>
            </a:r>
            <a:r>
              <a:rPr lang="en-US" dirty="0">
                <a:solidFill>
                  <a:schemeClr val="accent5"/>
                </a:solidFill>
              </a:rPr>
              <a:t>Name</a:t>
            </a:r>
            <a:r>
              <a:rPr lang="en-US" dirty="0"/>
              <a:t>": "Priya",</a:t>
            </a:r>
          </a:p>
          <a:p>
            <a:r>
              <a:rPr lang="en-US" dirty="0"/>
              <a:t>        				"</a:t>
            </a:r>
            <a:r>
              <a:rPr lang="en-US" dirty="0">
                <a:solidFill>
                  <a:schemeClr val="accent5"/>
                </a:solidFill>
              </a:rPr>
              <a:t>Department</a:t>
            </a:r>
            <a:r>
              <a:rPr lang="en-US" dirty="0"/>
              <a:t>": "HR",</a:t>
            </a:r>
          </a:p>
          <a:p>
            <a:r>
              <a:rPr lang="en-US" dirty="0"/>
              <a:t>       				"</a:t>
            </a:r>
            <a:r>
              <a:rPr lang="en-US" dirty="0">
                <a:solidFill>
                  <a:schemeClr val="accent5"/>
                </a:solidFill>
              </a:rPr>
              <a:t>Salary</a:t>
            </a:r>
            <a:r>
              <a:rPr lang="en-US" dirty="0"/>
              <a:t>": 45000</a:t>
            </a:r>
          </a:p>
          <a:p>
            <a:r>
              <a:rPr lang="en-US" dirty="0"/>
              <a:t>    				},</a:t>
            </a:r>
          </a:p>
          <a:p>
            <a:r>
              <a:rPr lang="en-US" dirty="0"/>
              <a:t>    		"</a:t>
            </a:r>
            <a:r>
              <a:rPr lang="en-US" dirty="0">
                <a:solidFill>
                  <a:srgbClr val="7030A0"/>
                </a:solidFill>
              </a:rPr>
              <a:t>E103</a:t>
            </a:r>
            <a:r>
              <a:rPr lang="en-US" dirty="0"/>
              <a:t>": {</a:t>
            </a:r>
          </a:p>
          <a:p>
            <a:r>
              <a:rPr lang="en-US" dirty="0"/>
              <a:t>        				"</a:t>
            </a:r>
            <a:r>
              <a:rPr lang="en-US" dirty="0">
                <a:solidFill>
                  <a:schemeClr val="accent5"/>
                </a:solidFill>
              </a:rPr>
              <a:t>Name</a:t>
            </a:r>
            <a:r>
              <a:rPr lang="en-US" dirty="0"/>
              <a:t>": "Karan",</a:t>
            </a:r>
          </a:p>
          <a:p>
            <a:r>
              <a:rPr lang="en-US" dirty="0"/>
              <a:t>        				"</a:t>
            </a:r>
            <a:r>
              <a:rPr lang="en-US" dirty="0">
                <a:solidFill>
                  <a:schemeClr val="accent5"/>
                </a:solidFill>
              </a:rPr>
              <a:t>Department</a:t>
            </a:r>
            <a:r>
              <a:rPr lang="en-US" dirty="0"/>
              <a:t>": "Finance",</a:t>
            </a:r>
          </a:p>
          <a:p>
            <a:r>
              <a:rPr lang="en-US" dirty="0"/>
              <a:t>        				"</a:t>
            </a:r>
            <a:r>
              <a:rPr lang="en-US" dirty="0">
                <a:solidFill>
                  <a:schemeClr val="accent5"/>
                </a:solidFill>
              </a:rPr>
              <a:t>Salary</a:t>
            </a:r>
            <a:r>
              <a:rPr lang="en-US" dirty="0"/>
              <a:t>": 55000</a:t>
            </a:r>
          </a:p>
          <a:p>
            <a:r>
              <a:rPr lang="en-US" dirty="0"/>
              <a:t>    				}</a:t>
            </a:r>
          </a:p>
          <a:p>
            <a:r>
              <a:rPr lang="en-US" dirty="0"/>
              <a:t>}</a:t>
            </a:r>
          </a:p>
          <a:p>
            <a:endParaRPr lang="en-US" dirty="0"/>
          </a:p>
        </p:txBody>
      </p:sp>
      <p:sp>
        <p:nvSpPr>
          <p:cNvPr id="7" name="TextBox 6">
            <a:extLst>
              <a:ext uri="{FF2B5EF4-FFF2-40B4-BE49-F238E27FC236}">
                <a16:creationId xmlns:a16="http://schemas.microsoft.com/office/drawing/2014/main" xmlns="" id="{F916420F-A6AF-9BF2-B3A6-E8EF50D73193}"/>
              </a:ext>
            </a:extLst>
          </p:cNvPr>
          <p:cNvSpPr txBox="1"/>
          <p:nvPr/>
        </p:nvSpPr>
        <p:spPr>
          <a:xfrm>
            <a:off x="5875459" y="1263640"/>
            <a:ext cx="6123842" cy="1754326"/>
          </a:xfrm>
          <a:prstGeom prst="rect">
            <a:avLst/>
          </a:prstGeom>
          <a:noFill/>
        </p:spPr>
        <p:txBody>
          <a:bodyPr wrap="square">
            <a:spAutoFit/>
          </a:bodyPr>
          <a:lstStyle/>
          <a:p>
            <a:r>
              <a:rPr lang="en-US" dirty="0"/>
              <a:t>for </a:t>
            </a:r>
            <a:r>
              <a:rPr lang="en-US" dirty="0" err="1"/>
              <a:t>emp_id</a:t>
            </a:r>
            <a:r>
              <a:rPr lang="en-US" dirty="0"/>
              <a:t>, info in </a:t>
            </a:r>
            <a:r>
              <a:rPr lang="en-US" dirty="0" err="1"/>
              <a:t>employees.items</a:t>
            </a:r>
            <a:r>
              <a:rPr lang="en-US" dirty="0"/>
              <a:t>():</a:t>
            </a:r>
          </a:p>
          <a:p>
            <a:r>
              <a:rPr lang="en-US" dirty="0"/>
              <a:t>    </a:t>
            </a:r>
            <a:r>
              <a:rPr lang="en-US" dirty="0">
                <a:solidFill>
                  <a:srgbClr val="0070C0"/>
                </a:solidFill>
              </a:rPr>
              <a:t>print</a:t>
            </a:r>
            <a:r>
              <a:rPr lang="en-US" dirty="0"/>
              <a:t>(</a:t>
            </a:r>
            <a:r>
              <a:rPr lang="en-US" dirty="0" err="1"/>
              <a:t>f"Employee</a:t>
            </a:r>
            <a:r>
              <a:rPr lang="en-US" dirty="0"/>
              <a:t> ID : {</a:t>
            </a:r>
            <a:r>
              <a:rPr lang="en-US" dirty="0" err="1">
                <a:solidFill>
                  <a:schemeClr val="accent5"/>
                </a:solidFill>
              </a:rPr>
              <a:t>emp</a:t>
            </a:r>
            <a:r>
              <a:rPr lang="en-US" dirty="0" err="1"/>
              <a:t>_</a:t>
            </a:r>
            <a:r>
              <a:rPr lang="en-US" dirty="0" err="1">
                <a:solidFill>
                  <a:schemeClr val="accent5"/>
                </a:solidFill>
              </a:rPr>
              <a:t>id</a:t>
            </a:r>
            <a:r>
              <a:rPr lang="en-US" dirty="0"/>
              <a:t>}")</a:t>
            </a:r>
          </a:p>
          <a:p>
            <a:r>
              <a:rPr lang="en-US" dirty="0"/>
              <a:t>    </a:t>
            </a:r>
            <a:r>
              <a:rPr lang="en-US" dirty="0">
                <a:solidFill>
                  <a:srgbClr val="0070C0"/>
                </a:solidFill>
              </a:rPr>
              <a:t>print</a:t>
            </a:r>
            <a:r>
              <a:rPr lang="en-US" dirty="0"/>
              <a:t>(</a:t>
            </a:r>
            <a:r>
              <a:rPr lang="en-US" dirty="0" err="1"/>
              <a:t>f"Name</a:t>
            </a:r>
            <a:r>
              <a:rPr lang="en-US" dirty="0"/>
              <a:t>        : {info[</a:t>
            </a:r>
            <a:r>
              <a:rPr lang="en-US" dirty="0">
                <a:solidFill>
                  <a:schemeClr val="accent5"/>
                </a:solidFill>
              </a:rPr>
              <a:t>'Name</a:t>
            </a:r>
            <a:r>
              <a:rPr lang="en-US" dirty="0"/>
              <a:t>']}")</a:t>
            </a:r>
          </a:p>
          <a:p>
            <a:r>
              <a:rPr lang="en-US" dirty="0"/>
              <a:t>    </a:t>
            </a:r>
            <a:r>
              <a:rPr lang="en-US" dirty="0">
                <a:solidFill>
                  <a:srgbClr val="0070C0"/>
                </a:solidFill>
              </a:rPr>
              <a:t>print</a:t>
            </a:r>
            <a:r>
              <a:rPr lang="en-US" dirty="0"/>
              <a:t>(</a:t>
            </a:r>
            <a:r>
              <a:rPr lang="en-US" dirty="0" err="1"/>
              <a:t>f"Department</a:t>
            </a:r>
            <a:r>
              <a:rPr lang="en-US" dirty="0"/>
              <a:t>  : {info[</a:t>
            </a:r>
            <a:r>
              <a:rPr lang="en-US" dirty="0">
                <a:solidFill>
                  <a:schemeClr val="accent5"/>
                </a:solidFill>
              </a:rPr>
              <a:t>'Department</a:t>
            </a:r>
            <a:r>
              <a:rPr lang="en-US" dirty="0"/>
              <a:t>']}")</a:t>
            </a:r>
          </a:p>
          <a:p>
            <a:r>
              <a:rPr lang="en-US" dirty="0"/>
              <a:t>    </a:t>
            </a:r>
            <a:r>
              <a:rPr lang="en-US" dirty="0">
                <a:solidFill>
                  <a:srgbClr val="0070C0"/>
                </a:solidFill>
              </a:rPr>
              <a:t>print</a:t>
            </a:r>
            <a:r>
              <a:rPr lang="en-US" dirty="0"/>
              <a:t>(</a:t>
            </a:r>
            <a:r>
              <a:rPr lang="en-US" dirty="0" err="1"/>
              <a:t>f"Salary</a:t>
            </a:r>
            <a:r>
              <a:rPr lang="en-US" dirty="0"/>
              <a:t>      : ₹{info[</a:t>
            </a:r>
            <a:r>
              <a:rPr lang="en-US" dirty="0">
                <a:solidFill>
                  <a:schemeClr val="accent5"/>
                </a:solidFill>
              </a:rPr>
              <a:t>'Salary</a:t>
            </a:r>
            <a:r>
              <a:rPr lang="en-US" dirty="0"/>
              <a:t>']}")</a:t>
            </a:r>
          </a:p>
          <a:p>
            <a:r>
              <a:rPr lang="en-US" dirty="0"/>
              <a:t>    </a:t>
            </a:r>
            <a:r>
              <a:rPr lang="en-US" dirty="0">
                <a:solidFill>
                  <a:srgbClr val="0070C0"/>
                </a:solidFill>
              </a:rPr>
              <a:t>print</a:t>
            </a:r>
            <a:r>
              <a:rPr lang="en-US" dirty="0"/>
              <a:t>()</a:t>
            </a:r>
          </a:p>
        </p:txBody>
      </p:sp>
    </p:spTree>
    <p:extLst>
      <p:ext uri="{BB962C8B-B14F-4D97-AF65-F5344CB8AC3E}">
        <p14:creationId xmlns:p14="http://schemas.microsoft.com/office/powerpoint/2010/main" val="263630434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F3AB2-7357-5329-8458-8404690A01F2}"/>
              </a:ext>
            </a:extLst>
          </p:cNvPr>
          <p:cNvSpPr>
            <a:spLocks noGrp="1"/>
          </p:cNvSpPr>
          <p:nvPr>
            <p:ph type="title"/>
          </p:nvPr>
        </p:nvSpPr>
        <p:spPr>
          <a:xfrm>
            <a:off x="0" y="1"/>
            <a:ext cx="5794131" cy="711200"/>
          </a:xfrm>
        </p:spPr>
        <p:txBody>
          <a:bodyPr>
            <a:normAutofit fontScale="90000"/>
          </a:bodyPr>
          <a:lstStyle/>
          <a:p>
            <a:r>
              <a:rPr lang="en-US" sz="2400" dirty="0">
                <a:latin typeface="Times New Roman" panose="02020603050405020304" pitchFamily="18" charset="0"/>
                <a:cs typeface="Times New Roman" panose="02020603050405020304" pitchFamily="18" charset="0"/>
              </a:rPr>
              <a:t>Merge Dictionaries and add common value</a:t>
            </a:r>
          </a:p>
        </p:txBody>
      </p:sp>
      <p:sp>
        <p:nvSpPr>
          <p:cNvPr id="3" name="Content Placeholder 2">
            <a:extLst>
              <a:ext uri="{FF2B5EF4-FFF2-40B4-BE49-F238E27FC236}">
                <a16:creationId xmlns:a16="http://schemas.microsoft.com/office/drawing/2014/main" xmlns="" id="{21C20585-740F-C8D7-D119-AE2109D5AD41}"/>
              </a:ext>
            </a:extLst>
          </p:cNvPr>
          <p:cNvSpPr>
            <a:spLocks noGrp="1"/>
          </p:cNvSpPr>
          <p:nvPr>
            <p:ph idx="1"/>
          </p:nvPr>
        </p:nvSpPr>
        <p:spPr>
          <a:xfrm>
            <a:off x="131180" y="711201"/>
            <a:ext cx="3772605" cy="5590565"/>
          </a:xfrm>
        </p:spPr>
        <p:txBody>
          <a:bodyPr/>
          <a:lstStyle/>
          <a:p>
            <a:pPr marL="0" indent="0">
              <a:buNone/>
            </a:pPr>
            <a:r>
              <a:rPr lang="en-US" sz="1800" dirty="0"/>
              <a:t>d1 = {</a:t>
            </a:r>
          </a:p>
          <a:p>
            <a:pPr marL="0" indent="0">
              <a:buNone/>
            </a:pPr>
            <a:r>
              <a:rPr lang="en-US" sz="1800" dirty="0"/>
              <a:t>    "A": 100,</a:t>
            </a:r>
          </a:p>
          <a:p>
            <a:pPr marL="0" indent="0">
              <a:buNone/>
            </a:pPr>
            <a:r>
              <a:rPr lang="en-US" sz="1800" dirty="0"/>
              <a:t>    "B": 200,</a:t>
            </a:r>
          </a:p>
          <a:p>
            <a:pPr marL="0" indent="0">
              <a:buNone/>
            </a:pPr>
            <a:r>
              <a:rPr lang="en-US" sz="1800" dirty="0"/>
              <a:t>    "C": 300</a:t>
            </a:r>
          </a:p>
          <a:p>
            <a:pPr marL="0" indent="0">
              <a:buNone/>
            </a:pPr>
            <a:r>
              <a:rPr lang="en-US" sz="1800" dirty="0"/>
              <a:t>}</a:t>
            </a:r>
          </a:p>
          <a:p>
            <a:pPr marL="0" indent="0">
              <a:buNone/>
            </a:pPr>
            <a:r>
              <a:rPr lang="en-US" sz="1800" dirty="0"/>
              <a:t>d2 = {</a:t>
            </a:r>
          </a:p>
          <a:p>
            <a:pPr marL="0" indent="0">
              <a:buNone/>
            </a:pPr>
            <a:r>
              <a:rPr lang="en-US" sz="1800" dirty="0"/>
              <a:t>    "B": 50,</a:t>
            </a:r>
          </a:p>
          <a:p>
            <a:pPr marL="0" indent="0">
              <a:buNone/>
            </a:pPr>
            <a:r>
              <a:rPr lang="en-US" sz="1800" dirty="0"/>
              <a:t>    "C": 100,</a:t>
            </a:r>
          </a:p>
          <a:p>
            <a:pPr marL="0" indent="0">
              <a:buNone/>
            </a:pPr>
            <a:r>
              <a:rPr lang="en-US" sz="1800" dirty="0"/>
              <a:t>    "D": 400</a:t>
            </a:r>
          </a:p>
          <a:p>
            <a:pPr marL="0" indent="0">
              <a:buNone/>
            </a:pPr>
            <a:r>
              <a:rPr lang="en-US" sz="1800" dirty="0"/>
              <a:t>}</a:t>
            </a:r>
          </a:p>
          <a:p>
            <a:pPr marL="0" indent="0">
              <a:buNone/>
            </a:pPr>
            <a:r>
              <a:rPr lang="en-US" sz="1800" dirty="0"/>
              <a:t>result = d1.copy()</a:t>
            </a:r>
          </a:p>
          <a:p>
            <a:pPr marL="0" indent="0">
              <a:buNone/>
            </a:pPr>
            <a:endParaRPr lang="en-US" sz="1800" dirty="0"/>
          </a:p>
        </p:txBody>
      </p:sp>
      <p:sp>
        <p:nvSpPr>
          <p:cNvPr id="5" name="TextBox 4">
            <a:extLst>
              <a:ext uri="{FF2B5EF4-FFF2-40B4-BE49-F238E27FC236}">
                <a16:creationId xmlns:a16="http://schemas.microsoft.com/office/drawing/2014/main" xmlns="" id="{E3CE1341-509A-3BDA-DD2E-47AA15029BBC}"/>
              </a:ext>
            </a:extLst>
          </p:cNvPr>
          <p:cNvSpPr txBox="1"/>
          <p:nvPr/>
        </p:nvSpPr>
        <p:spPr>
          <a:xfrm>
            <a:off x="131180" y="4826675"/>
            <a:ext cx="6119446" cy="1754326"/>
          </a:xfrm>
          <a:prstGeom prst="rect">
            <a:avLst/>
          </a:prstGeom>
          <a:noFill/>
        </p:spPr>
        <p:txBody>
          <a:bodyPr wrap="square">
            <a:spAutoFit/>
          </a:bodyPr>
          <a:lstStyle/>
          <a:p>
            <a:pPr marL="0" indent="0">
              <a:buNone/>
            </a:pPr>
            <a:r>
              <a:rPr lang="en-US" sz="1800" dirty="0"/>
              <a:t>for key, value in d2.items():</a:t>
            </a:r>
          </a:p>
          <a:p>
            <a:pPr marL="0" indent="0">
              <a:buNone/>
            </a:pPr>
            <a:r>
              <a:rPr lang="en-US" sz="1800" dirty="0"/>
              <a:t>    if key in result:</a:t>
            </a:r>
          </a:p>
          <a:p>
            <a:pPr marL="0" indent="0">
              <a:buNone/>
            </a:pPr>
            <a:r>
              <a:rPr lang="en-US" sz="1800" dirty="0"/>
              <a:t>        result[key] += value</a:t>
            </a:r>
          </a:p>
          <a:p>
            <a:pPr marL="0" indent="0">
              <a:buNone/>
            </a:pPr>
            <a:r>
              <a:rPr lang="en-US" sz="1800" dirty="0"/>
              <a:t>    else:</a:t>
            </a:r>
          </a:p>
          <a:p>
            <a:pPr marL="0" indent="0">
              <a:buNone/>
            </a:pPr>
            <a:r>
              <a:rPr lang="en-US" sz="1800" dirty="0"/>
              <a:t>        result[key] = value</a:t>
            </a:r>
          </a:p>
          <a:p>
            <a:pPr marL="0" indent="0">
              <a:buNone/>
            </a:pPr>
            <a:r>
              <a:rPr lang="en-US" sz="1800" dirty="0"/>
              <a:t>print(result)</a:t>
            </a:r>
          </a:p>
        </p:txBody>
      </p:sp>
      <p:sp>
        <p:nvSpPr>
          <p:cNvPr id="6" name="Title 1">
            <a:extLst>
              <a:ext uri="{FF2B5EF4-FFF2-40B4-BE49-F238E27FC236}">
                <a16:creationId xmlns:a16="http://schemas.microsoft.com/office/drawing/2014/main" xmlns="" id="{636D21F2-F881-770F-DD77-4CAC7C10481E}"/>
              </a:ext>
            </a:extLst>
          </p:cNvPr>
          <p:cNvSpPr txBox="1">
            <a:spLocks/>
          </p:cNvSpPr>
          <p:nvPr/>
        </p:nvSpPr>
        <p:spPr>
          <a:xfrm>
            <a:off x="6266689" y="8794"/>
            <a:ext cx="5794131" cy="711200"/>
          </a:xfrm>
          <a:prstGeom prst="rect">
            <a:avLst/>
          </a:prstGeom>
          <a:solidFill>
            <a:srgbClr val="C0C0C0">
              <a:alpha val="50000"/>
            </a:srgbClr>
          </a:solidFill>
          <a:ln>
            <a:noFill/>
          </a:ln>
        </p:spPr>
        <p:txBody>
          <a:bodyPr vert="horz" lIns="216000" tIns="108000" rIns="216000" bIns="108000" rtlCol="0" anchor="ctr">
            <a:normAutofit fontScale="92500"/>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Merge Dictionaries and add common value</a:t>
            </a:r>
          </a:p>
        </p:txBody>
      </p:sp>
      <p:sp>
        <p:nvSpPr>
          <p:cNvPr id="8" name="TextBox 7">
            <a:extLst>
              <a:ext uri="{FF2B5EF4-FFF2-40B4-BE49-F238E27FC236}">
                <a16:creationId xmlns:a16="http://schemas.microsoft.com/office/drawing/2014/main" xmlns="" id="{B816E30C-D06C-359B-C476-BDA7111C2D3E}"/>
              </a:ext>
            </a:extLst>
          </p:cNvPr>
          <p:cNvSpPr txBox="1"/>
          <p:nvPr/>
        </p:nvSpPr>
        <p:spPr>
          <a:xfrm>
            <a:off x="6266689" y="719994"/>
            <a:ext cx="5242442" cy="4524315"/>
          </a:xfrm>
          <a:prstGeom prst="rect">
            <a:avLst/>
          </a:prstGeom>
          <a:noFill/>
        </p:spPr>
        <p:txBody>
          <a:bodyPr wrap="square">
            <a:spAutoFit/>
          </a:bodyPr>
          <a:lstStyle/>
          <a:p>
            <a:r>
              <a:rPr lang="en-US" dirty="0"/>
              <a:t>d = {</a:t>
            </a:r>
          </a:p>
          <a:p>
            <a:r>
              <a:rPr lang="en-US" dirty="0"/>
              <a:t>    "A": 10,</a:t>
            </a:r>
          </a:p>
          <a:p>
            <a:r>
              <a:rPr lang="en-US" dirty="0"/>
              <a:t>    "B": 20,</a:t>
            </a:r>
          </a:p>
          <a:p>
            <a:r>
              <a:rPr lang="en-US" dirty="0"/>
              <a:t>    "C": 10,</a:t>
            </a:r>
          </a:p>
          <a:p>
            <a:r>
              <a:rPr lang="en-US" dirty="0"/>
              <a:t>    "D": 30,</a:t>
            </a:r>
          </a:p>
          <a:p>
            <a:r>
              <a:rPr lang="en-US" dirty="0"/>
              <a:t>    "E": 20</a:t>
            </a:r>
          </a:p>
          <a:p>
            <a:r>
              <a:rPr lang="en-US" dirty="0"/>
              <a:t>}</a:t>
            </a:r>
          </a:p>
          <a:p>
            <a:endParaRPr lang="en-US" dirty="0"/>
          </a:p>
          <a:p>
            <a:r>
              <a:rPr lang="en-US" dirty="0"/>
              <a:t>duplicates = []</a:t>
            </a:r>
          </a:p>
          <a:p>
            <a:endParaRPr lang="en-US" dirty="0"/>
          </a:p>
          <a:p>
            <a:r>
              <a:rPr lang="en-US" dirty="0"/>
              <a:t>for value in </a:t>
            </a:r>
            <a:r>
              <a:rPr lang="en-US" dirty="0" err="1"/>
              <a:t>d.values</a:t>
            </a:r>
            <a:r>
              <a:rPr lang="en-US" dirty="0"/>
              <a:t>():</a:t>
            </a:r>
          </a:p>
          <a:p>
            <a:r>
              <a:rPr lang="en-US" dirty="0"/>
              <a:t>    if list(</a:t>
            </a:r>
            <a:r>
              <a:rPr lang="en-US" dirty="0" err="1"/>
              <a:t>d.values</a:t>
            </a:r>
            <a:r>
              <a:rPr lang="en-US" dirty="0"/>
              <a:t>()).count(value) &gt; 1:</a:t>
            </a:r>
          </a:p>
          <a:p>
            <a:r>
              <a:rPr lang="en-US" dirty="0"/>
              <a:t>        if value not in duplicates:</a:t>
            </a:r>
          </a:p>
          <a:p>
            <a:r>
              <a:rPr lang="en-US" dirty="0"/>
              <a:t>            </a:t>
            </a:r>
            <a:r>
              <a:rPr lang="en-US" dirty="0" err="1"/>
              <a:t>duplicates.append</a:t>
            </a:r>
            <a:r>
              <a:rPr lang="en-US" dirty="0"/>
              <a:t>(value)</a:t>
            </a:r>
          </a:p>
          <a:p>
            <a:endParaRPr lang="en-US" dirty="0"/>
          </a:p>
          <a:p>
            <a:r>
              <a:rPr lang="en-US" dirty="0"/>
              <a:t>print(duplicates)</a:t>
            </a:r>
          </a:p>
        </p:txBody>
      </p:sp>
    </p:spTree>
    <p:extLst>
      <p:ext uri="{BB962C8B-B14F-4D97-AF65-F5344CB8AC3E}">
        <p14:creationId xmlns:p14="http://schemas.microsoft.com/office/powerpoint/2010/main" val="360152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B373DE1-5F85-3DB7-B5E7-34421F4B33DF}"/>
              </a:ext>
            </a:extLst>
          </p:cNvPr>
          <p:cNvSpPr>
            <a:spLocks noGrp="1"/>
          </p:cNvSpPr>
          <p:nvPr>
            <p:ph idx="1"/>
          </p:nvPr>
        </p:nvSpPr>
        <p:spPr>
          <a:xfrm>
            <a:off x="131180" y="863444"/>
            <a:ext cx="4985943" cy="5590565"/>
          </a:xfrm>
        </p:spPr>
        <p:txBody>
          <a:bodyPr/>
          <a:lstStyle/>
          <a:p>
            <a:pPr marL="0" indent="0">
              <a:buNone/>
            </a:pPr>
            <a:r>
              <a:rPr lang="en-US" sz="1800" dirty="0"/>
              <a:t>student = {</a:t>
            </a:r>
          </a:p>
          <a:p>
            <a:pPr marL="0" indent="0">
              <a:buNone/>
            </a:pPr>
            <a:r>
              <a:rPr lang="en-US" sz="1800" dirty="0"/>
              <a:t>    "Amit": {</a:t>
            </a:r>
          </a:p>
          <a:p>
            <a:pPr marL="0" indent="0">
              <a:buNone/>
            </a:pPr>
            <a:r>
              <a:rPr lang="en-US" sz="1800" dirty="0"/>
              <a:t>        "Math": 90,</a:t>
            </a:r>
          </a:p>
          <a:p>
            <a:pPr marL="0" indent="0">
              <a:buNone/>
            </a:pPr>
            <a:r>
              <a:rPr lang="en-US" sz="1800" dirty="0"/>
              <a:t>        "Science": 80</a:t>
            </a:r>
          </a:p>
          <a:p>
            <a:pPr marL="0" indent="0">
              <a:buNone/>
            </a:pPr>
            <a:r>
              <a:rPr lang="en-US" sz="1800" dirty="0"/>
              <a:t>    },</a:t>
            </a:r>
          </a:p>
          <a:p>
            <a:pPr marL="0" indent="0">
              <a:buNone/>
            </a:pPr>
            <a:r>
              <a:rPr lang="en-US" sz="1800" dirty="0"/>
              <a:t>    "Neha": {</a:t>
            </a:r>
          </a:p>
          <a:p>
            <a:pPr marL="0" indent="0">
              <a:buNone/>
            </a:pPr>
            <a:r>
              <a:rPr lang="en-US" sz="1800" dirty="0"/>
              <a:t>        "Math": 95,</a:t>
            </a:r>
          </a:p>
          <a:p>
            <a:pPr marL="0" indent="0">
              <a:buNone/>
            </a:pPr>
            <a:r>
              <a:rPr lang="en-US" sz="1800" dirty="0"/>
              <a:t>        "Science": 91</a:t>
            </a:r>
          </a:p>
          <a:p>
            <a:pPr marL="0" indent="0">
              <a:buNone/>
            </a:pPr>
            <a:r>
              <a:rPr lang="en-US" sz="1800" dirty="0"/>
              <a:t>    }</a:t>
            </a:r>
          </a:p>
          <a:p>
            <a:pPr marL="0" indent="0">
              <a:buNone/>
            </a:pPr>
            <a:r>
              <a:rPr lang="en-US" sz="1800" dirty="0"/>
              <a:t>}</a:t>
            </a:r>
          </a:p>
          <a:p>
            <a:pPr marL="0" indent="0">
              <a:buNone/>
            </a:pPr>
            <a:r>
              <a:rPr lang="en-US" sz="1800" dirty="0"/>
              <a:t>flat = {}</a:t>
            </a:r>
          </a:p>
          <a:p>
            <a:pPr marL="0" indent="0">
              <a:buNone/>
            </a:pPr>
            <a:r>
              <a:rPr lang="en-US" sz="1800" dirty="0"/>
              <a:t>for </a:t>
            </a:r>
            <a:r>
              <a:rPr lang="en-US" sz="1800" dirty="0" err="1"/>
              <a:t>student_name</a:t>
            </a:r>
            <a:r>
              <a:rPr lang="en-US" sz="1800" dirty="0"/>
              <a:t>, subjects in </a:t>
            </a:r>
            <a:r>
              <a:rPr lang="en-US" sz="1800" dirty="0" err="1"/>
              <a:t>student.items</a:t>
            </a:r>
            <a:r>
              <a:rPr lang="en-US" sz="1800" dirty="0"/>
              <a:t>():</a:t>
            </a:r>
          </a:p>
          <a:p>
            <a:pPr marL="0" indent="0">
              <a:buNone/>
            </a:pPr>
            <a:r>
              <a:rPr lang="en-US" sz="1800" dirty="0"/>
              <a:t>    for subject, marks in </a:t>
            </a:r>
            <a:r>
              <a:rPr lang="en-US" sz="1800" dirty="0" err="1"/>
              <a:t>subjects.items</a:t>
            </a:r>
            <a:r>
              <a:rPr lang="en-US" sz="1800" dirty="0"/>
              <a:t>():</a:t>
            </a:r>
          </a:p>
          <a:p>
            <a:pPr marL="0" indent="0">
              <a:buNone/>
            </a:pPr>
            <a:r>
              <a:rPr lang="en-US" sz="1800" dirty="0"/>
              <a:t>        flat[(</a:t>
            </a:r>
            <a:r>
              <a:rPr lang="en-US" sz="1800" dirty="0" err="1"/>
              <a:t>student_name</a:t>
            </a:r>
            <a:r>
              <a:rPr lang="en-US" sz="1800" dirty="0"/>
              <a:t>, subject)] = marks</a:t>
            </a:r>
          </a:p>
          <a:p>
            <a:pPr marL="0" indent="0">
              <a:buNone/>
            </a:pPr>
            <a:r>
              <a:rPr lang="en-US" sz="1800" dirty="0"/>
              <a:t>print(flat)</a:t>
            </a:r>
          </a:p>
        </p:txBody>
      </p:sp>
      <p:sp>
        <p:nvSpPr>
          <p:cNvPr id="4" name="Rectangle 1">
            <a:extLst>
              <a:ext uri="{FF2B5EF4-FFF2-40B4-BE49-F238E27FC236}">
                <a16:creationId xmlns:a16="http://schemas.microsoft.com/office/drawing/2014/main" xmlns="" id="{CCDF713E-EE8B-0114-E13E-FFE43D05B73F}"/>
              </a:ext>
            </a:extLst>
          </p:cNvPr>
          <p:cNvSpPr>
            <a:spLocks noGrp="1" noChangeArrowheads="1"/>
          </p:cNvSpPr>
          <p:nvPr>
            <p:ph type="title"/>
          </p:nvPr>
        </p:nvSpPr>
        <p:spPr bwMode="auto">
          <a:xfrm>
            <a:off x="131179" y="126938"/>
            <a:ext cx="622495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Flatten Nested Dictionary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xmlns="" id="{8BF91585-5209-6C73-716B-31F433D71F86}"/>
              </a:ext>
            </a:extLst>
          </p:cNvPr>
          <p:cNvSpPr txBox="1"/>
          <p:nvPr/>
        </p:nvSpPr>
        <p:spPr>
          <a:xfrm>
            <a:off x="6081346" y="863444"/>
            <a:ext cx="6110654" cy="2862322"/>
          </a:xfrm>
          <a:prstGeom prst="rect">
            <a:avLst/>
          </a:prstGeom>
          <a:noFill/>
        </p:spPr>
        <p:txBody>
          <a:bodyPr wrap="square">
            <a:spAutoFit/>
          </a:bodyPr>
          <a:lstStyle/>
          <a:p>
            <a:endParaRPr lang="en-US" dirty="0"/>
          </a:p>
          <a:p>
            <a:r>
              <a:rPr lang="en-US" dirty="0"/>
              <a:t>names = ["Rahul", "Amit", "Neha", "Priya"]</a:t>
            </a:r>
          </a:p>
          <a:p>
            <a:r>
              <a:rPr lang="en-US" dirty="0"/>
              <a:t>marks = [85, 90, 78, 88]</a:t>
            </a:r>
          </a:p>
          <a:p>
            <a:endParaRPr lang="en-US" dirty="0"/>
          </a:p>
          <a:p>
            <a:r>
              <a:rPr lang="en-US" dirty="0"/>
              <a:t>student = {}</a:t>
            </a:r>
          </a:p>
          <a:p>
            <a:endParaRPr lang="en-US" dirty="0"/>
          </a:p>
          <a:p>
            <a:r>
              <a:rPr lang="en-US" dirty="0"/>
              <a:t>for </a:t>
            </a:r>
            <a:r>
              <a:rPr lang="en-US" dirty="0" err="1"/>
              <a:t>i</a:t>
            </a:r>
            <a:r>
              <a:rPr lang="en-US" dirty="0"/>
              <a:t> in range(</a:t>
            </a:r>
            <a:r>
              <a:rPr lang="en-US" dirty="0" err="1"/>
              <a:t>len</a:t>
            </a:r>
            <a:r>
              <a:rPr lang="en-US" dirty="0"/>
              <a:t>(names)):</a:t>
            </a:r>
          </a:p>
          <a:p>
            <a:r>
              <a:rPr lang="en-US" dirty="0"/>
              <a:t>    student[names[</a:t>
            </a:r>
            <a:r>
              <a:rPr lang="en-US" dirty="0" err="1"/>
              <a:t>i</a:t>
            </a:r>
            <a:r>
              <a:rPr lang="en-US" dirty="0"/>
              <a:t>]] = marks[</a:t>
            </a:r>
            <a:r>
              <a:rPr lang="en-US" dirty="0" err="1"/>
              <a:t>i</a:t>
            </a:r>
            <a:r>
              <a:rPr lang="en-US" dirty="0"/>
              <a:t>]</a:t>
            </a:r>
          </a:p>
          <a:p>
            <a:endParaRPr lang="en-US" dirty="0"/>
          </a:p>
          <a:p>
            <a:r>
              <a:rPr lang="en-US" dirty="0"/>
              <a:t>print(student)</a:t>
            </a:r>
          </a:p>
        </p:txBody>
      </p:sp>
      <p:sp>
        <p:nvSpPr>
          <p:cNvPr id="7" name="Rectangle 1">
            <a:extLst>
              <a:ext uri="{FF2B5EF4-FFF2-40B4-BE49-F238E27FC236}">
                <a16:creationId xmlns:a16="http://schemas.microsoft.com/office/drawing/2014/main" xmlns="" id="{3EA8907C-DD02-AEAF-8295-0582F9D3642D}"/>
              </a:ext>
            </a:extLst>
          </p:cNvPr>
          <p:cNvSpPr txBox="1">
            <a:spLocks noChangeArrowheads="1"/>
          </p:cNvSpPr>
          <p:nvPr/>
        </p:nvSpPr>
        <p:spPr bwMode="auto">
          <a:xfrm>
            <a:off x="6081346" y="202804"/>
            <a:ext cx="622495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eaLnBrk="0" fontAlgn="base" hangingPunct="0">
              <a:lnSpc>
                <a:spcPct val="100000"/>
              </a:lnSpc>
              <a:spcAft>
                <a:spcPct val="0"/>
              </a:spcAft>
            </a:pPr>
            <a:r>
              <a:rPr lang="en-US" sz="3200" dirty="0">
                <a:solidFill>
                  <a:schemeClr val="tx1"/>
                </a:solidFill>
                <a:latin typeface="Times New Roman" panose="02020603050405020304" pitchFamily="18" charset="0"/>
                <a:cs typeface="Times New Roman" panose="02020603050405020304" pitchFamily="18" charset="0"/>
              </a:rPr>
              <a:t>Create</a:t>
            </a:r>
            <a:r>
              <a:rPr lang="en-US" sz="1600" dirty="0"/>
              <a:t> </a:t>
            </a:r>
            <a:r>
              <a:rPr lang="en-US" sz="3200" dirty="0">
                <a:solidFill>
                  <a:schemeClr val="tx1"/>
                </a:solidFill>
                <a:latin typeface="Times New Roman" panose="02020603050405020304" pitchFamily="18" charset="0"/>
                <a:cs typeface="Times New Roman" panose="02020603050405020304" pitchFamily="18" charset="0"/>
              </a:rPr>
              <a:t>Dictionary</a:t>
            </a:r>
            <a:r>
              <a:rPr lang="en-US" sz="1600" dirty="0"/>
              <a:t> </a:t>
            </a:r>
            <a:r>
              <a:rPr lang="en-US" sz="3200" dirty="0">
                <a:solidFill>
                  <a:schemeClr val="tx1"/>
                </a:solidFill>
                <a:latin typeface="Times New Roman" panose="02020603050405020304" pitchFamily="18" charset="0"/>
                <a:cs typeface="Times New Roman" panose="02020603050405020304" pitchFamily="18" charset="0"/>
              </a:rPr>
              <a:t>from</a:t>
            </a:r>
            <a:r>
              <a:rPr lang="en-US" sz="1600" dirty="0"/>
              <a:t> </a:t>
            </a:r>
            <a:r>
              <a:rPr lang="en-US" sz="3200" dirty="0">
                <a:solidFill>
                  <a:schemeClr val="tx1"/>
                </a:solidFill>
                <a:latin typeface="Times New Roman" panose="02020603050405020304" pitchFamily="18" charset="0"/>
                <a:cs typeface="Times New Roman" panose="02020603050405020304" pitchFamily="18" charset="0"/>
              </a:rPr>
              <a:t>Two</a:t>
            </a:r>
            <a:r>
              <a:rPr lang="en-US" sz="1600" dirty="0"/>
              <a:t> </a:t>
            </a:r>
            <a:r>
              <a:rPr lang="en-US" sz="3200" dirty="0">
                <a:solidFill>
                  <a:schemeClr val="tx1"/>
                </a:solidFill>
                <a:latin typeface="Times New Roman" panose="02020603050405020304" pitchFamily="18" charset="0"/>
                <a:cs typeface="Times New Roman" panose="02020603050405020304" pitchFamily="18" charset="0"/>
              </a:rPr>
              <a:t>Lists</a:t>
            </a:r>
            <a:endParaRPr lang="en-US" altLang="en-US"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40750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D1F4E0-3627-1F7C-EC85-A134BDA9EDFF}"/>
              </a:ext>
            </a:extLst>
          </p:cNvPr>
          <p:cNvSpPr>
            <a:spLocks noGrp="1"/>
          </p:cNvSpPr>
          <p:nvPr>
            <p:ph type="title"/>
          </p:nvPr>
        </p:nvSpPr>
        <p:spPr/>
        <p:txBody>
          <a:bodyPr/>
          <a:lstStyle/>
          <a:p>
            <a:r>
              <a:rPr lang="en-US" dirty="0"/>
              <a:t>Do it yourself(Self-study)</a:t>
            </a:r>
          </a:p>
        </p:txBody>
      </p:sp>
      <p:sp>
        <p:nvSpPr>
          <p:cNvPr id="3" name="Content Placeholder 2">
            <a:extLst>
              <a:ext uri="{FF2B5EF4-FFF2-40B4-BE49-F238E27FC236}">
                <a16:creationId xmlns:a16="http://schemas.microsoft.com/office/drawing/2014/main" xmlns="" id="{41418054-2605-3420-B3F4-2BB8F5B5027E}"/>
              </a:ext>
            </a:extLst>
          </p:cNvPr>
          <p:cNvSpPr>
            <a:spLocks noGrp="1"/>
          </p:cNvSpPr>
          <p:nvPr>
            <p:ph idx="1"/>
          </p:nvPr>
        </p:nvSpPr>
        <p:spPr>
          <a:xfrm>
            <a:off x="131180" y="863444"/>
            <a:ext cx="4344105" cy="5590565"/>
          </a:xfrm>
        </p:spPr>
        <p:txBody>
          <a:bodyPr/>
          <a:lstStyle/>
          <a:p>
            <a:pPr marL="0" indent="0">
              <a:buNone/>
            </a:pPr>
            <a:r>
              <a:rPr lang="en-US" b="1" dirty="0">
                <a:solidFill>
                  <a:srgbClr val="FF0000"/>
                </a:solidFill>
              </a:rPr>
              <a:t>Input:</a:t>
            </a:r>
          </a:p>
          <a:p>
            <a:pPr marL="0" indent="0">
              <a:buNone/>
            </a:pPr>
            <a:r>
              <a:rPr lang="en-US" sz="1800" dirty="0"/>
              <a:t>data = {</a:t>
            </a:r>
          </a:p>
          <a:p>
            <a:pPr marL="0" indent="0">
              <a:buNone/>
            </a:pPr>
            <a:r>
              <a:rPr lang="en-US" sz="1800" dirty="0"/>
              <a:t>    "student": {</a:t>
            </a:r>
          </a:p>
          <a:p>
            <a:pPr marL="0" indent="0">
              <a:buNone/>
            </a:pPr>
            <a:r>
              <a:rPr lang="en-US" sz="1800" dirty="0"/>
              <a:t>        "name": "Rahul",</a:t>
            </a:r>
          </a:p>
          <a:p>
            <a:pPr marL="0" indent="0">
              <a:buNone/>
            </a:pPr>
            <a:r>
              <a:rPr lang="en-US" sz="1800" dirty="0"/>
              <a:t>        "marks": [95, 88, 91],</a:t>
            </a:r>
          </a:p>
          <a:p>
            <a:pPr marL="0" indent="0">
              <a:buNone/>
            </a:pPr>
            <a:r>
              <a:rPr lang="en-US" sz="1800" dirty="0"/>
              <a:t>        "subjects": {</a:t>
            </a:r>
          </a:p>
          <a:p>
            <a:pPr marL="0" indent="0">
              <a:buNone/>
            </a:pPr>
            <a:r>
              <a:rPr lang="en-US" sz="1800" dirty="0"/>
              <a:t>            "science": {</a:t>
            </a:r>
          </a:p>
          <a:p>
            <a:pPr marL="0" indent="0">
              <a:buNone/>
            </a:pPr>
            <a:r>
              <a:rPr lang="en-US" sz="1800" dirty="0"/>
              <a:t>                "theory": 90,</a:t>
            </a:r>
          </a:p>
          <a:p>
            <a:pPr marL="0" indent="0">
              <a:buNone/>
            </a:pPr>
            <a:r>
              <a:rPr lang="en-US" sz="1800" dirty="0"/>
              <a:t>                "practical": 30</a:t>
            </a:r>
          </a:p>
          <a:p>
            <a:pPr marL="0" indent="0">
              <a:buNone/>
            </a:pPr>
            <a:r>
              <a:rPr lang="en-US" sz="1800" dirty="0"/>
              <a:t>            }</a:t>
            </a:r>
          </a:p>
          <a:p>
            <a:pPr marL="0" indent="0">
              <a:buNone/>
            </a:pPr>
            <a:r>
              <a:rPr lang="en-US" sz="1800" dirty="0"/>
              <a:t>        }</a:t>
            </a:r>
          </a:p>
          <a:p>
            <a:pPr marL="0" indent="0">
              <a:buNone/>
            </a:pPr>
            <a:r>
              <a:rPr lang="en-US" sz="1800" dirty="0"/>
              <a:t>    }</a:t>
            </a:r>
          </a:p>
          <a:p>
            <a:pPr marL="0" indent="0">
              <a:buNone/>
            </a:pPr>
            <a:r>
              <a:rPr lang="en-US" sz="1800" dirty="0"/>
              <a:t>}</a:t>
            </a:r>
          </a:p>
        </p:txBody>
      </p:sp>
      <p:sp>
        <p:nvSpPr>
          <p:cNvPr id="5" name="TextBox 4">
            <a:extLst>
              <a:ext uri="{FF2B5EF4-FFF2-40B4-BE49-F238E27FC236}">
                <a16:creationId xmlns:a16="http://schemas.microsoft.com/office/drawing/2014/main" xmlns="" id="{F60AA2B4-84F1-D83C-5BBA-2644D0F5984B}"/>
              </a:ext>
            </a:extLst>
          </p:cNvPr>
          <p:cNvSpPr txBox="1"/>
          <p:nvPr/>
        </p:nvSpPr>
        <p:spPr>
          <a:xfrm>
            <a:off x="5699613" y="863444"/>
            <a:ext cx="6123842" cy="461665"/>
          </a:xfrm>
          <a:prstGeom prst="rect">
            <a:avLst/>
          </a:prstGeom>
          <a:noFill/>
        </p:spPr>
        <p:txBody>
          <a:bodyPr wrap="square">
            <a:spAutoFit/>
          </a:bodyPr>
          <a:lstStyle/>
          <a:p>
            <a:r>
              <a:rPr lang="en-US" sz="2400" dirty="0">
                <a:solidFill>
                  <a:srgbClr val="FF0000"/>
                </a:solidFill>
              </a:rPr>
              <a:t>Expected output:</a:t>
            </a:r>
          </a:p>
        </p:txBody>
      </p:sp>
      <p:sp>
        <p:nvSpPr>
          <p:cNvPr id="7" name="TextBox 6">
            <a:extLst>
              <a:ext uri="{FF2B5EF4-FFF2-40B4-BE49-F238E27FC236}">
                <a16:creationId xmlns:a16="http://schemas.microsoft.com/office/drawing/2014/main" xmlns="" id="{4F2D0612-B58A-8D0A-C605-486B02B3A5AA}"/>
              </a:ext>
            </a:extLst>
          </p:cNvPr>
          <p:cNvSpPr txBox="1"/>
          <p:nvPr/>
        </p:nvSpPr>
        <p:spPr>
          <a:xfrm>
            <a:off x="5796328" y="1477352"/>
            <a:ext cx="6123842" cy="1754326"/>
          </a:xfrm>
          <a:prstGeom prst="rect">
            <a:avLst/>
          </a:prstGeom>
          <a:noFill/>
        </p:spPr>
        <p:txBody>
          <a:bodyPr wrap="square">
            <a:spAutoFit/>
          </a:bodyPr>
          <a:lstStyle/>
          <a:p>
            <a:r>
              <a:rPr lang="en-US" dirty="0"/>
              <a:t>student.name = Rahul</a:t>
            </a:r>
          </a:p>
          <a:p>
            <a:r>
              <a:rPr lang="en-US" dirty="0"/>
              <a:t>student.marks.0 = 95</a:t>
            </a:r>
          </a:p>
          <a:p>
            <a:r>
              <a:rPr lang="en-US" dirty="0"/>
              <a:t>student.marks.1 = 88</a:t>
            </a:r>
          </a:p>
          <a:p>
            <a:r>
              <a:rPr lang="en-US" dirty="0"/>
              <a:t>student.marks.2 = 91</a:t>
            </a:r>
          </a:p>
          <a:p>
            <a:r>
              <a:rPr lang="en-US" dirty="0" err="1"/>
              <a:t>student.subjects.science.theory</a:t>
            </a:r>
            <a:r>
              <a:rPr lang="en-US" dirty="0"/>
              <a:t> = 90</a:t>
            </a:r>
          </a:p>
          <a:p>
            <a:r>
              <a:rPr lang="en-US" dirty="0" err="1"/>
              <a:t>student.subjects.science.practical</a:t>
            </a:r>
            <a:r>
              <a:rPr lang="en-US" dirty="0"/>
              <a:t> = 30</a:t>
            </a:r>
          </a:p>
        </p:txBody>
      </p:sp>
    </p:spTree>
    <p:extLst>
      <p:ext uri="{BB962C8B-B14F-4D97-AF65-F5344CB8AC3E}">
        <p14:creationId xmlns:p14="http://schemas.microsoft.com/office/powerpoint/2010/main" val="133524913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sp>
        <p:nvSpPr>
          <p:cNvPr id="3" name="Content Placeholder 2"/>
          <p:cNvSpPr>
            <a:spLocks noGrp="1"/>
          </p:cNvSpPr>
          <p:nvPr>
            <p:ph idx="1"/>
          </p:nvPr>
        </p:nvSpPr>
        <p:spPr/>
        <p:txBody>
          <a:bodyPr/>
          <a:lstStyle/>
          <a:p>
            <a:r>
              <a:rPr lang="en-US" dirty="0"/>
              <a:t>Set is a </a:t>
            </a:r>
            <a:r>
              <a:rPr lang="en-US" b="1" dirty="0">
                <a:solidFill>
                  <a:schemeClr val="accent6">
                    <a:lumMod val="75000"/>
                  </a:schemeClr>
                </a:solidFill>
              </a:rPr>
              <a:t>unordered</a:t>
            </a:r>
            <a:r>
              <a:rPr lang="en-US" dirty="0"/>
              <a:t> collection of </a:t>
            </a:r>
            <a:r>
              <a:rPr lang="en-US" b="1" dirty="0">
                <a:solidFill>
                  <a:srgbClr val="7030A0"/>
                </a:solidFill>
              </a:rPr>
              <a:t>unique</a:t>
            </a:r>
            <a:r>
              <a:rPr lang="en-US" dirty="0"/>
              <a:t> objects.</a:t>
            </a:r>
          </a:p>
          <a:p>
            <a:r>
              <a:rPr lang="en-US" dirty="0"/>
              <a:t>Set will be represented by curly brackets { }.</a:t>
            </a:r>
          </a:p>
          <a:p>
            <a:endParaRPr lang="en-US" dirty="0"/>
          </a:p>
          <a:p>
            <a:endParaRPr lang="en-US" dirty="0"/>
          </a:p>
          <a:p>
            <a:endParaRPr lang="en-US" dirty="0"/>
          </a:p>
          <a:p>
            <a:r>
              <a:rPr lang="en-US" dirty="0"/>
              <a:t>Set has many in-built methods such as add(), clear(), copy(), pop(), remove() etc.. which are similar to methods we have previously seen.</a:t>
            </a:r>
          </a:p>
          <a:p>
            <a:r>
              <a:rPr lang="en-US" dirty="0">
                <a:solidFill>
                  <a:srgbClr val="FF0000"/>
                </a:solidFill>
              </a:rPr>
              <a:t>Only difference between </a:t>
            </a:r>
            <a:r>
              <a:rPr lang="en-US" dirty="0"/>
              <a:t>Set and List is that Set will have only unique elements and List can have duplicate elements.(???)</a:t>
            </a:r>
          </a:p>
          <a:p>
            <a:endParaRPr lang="en-US" dirty="0"/>
          </a:p>
          <a:p>
            <a:endParaRPr lang="en-US" sz="1800"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1022635" y="2209549"/>
            <a:ext cx="8472276" cy="584775"/>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my_set</a:t>
            </a:r>
            <a:r>
              <a:rPr lang="en-US" sz="1600" dirty="0">
                <a:solidFill>
                  <a:srgbClr val="000000"/>
                </a:solidFill>
                <a:latin typeface="Consolas"/>
              </a:rPr>
              <a:t> = {</a:t>
            </a:r>
            <a:r>
              <a:rPr lang="en-US" sz="1600" dirty="0">
                <a:solidFill>
                  <a:srgbClr val="098658"/>
                </a:solidFill>
                <a:latin typeface="Consolas"/>
              </a:rPr>
              <a:t>1</a:t>
            </a:r>
            <a:r>
              <a:rPr lang="en-US" sz="1600" dirty="0">
                <a:solidFill>
                  <a:srgbClr val="000000"/>
                </a:solidFill>
                <a:latin typeface="Consolas"/>
              </a:rPr>
              <a:t>,</a:t>
            </a:r>
            <a:r>
              <a:rPr lang="en-US" sz="1600" dirty="0">
                <a:solidFill>
                  <a:srgbClr val="098658"/>
                </a:solidFill>
                <a:latin typeface="Consolas"/>
              </a:rPr>
              <a:t>1</a:t>
            </a:r>
            <a:r>
              <a:rPr lang="en-US" sz="1600" dirty="0">
                <a:solidFill>
                  <a:srgbClr val="000000"/>
                </a:solidFill>
                <a:latin typeface="Consolas"/>
              </a:rPr>
              <a:t>,</a:t>
            </a:r>
            <a:r>
              <a:rPr lang="en-US" sz="1600" dirty="0">
                <a:solidFill>
                  <a:srgbClr val="098658"/>
                </a:solidFill>
                <a:latin typeface="Consolas"/>
              </a:rPr>
              <a:t>1</a:t>
            </a:r>
            <a:r>
              <a:rPr lang="en-US" sz="1600" dirty="0">
                <a:solidFill>
                  <a:srgbClr val="000000"/>
                </a:solidFill>
                <a:latin typeface="Consolas"/>
              </a:rPr>
              <a:t>,</a:t>
            </a:r>
            <a:r>
              <a:rPr lang="en-US" sz="1600" dirty="0">
                <a:solidFill>
                  <a:srgbClr val="098658"/>
                </a:solidFill>
                <a:latin typeface="Consolas"/>
              </a:rPr>
              <a:t>2</a:t>
            </a:r>
            <a:r>
              <a:rPr lang="en-US" sz="1600" dirty="0">
                <a:solidFill>
                  <a:srgbClr val="000000"/>
                </a:solidFill>
                <a:latin typeface="Consolas"/>
              </a:rPr>
              <a:t>,</a:t>
            </a:r>
            <a:r>
              <a:rPr lang="en-US" sz="1600" dirty="0">
                <a:solidFill>
                  <a:srgbClr val="098658"/>
                </a:solidFill>
                <a:latin typeface="Consolas"/>
              </a:rPr>
              <a:t>2</a:t>
            </a:r>
            <a:r>
              <a:rPr lang="en-US" sz="1600" dirty="0">
                <a:solidFill>
                  <a:srgbClr val="000000"/>
                </a:solidFill>
                <a:latin typeface="Consolas"/>
              </a:rPr>
              <a:t>,</a:t>
            </a:r>
            <a:r>
              <a:rPr lang="en-US" sz="1600" dirty="0">
                <a:solidFill>
                  <a:srgbClr val="098658"/>
                </a:solidFill>
                <a:latin typeface="Consolas"/>
              </a:rPr>
              <a:t>5</a:t>
            </a:r>
            <a:r>
              <a:rPr lang="en-US" sz="1600" dirty="0">
                <a:solidFill>
                  <a:srgbClr val="000000"/>
                </a:solidFill>
                <a:latin typeface="Consolas"/>
              </a:rPr>
              <a:t>,</a:t>
            </a:r>
            <a:r>
              <a:rPr lang="en-US" sz="1600" dirty="0">
                <a:solidFill>
                  <a:srgbClr val="098658"/>
                </a:solidFill>
                <a:latin typeface="Consolas"/>
              </a:rPr>
              <a:t>3</a:t>
            </a:r>
            <a:r>
              <a:rPr lang="en-US" sz="1600" dirty="0">
                <a:solidFill>
                  <a:srgbClr val="000000"/>
                </a:solidFill>
                <a:latin typeface="Consolas"/>
              </a:rPr>
              <a:t>,</a:t>
            </a:r>
            <a:r>
              <a:rPr lang="en-US" sz="1600" dirty="0">
                <a:solidFill>
                  <a:srgbClr val="098658"/>
                </a:solidFill>
                <a:latin typeface="Consolas"/>
              </a:rPr>
              <a:t>9</a:t>
            </a:r>
            <a:r>
              <a:rPr lang="en-US" sz="1600" dirty="0">
                <a:solidFill>
                  <a:srgbClr val="000000"/>
                </a:solidFill>
                <a:latin typeface="Consolas"/>
              </a:rPr>
              <a:t>}</a:t>
            </a:r>
          </a:p>
          <a:p>
            <a:r>
              <a:rPr lang="en-US" sz="1600" dirty="0">
                <a:solidFill>
                  <a:srgbClr val="000000"/>
                </a:solidFill>
                <a:latin typeface="Consolas"/>
              </a:rPr>
              <a:t>print(</a:t>
            </a:r>
            <a:r>
              <a:rPr lang="en-US" sz="1600" dirty="0" err="1">
                <a:solidFill>
                  <a:srgbClr val="000000"/>
                </a:solidFill>
                <a:latin typeface="Consolas"/>
              </a:rPr>
              <a:t>my_set</a:t>
            </a:r>
            <a:r>
              <a:rPr lang="en-US" sz="1600" dirty="0">
                <a:solidFill>
                  <a:srgbClr val="000000"/>
                </a:solidFill>
                <a:latin typeface="Consolas"/>
              </a:rPr>
              <a:t>)</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xmlns="" id="{35F9F4A0-4592-C04D-B2D0-0BF66A3BFA20}"/>
              </a:ext>
            </a:extLst>
          </p:cNvPr>
          <p:cNvSpPr/>
          <p:nvPr/>
        </p:nvSpPr>
        <p:spPr>
          <a:xfrm>
            <a:off x="522642" y="2209549"/>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22642" y="188036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tupledemo.py</a:t>
            </a:r>
          </a:p>
        </p:txBody>
      </p:sp>
      <p:sp>
        <p:nvSpPr>
          <p:cNvPr id="8" name="Line Callout 1 7"/>
          <p:cNvSpPr/>
          <p:nvPr/>
        </p:nvSpPr>
        <p:spPr>
          <a:xfrm>
            <a:off x="6035771" y="2267742"/>
            <a:ext cx="5808295" cy="428493"/>
          </a:xfrm>
          <a:prstGeom prst="borderCallout1">
            <a:avLst>
              <a:gd name="adj1" fmla="val 53885"/>
              <a:gd name="adj2" fmla="val -612"/>
              <a:gd name="adj3" fmla="val 88341"/>
              <a:gd name="adj4" fmla="val -58595"/>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Output : </a:t>
            </a:r>
            <a:r>
              <a:rPr lang="en-IN" i="1" dirty="0">
                <a:solidFill>
                  <a:schemeClr val="tx1"/>
                </a:solidFill>
              </a:rPr>
              <a:t>{1, 2, 3, 5, 9}</a:t>
            </a:r>
            <a:endParaRPr lang="en-US" b="1" dirty="0">
              <a:solidFill>
                <a:srgbClr val="FF0000"/>
              </a:solidFill>
            </a:endParaRPr>
          </a:p>
        </p:txBody>
      </p:sp>
    </p:spTree>
    <p:extLst>
      <p:ext uri="{BB962C8B-B14F-4D97-AF65-F5344CB8AC3E}">
        <p14:creationId xmlns:p14="http://schemas.microsoft.com/office/powerpoint/2010/main" val="541866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P spid="8" grpId="0" animBg="1"/>
      <p:bldP spid="8" grpId="1"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3E0DAF-801A-4D48-C056-92636839DC09}"/>
              </a:ext>
            </a:extLst>
          </p:cNvPr>
          <p:cNvSpPr>
            <a:spLocks noGrp="1"/>
          </p:cNvSpPr>
          <p:nvPr>
            <p:ph type="title"/>
          </p:nvPr>
        </p:nvSpPr>
        <p:spPr>
          <a:xfrm>
            <a:off x="0" y="-16242"/>
            <a:ext cx="12192000" cy="711200"/>
          </a:xfrm>
        </p:spPr>
        <p:txBody>
          <a:bodyPr/>
          <a:lstStyle/>
          <a:p>
            <a:r>
              <a:rPr lang="en-US" dirty="0"/>
              <a:t>Use of Set</a:t>
            </a:r>
          </a:p>
        </p:txBody>
      </p:sp>
      <p:sp>
        <p:nvSpPr>
          <p:cNvPr id="3" name="Content Placeholder 2">
            <a:extLst>
              <a:ext uri="{FF2B5EF4-FFF2-40B4-BE49-F238E27FC236}">
                <a16:creationId xmlns:a16="http://schemas.microsoft.com/office/drawing/2014/main" xmlns="" id="{CBF5BB05-BCAC-30B3-F1AD-561710ACCA71}"/>
              </a:ext>
            </a:extLst>
          </p:cNvPr>
          <p:cNvSpPr>
            <a:spLocks noGrp="1"/>
          </p:cNvSpPr>
          <p:nvPr>
            <p:ph idx="1"/>
          </p:nvPr>
        </p:nvSpPr>
        <p:spPr/>
        <p:txBody>
          <a:bodyPr/>
          <a:lstStyle/>
          <a:p>
            <a:r>
              <a:rPr lang="en-US" sz="3600" dirty="0">
                <a:latin typeface="Times New Roman" panose="02020603050405020304" pitchFamily="18" charset="0"/>
                <a:cs typeface="Times New Roman" panose="02020603050405020304" pitchFamily="18" charset="0"/>
              </a:rPr>
              <a:t>1. Removing Duplicates (Most Common Use)</a:t>
            </a:r>
          </a:p>
          <a:p>
            <a:r>
              <a:rPr lang="en-US" sz="3600" dirty="0">
                <a:latin typeface="Times New Roman" panose="02020603050405020304" pitchFamily="18" charset="0"/>
                <a:cs typeface="Times New Roman" panose="02020603050405020304" pitchFamily="18" charset="0"/>
              </a:rPr>
              <a:t>2. Fast Membership Testing</a:t>
            </a:r>
          </a:p>
          <a:p>
            <a:r>
              <a:rPr lang="en-US" sz="3600" dirty="0">
                <a:latin typeface="Times New Roman" panose="02020603050405020304" pitchFamily="18" charset="0"/>
                <a:cs typeface="Times New Roman" panose="02020603050405020304" pitchFamily="18" charset="0"/>
              </a:rPr>
              <a:t>3. Finding Common Elements</a:t>
            </a:r>
          </a:p>
          <a:p>
            <a:r>
              <a:rPr lang="en-US" sz="3600" dirty="0">
                <a:latin typeface="Times New Roman" panose="02020603050405020304" pitchFamily="18" charset="0"/>
                <a:cs typeface="Times New Roman" panose="02020603050405020304" pitchFamily="18" charset="0"/>
              </a:rPr>
              <a:t>4. Finding Different Elements</a:t>
            </a:r>
          </a:p>
          <a:p>
            <a:r>
              <a:rPr lang="en-US" sz="3600" dirty="0">
                <a:latin typeface="Times New Roman" panose="02020603050405020304" pitchFamily="18" charset="0"/>
                <a:cs typeface="Times New Roman" panose="02020603050405020304" pitchFamily="18" charset="0"/>
              </a:rPr>
              <a:t>5. Combining Unique Data</a:t>
            </a:r>
          </a:p>
        </p:txBody>
      </p:sp>
      <p:sp>
        <p:nvSpPr>
          <p:cNvPr id="4" name="Rectangle 3">
            <a:extLst>
              <a:ext uri="{FF2B5EF4-FFF2-40B4-BE49-F238E27FC236}">
                <a16:creationId xmlns:a16="http://schemas.microsoft.com/office/drawing/2014/main" xmlns="" id="{51E8244D-FFA6-9340-E1A9-FB69F3B94C0C}"/>
              </a:ext>
            </a:extLst>
          </p:cNvPr>
          <p:cNvSpPr/>
          <p:nvPr/>
        </p:nvSpPr>
        <p:spPr>
          <a:xfrm>
            <a:off x="6875583" y="1456288"/>
            <a:ext cx="4123594" cy="11605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numbers = [10, 20, 10, 30, 20, 40, 50, 40]</a:t>
            </a:r>
          </a:p>
          <a:p>
            <a:r>
              <a:rPr lang="en-US" dirty="0" err="1"/>
              <a:t>unique_numbers</a:t>
            </a:r>
            <a:r>
              <a:rPr lang="en-US" dirty="0"/>
              <a:t> = set(numbers)</a:t>
            </a:r>
          </a:p>
          <a:p>
            <a:r>
              <a:rPr lang="en-US" dirty="0"/>
              <a:t>print(</a:t>
            </a:r>
            <a:r>
              <a:rPr lang="en-US" dirty="0" err="1"/>
              <a:t>unique_numbers</a:t>
            </a:r>
            <a:r>
              <a:rPr lang="en-US" dirty="0"/>
              <a:t>)</a:t>
            </a:r>
          </a:p>
        </p:txBody>
      </p:sp>
      <p:sp>
        <p:nvSpPr>
          <p:cNvPr id="5" name="Rectangle 4">
            <a:extLst>
              <a:ext uri="{FF2B5EF4-FFF2-40B4-BE49-F238E27FC236}">
                <a16:creationId xmlns:a16="http://schemas.microsoft.com/office/drawing/2014/main" xmlns="" id="{7D0980A5-6C78-4DDF-12D3-EEEA9CD4593C}"/>
              </a:ext>
            </a:extLst>
          </p:cNvPr>
          <p:cNvSpPr/>
          <p:nvPr/>
        </p:nvSpPr>
        <p:spPr>
          <a:xfrm>
            <a:off x="6875583" y="2787738"/>
            <a:ext cx="4765431" cy="10155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fruits = {"apple", "banana", "mango", "orange"}</a:t>
            </a:r>
          </a:p>
          <a:p>
            <a:r>
              <a:rPr lang="en-US" dirty="0"/>
              <a:t>print("mango" in fruits)</a:t>
            </a:r>
          </a:p>
          <a:p>
            <a:r>
              <a:rPr lang="en-US" dirty="0"/>
              <a:t>print("grapes" in fruits)</a:t>
            </a:r>
          </a:p>
        </p:txBody>
      </p:sp>
      <p:sp>
        <p:nvSpPr>
          <p:cNvPr id="6" name="Rectangle 5">
            <a:extLst>
              <a:ext uri="{FF2B5EF4-FFF2-40B4-BE49-F238E27FC236}">
                <a16:creationId xmlns:a16="http://schemas.microsoft.com/office/drawing/2014/main" xmlns="" id="{E47BA22E-9BF8-E306-2211-90C50C5167C7}"/>
              </a:ext>
            </a:extLst>
          </p:cNvPr>
          <p:cNvSpPr/>
          <p:nvPr/>
        </p:nvSpPr>
        <p:spPr>
          <a:xfrm>
            <a:off x="501163" y="4404946"/>
            <a:ext cx="3543300" cy="11693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set1 = {10, 20, 30, 40, 50}</a:t>
            </a:r>
          </a:p>
          <a:p>
            <a:r>
              <a:rPr lang="en-US" dirty="0"/>
              <a:t>set2 = {30, 40, 50, 60, 70}</a:t>
            </a:r>
          </a:p>
          <a:p>
            <a:r>
              <a:rPr lang="en-US" dirty="0"/>
              <a:t>print("Common:", set1 &amp; set2)</a:t>
            </a:r>
          </a:p>
          <a:p>
            <a:r>
              <a:rPr lang="en-US" dirty="0"/>
              <a:t>print("Different:", set1 - set2)</a:t>
            </a:r>
          </a:p>
        </p:txBody>
      </p:sp>
      <p:sp>
        <p:nvSpPr>
          <p:cNvPr id="7" name="Rectangle 6">
            <a:extLst>
              <a:ext uri="{FF2B5EF4-FFF2-40B4-BE49-F238E27FC236}">
                <a16:creationId xmlns:a16="http://schemas.microsoft.com/office/drawing/2014/main" xmlns="" id="{79C92800-AAFD-0D44-63E2-53A5504F5673}"/>
              </a:ext>
            </a:extLst>
          </p:cNvPr>
          <p:cNvSpPr/>
          <p:nvPr/>
        </p:nvSpPr>
        <p:spPr>
          <a:xfrm>
            <a:off x="4712678" y="4241128"/>
            <a:ext cx="2927838" cy="2171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list1 = [10, 20, 30, 40, 50]</a:t>
            </a:r>
          </a:p>
          <a:p>
            <a:r>
              <a:rPr lang="en-US" dirty="0"/>
              <a:t>list2 = [30, 40, 50, 60, 70]</a:t>
            </a:r>
          </a:p>
          <a:p>
            <a:r>
              <a:rPr lang="en-US" dirty="0"/>
              <a:t>different = []</a:t>
            </a:r>
          </a:p>
          <a:p>
            <a:r>
              <a:rPr lang="en-US" dirty="0"/>
              <a:t>for item in list1:    </a:t>
            </a:r>
          </a:p>
          <a:p>
            <a:r>
              <a:rPr lang="en-US" dirty="0"/>
              <a:t>if item not in list2:        	</a:t>
            </a:r>
          </a:p>
          <a:p>
            <a:r>
              <a:rPr lang="en-US" dirty="0"/>
              <a:t>different. append(item)</a:t>
            </a:r>
          </a:p>
          <a:p>
            <a:r>
              <a:rPr lang="en-US" dirty="0"/>
              <a:t>print(different)</a:t>
            </a:r>
          </a:p>
        </p:txBody>
      </p:sp>
      <p:sp>
        <p:nvSpPr>
          <p:cNvPr id="8" name="Rectangle 7">
            <a:extLst>
              <a:ext uri="{FF2B5EF4-FFF2-40B4-BE49-F238E27FC236}">
                <a16:creationId xmlns:a16="http://schemas.microsoft.com/office/drawing/2014/main" xmlns="" id="{C0CD1AE9-07B7-640F-5D4D-74EC7780F006}"/>
              </a:ext>
            </a:extLst>
          </p:cNvPr>
          <p:cNvSpPr/>
          <p:nvPr/>
        </p:nvSpPr>
        <p:spPr>
          <a:xfrm>
            <a:off x="8203223" y="4241128"/>
            <a:ext cx="3297115" cy="11605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team1 = {“apple", "Banana"}</a:t>
            </a:r>
          </a:p>
          <a:p>
            <a:r>
              <a:rPr lang="en-US" dirty="0"/>
              <a:t>team2 = {"Banana", “Orange"}</a:t>
            </a:r>
          </a:p>
          <a:p>
            <a:r>
              <a:rPr lang="en-US" dirty="0" err="1"/>
              <a:t>all_members</a:t>
            </a:r>
            <a:r>
              <a:rPr lang="en-US" dirty="0"/>
              <a:t> = team1 | team2</a:t>
            </a:r>
          </a:p>
          <a:p>
            <a:r>
              <a:rPr lang="en-US" dirty="0"/>
              <a:t>print(</a:t>
            </a:r>
            <a:r>
              <a:rPr lang="en-US" dirty="0" err="1"/>
              <a:t>all_members</a:t>
            </a:r>
            <a:r>
              <a:rPr lang="en-US" dirty="0"/>
              <a:t>)</a:t>
            </a:r>
          </a:p>
        </p:txBody>
      </p:sp>
    </p:spTree>
    <p:extLst>
      <p:ext uri="{BB962C8B-B14F-4D97-AF65-F5344CB8AC3E}">
        <p14:creationId xmlns:p14="http://schemas.microsoft.com/office/powerpoint/2010/main" val="419839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6D0BA42E-2CF4-0320-EFFB-8C5DDC014E88}"/>
              </a:ext>
            </a:extLst>
          </p:cNvPr>
          <p:cNvGraphicFramePr>
            <a:graphicFrameLocks noGrp="1"/>
          </p:cNvGraphicFramePr>
          <p:nvPr>
            <p:ph idx="1"/>
            <p:extLst>
              <p:ext uri="{D42A27DB-BD31-4B8C-83A1-F6EECF244321}">
                <p14:modId xmlns:p14="http://schemas.microsoft.com/office/powerpoint/2010/main" val="4207834593"/>
              </p:ext>
            </p:extLst>
          </p:nvPr>
        </p:nvGraphicFramePr>
        <p:xfrm>
          <a:off x="345830" y="1206134"/>
          <a:ext cx="11242431" cy="3657600"/>
        </p:xfrm>
        <a:graphic>
          <a:graphicData uri="http://schemas.openxmlformats.org/drawingml/2006/table">
            <a:tbl>
              <a:tblPr/>
              <a:tblGrid>
                <a:gridCol w="3747477">
                  <a:extLst>
                    <a:ext uri="{9D8B030D-6E8A-4147-A177-3AD203B41FA5}">
                      <a16:colId xmlns:a16="http://schemas.microsoft.com/office/drawing/2014/main" xmlns="" val="3981278043"/>
                    </a:ext>
                  </a:extLst>
                </a:gridCol>
                <a:gridCol w="2105270">
                  <a:extLst>
                    <a:ext uri="{9D8B030D-6E8A-4147-A177-3AD203B41FA5}">
                      <a16:colId xmlns:a16="http://schemas.microsoft.com/office/drawing/2014/main" xmlns="" val="2925953110"/>
                    </a:ext>
                  </a:extLst>
                </a:gridCol>
                <a:gridCol w="5389684">
                  <a:extLst>
                    <a:ext uri="{9D8B030D-6E8A-4147-A177-3AD203B41FA5}">
                      <a16:colId xmlns:a16="http://schemas.microsoft.com/office/drawing/2014/main" xmlns="" val="2701681067"/>
                    </a:ext>
                  </a:extLst>
                </a:gridCol>
              </a:tblGrid>
              <a:tr h="0">
                <a:tc>
                  <a:txBody>
                    <a:bodyPr/>
                    <a:lstStyle/>
                    <a:p>
                      <a:r>
                        <a:rPr lang="en-US" sz="2400" b="1" dirty="0"/>
                        <a:t>Situation</a:t>
                      </a:r>
                    </a:p>
                  </a:txBody>
                  <a:tcPr anchor="ctr">
                    <a:lnL>
                      <a:noFill/>
                    </a:lnL>
                    <a:lnR>
                      <a:noFill/>
                    </a:lnR>
                    <a:lnT>
                      <a:noFill/>
                    </a:lnT>
                    <a:lnB>
                      <a:noFill/>
                    </a:lnB>
                    <a:noFill/>
                  </a:tcPr>
                </a:tc>
                <a:tc>
                  <a:txBody>
                    <a:bodyPr/>
                    <a:lstStyle/>
                    <a:p>
                      <a:r>
                        <a:rPr lang="en-US" sz="2400" b="1" dirty="0"/>
                        <a:t>Use a Set?</a:t>
                      </a:r>
                    </a:p>
                  </a:txBody>
                  <a:tcPr anchor="ctr">
                    <a:lnL>
                      <a:noFill/>
                    </a:lnL>
                    <a:lnR>
                      <a:noFill/>
                    </a:lnR>
                    <a:lnT>
                      <a:noFill/>
                    </a:lnT>
                    <a:lnB>
                      <a:noFill/>
                    </a:lnB>
                    <a:noFill/>
                  </a:tcPr>
                </a:tc>
                <a:tc>
                  <a:txBody>
                    <a:bodyPr/>
                    <a:lstStyle/>
                    <a:p>
                      <a:r>
                        <a:rPr lang="en-US" sz="2400" b="1" dirty="0"/>
                        <a:t>Why?</a:t>
                      </a:r>
                    </a:p>
                  </a:txBody>
                  <a:tcPr anchor="ctr">
                    <a:lnL>
                      <a:noFill/>
                    </a:lnL>
                    <a:lnR>
                      <a:noFill/>
                    </a:lnR>
                    <a:lnT>
                      <a:noFill/>
                    </a:lnT>
                    <a:lnB>
                      <a:noFill/>
                    </a:lnB>
                    <a:noFill/>
                  </a:tcPr>
                </a:tc>
                <a:extLst>
                  <a:ext uri="{0D108BD9-81ED-4DB2-BD59-A6C34878D82A}">
                    <a16:rowId xmlns:a16="http://schemas.microsoft.com/office/drawing/2014/main" xmlns="" val="1099370428"/>
                  </a:ext>
                </a:extLst>
              </a:tr>
              <a:tr h="0">
                <a:tc>
                  <a:txBody>
                    <a:bodyPr/>
                    <a:lstStyle/>
                    <a:p>
                      <a:r>
                        <a:rPr lang="en-US" sz="2400"/>
                        <a:t>Remove duplicates</a:t>
                      </a:r>
                    </a:p>
                  </a:txBody>
                  <a:tcPr anchor="ctr">
                    <a:lnL>
                      <a:noFill/>
                    </a:lnL>
                    <a:lnR>
                      <a:noFill/>
                    </a:lnR>
                    <a:lnT>
                      <a:noFill/>
                    </a:lnT>
                    <a:lnB>
                      <a:noFill/>
                    </a:lnB>
                    <a:noFill/>
                  </a:tcPr>
                </a:tc>
                <a:tc>
                  <a:txBody>
                    <a:bodyPr/>
                    <a:lstStyle/>
                    <a:p>
                      <a:r>
                        <a:rPr lang="en-US" sz="2400"/>
                        <a:t>✅ Yes</a:t>
                      </a:r>
                    </a:p>
                  </a:txBody>
                  <a:tcPr anchor="ctr">
                    <a:lnL>
                      <a:noFill/>
                    </a:lnL>
                    <a:lnR>
                      <a:noFill/>
                    </a:lnR>
                    <a:lnT>
                      <a:noFill/>
                    </a:lnT>
                    <a:lnB>
                      <a:noFill/>
                    </a:lnB>
                    <a:noFill/>
                  </a:tcPr>
                </a:tc>
                <a:tc>
                  <a:txBody>
                    <a:bodyPr/>
                    <a:lstStyle/>
                    <a:p>
                      <a:r>
                        <a:rPr lang="en-US" sz="2400"/>
                        <a:t>Automatically keeps unique values</a:t>
                      </a:r>
                    </a:p>
                  </a:txBody>
                  <a:tcPr anchor="ctr">
                    <a:lnL>
                      <a:noFill/>
                    </a:lnL>
                    <a:lnR>
                      <a:noFill/>
                    </a:lnR>
                    <a:lnT>
                      <a:noFill/>
                    </a:lnT>
                    <a:lnB>
                      <a:noFill/>
                    </a:lnB>
                    <a:noFill/>
                  </a:tcPr>
                </a:tc>
                <a:extLst>
                  <a:ext uri="{0D108BD9-81ED-4DB2-BD59-A6C34878D82A}">
                    <a16:rowId xmlns:a16="http://schemas.microsoft.com/office/drawing/2014/main" xmlns="" val="2920410522"/>
                  </a:ext>
                </a:extLst>
              </a:tr>
              <a:tr h="0">
                <a:tc>
                  <a:txBody>
                    <a:bodyPr/>
                    <a:lstStyle/>
                    <a:p>
                      <a:r>
                        <a:rPr lang="en-US" sz="2400"/>
                        <a:t>Check if an item exists</a:t>
                      </a:r>
                    </a:p>
                  </a:txBody>
                  <a:tcPr anchor="ctr">
                    <a:lnL>
                      <a:noFill/>
                    </a:lnL>
                    <a:lnR>
                      <a:noFill/>
                    </a:lnR>
                    <a:lnT>
                      <a:noFill/>
                    </a:lnT>
                    <a:lnB>
                      <a:noFill/>
                    </a:lnB>
                    <a:noFill/>
                  </a:tcPr>
                </a:tc>
                <a:tc>
                  <a:txBody>
                    <a:bodyPr/>
                    <a:lstStyle/>
                    <a:p>
                      <a:r>
                        <a:rPr lang="en-US" sz="2400"/>
                        <a:t>✅ Yes</a:t>
                      </a:r>
                    </a:p>
                  </a:txBody>
                  <a:tcPr anchor="ctr">
                    <a:lnL>
                      <a:noFill/>
                    </a:lnL>
                    <a:lnR>
                      <a:noFill/>
                    </a:lnR>
                    <a:lnT>
                      <a:noFill/>
                    </a:lnT>
                    <a:lnB>
                      <a:noFill/>
                    </a:lnB>
                    <a:noFill/>
                  </a:tcPr>
                </a:tc>
                <a:tc>
                  <a:txBody>
                    <a:bodyPr/>
                    <a:lstStyle/>
                    <a:p>
                      <a:r>
                        <a:rPr lang="en-US" sz="2400"/>
                        <a:t>Very fast lookup</a:t>
                      </a:r>
                    </a:p>
                  </a:txBody>
                  <a:tcPr anchor="ctr">
                    <a:lnL>
                      <a:noFill/>
                    </a:lnL>
                    <a:lnR>
                      <a:noFill/>
                    </a:lnR>
                    <a:lnT>
                      <a:noFill/>
                    </a:lnT>
                    <a:lnB>
                      <a:noFill/>
                    </a:lnB>
                    <a:noFill/>
                  </a:tcPr>
                </a:tc>
                <a:extLst>
                  <a:ext uri="{0D108BD9-81ED-4DB2-BD59-A6C34878D82A}">
                    <a16:rowId xmlns:a16="http://schemas.microsoft.com/office/drawing/2014/main" xmlns="" val="2201362099"/>
                  </a:ext>
                </a:extLst>
              </a:tr>
              <a:tr h="0">
                <a:tc>
                  <a:txBody>
                    <a:bodyPr/>
                    <a:lstStyle/>
                    <a:p>
                      <a:r>
                        <a:rPr lang="en-US" sz="2400"/>
                        <a:t>Store unique IDs</a:t>
                      </a:r>
                    </a:p>
                  </a:txBody>
                  <a:tcPr anchor="ctr">
                    <a:lnL>
                      <a:noFill/>
                    </a:lnL>
                    <a:lnR>
                      <a:noFill/>
                    </a:lnR>
                    <a:lnT>
                      <a:noFill/>
                    </a:lnT>
                    <a:lnB>
                      <a:noFill/>
                    </a:lnB>
                    <a:noFill/>
                  </a:tcPr>
                </a:tc>
                <a:tc>
                  <a:txBody>
                    <a:bodyPr/>
                    <a:lstStyle/>
                    <a:p>
                      <a:r>
                        <a:rPr lang="en-US" sz="2400" dirty="0"/>
                        <a:t>✅ Yes</a:t>
                      </a:r>
                    </a:p>
                  </a:txBody>
                  <a:tcPr anchor="ctr">
                    <a:lnL>
                      <a:noFill/>
                    </a:lnL>
                    <a:lnR>
                      <a:noFill/>
                    </a:lnR>
                    <a:lnT>
                      <a:noFill/>
                    </a:lnT>
                    <a:lnB>
                      <a:noFill/>
                    </a:lnB>
                    <a:noFill/>
                  </a:tcPr>
                </a:tc>
                <a:tc>
                  <a:txBody>
                    <a:bodyPr/>
                    <a:lstStyle/>
                    <a:p>
                      <a:r>
                        <a:rPr lang="en-US" sz="2400"/>
                        <a:t>Prevents duplicates</a:t>
                      </a:r>
                    </a:p>
                  </a:txBody>
                  <a:tcPr anchor="ctr">
                    <a:lnL>
                      <a:noFill/>
                    </a:lnL>
                    <a:lnR>
                      <a:noFill/>
                    </a:lnR>
                    <a:lnT>
                      <a:noFill/>
                    </a:lnT>
                    <a:lnB>
                      <a:noFill/>
                    </a:lnB>
                    <a:noFill/>
                  </a:tcPr>
                </a:tc>
                <a:extLst>
                  <a:ext uri="{0D108BD9-81ED-4DB2-BD59-A6C34878D82A}">
                    <a16:rowId xmlns:a16="http://schemas.microsoft.com/office/drawing/2014/main" xmlns="" val="2882257281"/>
                  </a:ext>
                </a:extLst>
              </a:tr>
              <a:tr h="0">
                <a:tc>
                  <a:txBody>
                    <a:bodyPr/>
                    <a:lstStyle/>
                    <a:p>
                      <a:r>
                        <a:rPr lang="en-US" sz="2400"/>
                        <a:t>Compare two groups</a:t>
                      </a:r>
                    </a:p>
                  </a:txBody>
                  <a:tcPr anchor="ctr">
                    <a:lnL>
                      <a:noFill/>
                    </a:lnL>
                    <a:lnR>
                      <a:noFill/>
                    </a:lnR>
                    <a:lnT>
                      <a:noFill/>
                    </a:lnT>
                    <a:lnB>
                      <a:noFill/>
                    </a:lnB>
                    <a:noFill/>
                  </a:tcPr>
                </a:tc>
                <a:tc>
                  <a:txBody>
                    <a:bodyPr/>
                    <a:lstStyle/>
                    <a:p>
                      <a:r>
                        <a:rPr lang="en-US" sz="2400"/>
                        <a:t>✅ Yes</a:t>
                      </a:r>
                    </a:p>
                  </a:txBody>
                  <a:tcPr anchor="ctr">
                    <a:lnL>
                      <a:noFill/>
                    </a:lnL>
                    <a:lnR>
                      <a:noFill/>
                    </a:lnR>
                    <a:lnT>
                      <a:noFill/>
                    </a:lnT>
                    <a:lnB>
                      <a:noFill/>
                    </a:lnB>
                    <a:noFill/>
                  </a:tcPr>
                </a:tc>
                <a:tc>
                  <a:txBody>
                    <a:bodyPr/>
                    <a:lstStyle/>
                    <a:p>
                      <a:r>
                        <a:rPr lang="en-US" sz="2400"/>
                        <a:t>Supports union, intersection, difference</a:t>
                      </a:r>
                    </a:p>
                  </a:txBody>
                  <a:tcPr anchor="ctr">
                    <a:lnL>
                      <a:noFill/>
                    </a:lnL>
                    <a:lnR>
                      <a:noFill/>
                    </a:lnR>
                    <a:lnT>
                      <a:noFill/>
                    </a:lnT>
                    <a:lnB>
                      <a:noFill/>
                    </a:lnB>
                    <a:noFill/>
                  </a:tcPr>
                </a:tc>
                <a:extLst>
                  <a:ext uri="{0D108BD9-81ED-4DB2-BD59-A6C34878D82A}">
                    <a16:rowId xmlns:a16="http://schemas.microsoft.com/office/drawing/2014/main" xmlns="" val="3077948039"/>
                  </a:ext>
                </a:extLst>
              </a:tr>
              <a:tr h="0">
                <a:tc>
                  <a:txBody>
                    <a:bodyPr/>
                    <a:lstStyle/>
                    <a:p>
                      <a:r>
                        <a:rPr lang="en-US" sz="2400"/>
                        <a:t>Need ordered data</a:t>
                      </a:r>
                    </a:p>
                  </a:txBody>
                  <a:tcPr anchor="ctr">
                    <a:lnL>
                      <a:noFill/>
                    </a:lnL>
                    <a:lnR>
                      <a:noFill/>
                    </a:lnR>
                    <a:lnT>
                      <a:noFill/>
                    </a:lnT>
                    <a:lnB>
                      <a:noFill/>
                    </a:lnB>
                    <a:noFill/>
                  </a:tcPr>
                </a:tc>
                <a:tc>
                  <a:txBody>
                    <a:bodyPr/>
                    <a:lstStyle/>
                    <a:p>
                      <a:r>
                        <a:rPr lang="en-US" sz="2400"/>
                        <a:t>❌ No</a:t>
                      </a:r>
                    </a:p>
                  </a:txBody>
                  <a:tcPr anchor="ctr">
                    <a:lnL>
                      <a:noFill/>
                    </a:lnL>
                    <a:lnR>
                      <a:noFill/>
                    </a:lnR>
                    <a:lnT>
                      <a:noFill/>
                    </a:lnT>
                    <a:lnB>
                      <a:noFill/>
                    </a:lnB>
                    <a:noFill/>
                  </a:tcPr>
                </a:tc>
                <a:tc>
                  <a:txBody>
                    <a:bodyPr/>
                    <a:lstStyle/>
                    <a:p>
                      <a:r>
                        <a:rPr lang="en-US" sz="2400"/>
                        <a:t>Sets are unordered</a:t>
                      </a:r>
                    </a:p>
                  </a:txBody>
                  <a:tcPr anchor="ctr">
                    <a:lnL>
                      <a:noFill/>
                    </a:lnL>
                    <a:lnR>
                      <a:noFill/>
                    </a:lnR>
                    <a:lnT>
                      <a:noFill/>
                    </a:lnT>
                    <a:lnB>
                      <a:noFill/>
                    </a:lnB>
                    <a:noFill/>
                  </a:tcPr>
                </a:tc>
                <a:extLst>
                  <a:ext uri="{0D108BD9-81ED-4DB2-BD59-A6C34878D82A}">
                    <a16:rowId xmlns:a16="http://schemas.microsoft.com/office/drawing/2014/main" xmlns="" val="875105989"/>
                  </a:ext>
                </a:extLst>
              </a:tr>
              <a:tr h="0">
                <a:tc>
                  <a:txBody>
                    <a:bodyPr/>
                    <a:lstStyle/>
                    <a:p>
                      <a:r>
                        <a:rPr lang="en-US" sz="2400"/>
                        <a:t>Need indexing (s[0])</a:t>
                      </a:r>
                    </a:p>
                  </a:txBody>
                  <a:tcPr anchor="ctr">
                    <a:lnL>
                      <a:noFill/>
                    </a:lnL>
                    <a:lnR>
                      <a:noFill/>
                    </a:lnR>
                    <a:lnT>
                      <a:noFill/>
                    </a:lnT>
                    <a:lnB>
                      <a:noFill/>
                    </a:lnB>
                    <a:noFill/>
                  </a:tcPr>
                </a:tc>
                <a:tc>
                  <a:txBody>
                    <a:bodyPr/>
                    <a:lstStyle/>
                    <a:p>
                      <a:r>
                        <a:rPr lang="en-US" sz="2400" dirty="0"/>
                        <a:t>❌ No</a:t>
                      </a:r>
                    </a:p>
                  </a:txBody>
                  <a:tcPr anchor="ctr">
                    <a:lnL>
                      <a:noFill/>
                    </a:lnL>
                    <a:lnR>
                      <a:noFill/>
                    </a:lnR>
                    <a:lnT>
                      <a:noFill/>
                    </a:lnT>
                    <a:lnB>
                      <a:noFill/>
                    </a:lnB>
                    <a:noFill/>
                  </a:tcPr>
                </a:tc>
                <a:tc>
                  <a:txBody>
                    <a:bodyPr/>
                    <a:lstStyle/>
                    <a:p>
                      <a:r>
                        <a:rPr lang="en-US" sz="2400"/>
                        <a:t>Sets do not support indexing</a:t>
                      </a:r>
                    </a:p>
                  </a:txBody>
                  <a:tcPr anchor="ctr">
                    <a:lnL>
                      <a:noFill/>
                    </a:lnL>
                    <a:lnR>
                      <a:noFill/>
                    </a:lnR>
                    <a:lnT>
                      <a:noFill/>
                    </a:lnT>
                    <a:lnB>
                      <a:noFill/>
                    </a:lnB>
                    <a:noFill/>
                  </a:tcPr>
                </a:tc>
                <a:extLst>
                  <a:ext uri="{0D108BD9-81ED-4DB2-BD59-A6C34878D82A}">
                    <a16:rowId xmlns:a16="http://schemas.microsoft.com/office/drawing/2014/main" xmlns="" val="815969748"/>
                  </a:ext>
                </a:extLst>
              </a:tr>
              <a:tr h="0">
                <a:tc>
                  <a:txBody>
                    <a:bodyPr/>
                    <a:lstStyle/>
                    <a:p>
                      <a:r>
                        <a:rPr lang="en-US" sz="2400"/>
                        <a:t>Need duplicate values</a:t>
                      </a:r>
                    </a:p>
                  </a:txBody>
                  <a:tcPr anchor="ctr">
                    <a:lnL>
                      <a:noFill/>
                    </a:lnL>
                    <a:lnR>
                      <a:noFill/>
                    </a:lnR>
                    <a:lnT>
                      <a:noFill/>
                    </a:lnT>
                    <a:lnB>
                      <a:noFill/>
                    </a:lnB>
                    <a:noFill/>
                  </a:tcPr>
                </a:tc>
                <a:tc>
                  <a:txBody>
                    <a:bodyPr/>
                    <a:lstStyle/>
                    <a:p>
                      <a:r>
                        <a:rPr lang="en-US" sz="2400" dirty="0"/>
                        <a:t>❌ No</a:t>
                      </a:r>
                    </a:p>
                  </a:txBody>
                  <a:tcPr anchor="ctr">
                    <a:lnL>
                      <a:noFill/>
                    </a:lnL>
                    <a:lnR>
                      <a:noFill/>
                    </a:lnR>
                    <a:lnT>
                      <a:noFill/>
                    </a:lnT>
                    <a:lnB>
                      <a:noFill/>
                    </a:lnB>
                    <a:noFill/>
                  </a:tcPr>
                </a:tc>
                <a:tc>
                  <a:txBody>
                    <a:bodyPr/>
                    <a:lstStyle/>
                    <a:p>
                      <a:r>
                        <a:rPr lang="en-US" sz="2400" dirty="0"/>
                        <a:t>Duplicates are discarded</a:t>
                      </a:r>
                    </a:p>
                  </a:txBody>
                  <a:tcPr anchor="ctr">
                    <a:lnL>
                      <a:noFill/>
                    </a:lnL>
                    <a:lnR>
                      <a:noFill/>
                    </a:lnR>
                    <a:lnT>
                      <a:noFill/>
                    </a:lnT>
                    <a:lnB>
                      <a:noFill/>
                    </a:lnB>
                    <a:noFill/>
                  </a:tcPr>
                </a:tc>
                <a:extLst>
                  <a:ext uri="{0D108BD9-81ED-4DB2-BD59-A6C34878D82A}">
                    <a16:rowId xmlns:a16="http://schemas.microsoft.com/office/drawing/2014/main" xmlns="" val="369428692"/>
                  </a:ext>
                </a:extLst>
              </a:tr>
            </a:tbl>
          </a:graphicData>
        </a:graphic>
      </p:graphicFrame>
      <p:sp>
        <p:nvSpPr>
          <p:cNvPr id="7" name="Title 6">
            <a:extLst>
              <a:ext uri="{FF2B5EF4-FFF2-40B4-BE49-F238E27FC236}">
                <a16:creationId xmlns:a16="http://schemas.microsoft.com/office/drawing/2014/main" xmlns="" id="{80AD1F21-4D62-30C9-2931-019D41F3915F}"/>
              </a:ext>
            </a:extLst>
          </p:cNvPr>
          <p:cNvSpPr>
            <a:spLocks noGrp="1"/>
          </p:cNvSpPr>
          <p:nvPr>
            <p:ph type="title"/>
          </p:nvPr>
        </p:nvSpPr>
        <p:spPr/>
        <p:txBody>
          <a:bodyPr>
            <a:normAutofit fontScale="90000"/>
          </a:bodyPr>
          <a:lstStyle/>
          <a:p>
            <a:r>
              <a:rPr lang="en-US" dirty="0"/>
              <a:t/>
            </a:r>
            <a:br>
              <a:rPr lang="en-US" dirty="0"/>
            </a:br>
            <a:r>
              <a:rPr lang="en-US" sz="4000" dirty="0"/>
              <a:t>When should you use a set?</a:t>
            </a:r>
            <a:r>
              <a:rPr lang="en-US" dirty="0"/>
              <a:t/>
            </a:r>
            <a:br>
              <a:rPr lang="en-US" dirty="0"/>
            </a:br>
            <a:endParaRPr lang="en-US" dirty="0"/>
          </a:p>
        </p:txBody>
      </p:sp>
    </p:spTree>
    <p:extLst>
      <p:ext uri="{BB962C8B-B14F-4D97-AF65-F5344CB8AC3E}">
        <p14:creationId xmlns:p14="http://schemas.microsoft.com/office/powerpoint/2010/main" val="270455391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D6F359-AE8B-A0C1-14F0-CB28AAF266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9B60BF2-2EC7-C6A7-8D30-318124CF6E4C}"/>
              </a:ext>
            </a:extLst>
          </p:cNvPr>
          <p:cNvSpPr>
            <a:spLocks noGrp="1"/>
          </p:cNvSpPr>
          <p:nvPr>
            <p:ph idx="1"/>
          </p:nvPr>
        </p:nvSpPr>
        <p:spPr/>
        <p:txBody>
          <a:bodyPr/>
          <a:lstStyle/>
          <a:p>
            <a:pPr marL="0" indent="0" algn="ctr">
              <a:buNone/>
            </a:pPr>
            <a:r>
              <a:rPr lang="en-US" sz="7200" dirty="0"/>
              <a:t>Write at-least 5 Points </a:t>
            </a:r>
          </a:p>
          <a:p>
            <a:pPr marL="0" indent="0" algn="ctr">
              <a:buNone/>
            </a:pPr>
            <a:r>
              <a:rPr lang="en-US" sz="7200" dirty="0"/>
              <a:t>on </a:t>
            </a:r>
          </a:p>
          <a:p>
            <a:pPr marL="0" indent="0" algn="ctr">
              <a:buNone/>
            </a:pPr>
            <a:r>
              <a:rPr lang="en-US" sz="7200" dirty="0"/>
              <a:t>difference between </a:t>
            </a:r>
          </a:p>
          <a:p>
            <a:pPr marL="0" indent="0" algn="ctr">
              <a:buNone/>
            </a:pPr>
            <a:r>
              <a:rPr lang="en-US" sz="7200" dirty="0"/>
              <a:t>Set and List.</a:t>
            </a:r>
          </a:p>
        </p:txBody>
      </p:sp>
    </p:spTree>
    <p:extLst>
      <p:ext uri="{BB962C8B-B14F-4D97-AF65-F5344CB8AC3E}">
        <p14:creationId xmlns:p14="http://schemas.microsoft.com/office/powerpoint/2010/main" val="328979224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Tuple</a:t>
            </a:r>
            <a:endParaRPr lang="en-US" dirty="0"/>
          </a:p>
        </p:txBody>
      </p:sp>
      <p:sp>
        <p:nvSpPr>
          <p:cNvPr id="3" name="Content Placeholder 2"/>
          <p:cNvSpPr>
            <a:spLocks noGrp="1"/>
          </p:cNvSpPr>
          <p:nvPr>
            <p:ph idx="1"/>
          </p:nvPr>
        </p:nvSpPr>
        <p:spPr/>
        <p:txBody>
          <a:bodyPr/>
          <a:lstStyle/>
          <a:p>
            <a:r>
              <a:rPr lang="en-US" dirty="0"/>
              <a:t>A tuple is an </a:t>
            </a:r>
            <a:r>
              <a:rPr lang="en-US" b="1" dirty="0">
                <a:solidFill>
                  <a:srgbClr val="0070C0"/>
                </a:solidFill>
              </a:rPr>
              <a:t>immutable</a:t>
            </a:r>
            <a:r>
              <a:rPr lang="en-US" dirty="0"/>
              <a:t> </a:t>
            </a:r>
            <a:r>
              <a:rPr lang="en-US" b="1" dirty="0">
                <a:solidFill>
                  <a:srgbClr val="0070C0"/>
                </a:solidFill>
              </a:rPr>
              <a:t>ordered</a:t>
            </a:r>
            <a:r>
              <a:rPr lang="en-US" dirty="0"/>
              <a:t> collection of elements.</a:t>
            </a:r>
          </a:p>
          <a:p>
            <a:r>
              <a:rPr lang="en-US" dirty="0"/>
              <a:t>Tuples are similar to lists, but unlike lists, they cannot be changed after their creation.</a:t>
            </a:r>
          </a:p>
          <a:p>
            <a:r>
              <a:rPr lang="en-US" dirty="0"/>
              <a:t>Can hold elements of different data types.</a:t>
            </a:r>
          </a:p>
          <a:p>
            <a:r>
              <a:rPr lang="en-US" dirty="0"/>
              <a:t>These are </a:t>
            </a:r>
            <a:r>
              <a:rPr lang="en-US" b="1" dirty="0">
                <a:solidFill>
                  <a:srgbClr val="0070C0"/>
                </a:solidFill>
              </a:rPr>
              <a:t>ordered</a:t>
            </a:r>
            <a:r>
              <a:rPr lang="en-US" dirty="0"/>
              <a:t>, </a:t>
            </a:r>
            <a:r>
              <a:rPr lang="en-US" b="1" dirty="0">
                <a:solidFill>
                  <a:srgbClr val="0070C0"/>
                </a:solidFill>
              </a:rPr>
              <a:t>heterogeneous</a:t>
            </a:r>
            <a:r>
              <a:rPr lang="en-US" dirty="0"/>
              <a:t> and </a:t>
            </a:r>
            <a:r>
              <a:rPr lang="en-US" b="1" dirty="0">
                <a:solidFill>
                  <a:srgbClr val="0070C0"/>
                </a:solidFill>
              </a:rPr>
              <a:t>immutable</a:t>
            </a:r>
            <a:r>
              <a:rPr lang="en-US" dirty="0"/>
              <a:t>.</a:t>
            </a:r>
            <a:r>
              <a:rPr lang="en-IN" dirty="0"/>
              <a:t>.</a:t>
            </a:r>
          </a:p>
          <a:p>
            <a:endParaRPr lang="en-IN" dirty="0"/>
          </a:p>
        </p:txBody>
      </p:sp>
      <p:sp>
        <p:nvSpPr>
          <p:cNvPr id="13" name="Rectangle 12">
            <a:extLst>
              <a:ext uri="{FF2B5EF4-FFF2-40B4-BE49-F238E27FC236}">
                <a16:creationId xmlns:a16="http://schemas.microsoft.com/office/drawing/2014/main" xmlns="" id="{63BAFA9B-A82F-22A7-EAED-40ABF56F6CCC}"/>
              </a:ext>
            </a:extLst>
          </p:cNvPr>
          <p:cNvSpPr/>
          <p:nvPr/>
        </p:nvSpPr>
        <p:spPr>
          <a:xfrm>
            <a:off x="474449" y="2778711"/>
            <a:ext cx="2485748" cy="35777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tup = ()</a:t>
            </a:r>
          </a:p>
          <a:p>
            <a:r>
              <a:rPr lang="en-US" dirty="0"/>
              <a:t>print(tup)</a:t>
            </a:r>
          </a:p>
          <a:p>
            <a:r>
              <a:rPr lang="en-US" dirty="0"/>
              <a:t>tup = (‘Set', 'For')</a:t>
            </a:r>
          </a:p>
          <a:p>
            <a:r>
              <a:rPr lang="en-US" dirty="0"/>
              <a:t>print(tup)</a:t>
            </a:r>
          </a:p>
          <a:p>
            <a:endParaRPr lang="en-US" dirty="0"/>
          </a:p>
          <a:p>
            <a:r>
              <a:rPr lang="en-US" dirty="0"/>
              <a:t>li = [1, 2, 4, 5, 6]</a:t>
            </a:r>
          </a:p>
          <a:p>
            <a:r>
              <a:rPr lang="en-US" dirty="0"/>
              <a:t>print(tuple(li))</a:t>
            </a:r>
          </a:p>
          <a:p>
            <a:endParaRPr lang="en-US" dirty="0"/>
          </a:p>
          <a:p>
            <a:r>
              <a:rPr lang="en-US" dirty="0"/>
              <a:t>tup = tuple(‘apple')</a:t>
            </a:r>
          </a:p>
          <a:p>
            <a:r>
              <a:rPr lang="en-US" dirty="0"/>
              <a:t>print(tup)</a:t>
            </a:r>
          </a:p>
        </p:txBody>
      </p:sp>
      <p:sp>
        <p:nvSpPr>
          <p:cNvPr id="14" name="Rectangle 13">
            <a:extLst>
              <a:ext uri="{FF2B5EF4-FFF2-40B4-BE49-F238E27FC236}">
                <a16:creationId xmlns:a16="http://schemas.microsoft.com/office/drawing/2014/main" xmlns="" id="{56B84926-A702-74B5-DE1E-35F61DD4CE7C}"/>
              </a:ext>
            </a:extLst>
          </p:cNvPr>
          <p:cNvSpPr/>
          <p:nvPr/>
        </p:nvSpPr>
        <p:spPr>
          <a:xfrm>
            <a:off x="3604334" y="2778711"/>
            <a:ext cx="7883371" cy="4527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tup = (5, 'Welcome', 7.5, True, [1, 2, 3], {'key': 'value'})</a:t>
            </a:r>
          </a:p>
        </p:txBody>
      </p:sp>
      <p:sp>
        <p:nvSpPr>
          <p:cNvPr id="15" name="Rectangle 14">
            <a:extLst>
              <a:ext uri="{FF2B5EF4-FFF2-40B4-BE49-F238E27FC236}">
                <a16:creationId xmlns:a16="http://schemas.microsoft.com/office/drawing/2014/main" xmlns="" id="{D4592D01-80BD-D6B6-5457-BB23107E2867}"/>
              </a:ext>
            </a:extLst>
          </p:cNvPr>
          <p:cNvSpPr/>
          <p:nvPr/>
        </p:nvSpPr>
        <p:spPr>
          <a:xfrm>
            <a:off x="3604334" y="3429000"/>
            <a:ext cx="2485748" cy="2565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tup = tuple(“scooter")</a:t>
            </a:r>
          </a:p>
          <a:p>
            <a:r>
              <a:rPr lang="en-US" sz="1400" dirty="0"/>
              <a:t>print(tup[0])</a:t>
            </a:r>
          </a:p>
          <a:p>
            <a:r>
              <a:rPr lang="en-US" sz="1400" dirty="0"/>
              <a:t>print(tup[1:4])  </a:t>
            </a:r>
          </a:p>
          <a:p>
            <a:r>
              <a:rPr lang="en-US" sz="1400" dirty="0"/>
              <a:t>print(tup[:3])</a:t>
            </a:r>
          </a:p>
          <a:p>
            <a:endParaRPr lang="en-US" sz="1400" dirty="0"/>
          </a:p>
          <a:p>
            <a:r>
              <a:rPr lang="en-US" sz="1400" dirty="0"/>
              <a:t>tup = (“car", “cycle", “ship")</a:t>
            </a:r>
          </a:p>
          <a:p>
            <a:endParaRPr lang="en-US" sz="1400" dirty="0"/>
          </a:p>
          <a:p>
            <a:r>
              <a:rPr lang="en-US" sz="1400" dirty="0"/>
              <a:t>a, b, c = tup</a:t>
            </a:r>
          </a:p>
          <a:p>
            <a:r>
              <a:rPr lang="en-US" sz="1400" dirty="0"/>
              <a:t>print(a)</a:t>
            </a:r>
          </a:p>
          <a:p>
            <a:r>
              <a:rPr lang="en-US" sz="1400" dirty="0"/>
              <a:t>print(b)</a:t>
            </a:r>
          </a:p>
          <a:p>
            <a:r>
              <a:rPr lang="en-US" sz="1400" dirty="0"/>
              <a:t>print(c)</a:t>
            </a:r>
          </a:p>
        </p:txBody>
      </p:sp>
      <p:sp>
        <p:nvSpPr>
          <p:cNvPr id="16" name="Rectangle 15">
            <a:extLst>
              <a:ext uri="{FF2B5EF4-FFF2-40B4-BE49-F238E27FC236}">
                <a16:creationId xmlns:a16="http://schemas.microsoft.com/office/drawing/2014/main" xmlns="" id="{6CB9E518-A95D-D07D-8ABA-23391ABAC295}"/>
              </a:ext>
            </a:extLst>
          </p:cNvPr>
          <p:cNvSpPr/>
          <p:nvPr/>
        </p:nvSpPr>
        <p:spPr>
          <a:xfrm>
            <a:off x="6782540" y="3555507"/>
            <a:ext cx="2148396" cy="2010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Unpacking of Tuple:</a:t>
            </a:r>
          </a:p>
          <a:p>
            <a:endParaRPr lang="en-US" dirty="0"/>
          </a:p>
          <a:p>
            <a:r>
              <a:rPr lang="en-US" dirty="0"/>
              <a:t>tup = (1, 2, 3, 4, 5)</a:t>
            </a:r>
          </a:p>
          <a:p>
            <a:r>
              <a:rPr lang="en-US" dirty="0"/>
              <a:t>a, *b, c = tup</a:t>
            </a:r>
          </a:p>
          <a:p>
            <a:r>
              <a:rPr lang="en-US" dirty="0"/>
              <a:t>print(a) </a:t>
            </a:r>
          </a:p>
          <a:p>
            <a:r>
              <a:rPr lang="en-US" dirty="0"/>
              <a:t>print(b) </a:t>
            </a:r>
          </a:p>
          <a:p>
            <a:r>
              <a:rPr lang="en-US" dirty="0"/>
              <a:t>print(c)</a:t>
            </a:r>
          </a:p>
        </p:txBody>
      </p:sp>
      <p:sp>
        <p:nvSpPr>
          <p:cNvPr id="17" name="Rectangle 16">
            <a:extLst>
              <a:ext uri="{FF2B5EF4-FFF2-40B4-BE49-F238E27FC236}">
                <a16:creationId xmlns:a16="http://schemas.microsoft.com/office/drawing/2014/main" xmlns="" id="{88AF1F29-6099-21DF-7A26-22E1597C0D00}"/>
              </a:ext>
            </a:extLst>
          </p:cNvPr>
          <p:cNvSpPr/>
          <p:nvPr/>
        </p:nvSpPr>
        <p:spPr>
          <a:xfrm>
            <a:off x="9747682" y="3626529"/>
            <a:ext cx="2018190" cy="14426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tup = (1, 2, 3, 4, 5)</a:t>
            </a:r>
          </a:p>
          <a:p>
            <a:r>
              <a:rPr lang="en-US" dirty="0"/>
              <a:t>a, *b, *c = tup</a:t>
            </a:r>
          </a:p>
          <a:p>
            <a:r>
              <a:rPr lang="en-US" dirty="0"/>
              <a:t>print(a) </a:t>
            </a:r>
          </a:p>
          <a:p>
            <a:r>
              <a:rPr lang="en-US" dirty="0"/>
              <a:t>print(b) </a:t>
            </a:r>
          </a:p>
          <a:p>
            <a:r>
              <a:rPr lang="en-US" dirty="0"/>
              <a:t>print(c)</a:t>
            </a:r>
          </a:p>
        </p:txBody>
      </p:sp>
    </p:spTree>
    <p:extLst>
      <p:ext uri="{BB962C8B-B14F-4D97-AF65-F5344CB8AC3E}">
        <p14:creationId xmlns:p14="http://schemas.microsoft.com/office/powerpoint/2010/main" val="2782082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P spid="14" grpId="0" animBg="1"/>
      <p:bldP spid="15" grpId="0" animBg="1"/>
      <p:bldP spid="16" grpId="0" animBg="1"/>
      <p:bldP spid="17"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Few more Examples:</a:t>
            </a:r>
          </a:p>
        </p:txBody>
      </p:sp>
      <p:sp>
        <p:nvSpPr>
          <p:cNvPr id="3" name="Content Placeholder 2"/>
          <p:cNvSpPr>
            <a:spLocks noGrp="1"/>
          </p:cNvSpPr>
          <p:nvPr>
            <p:ph idx="1"/>
          </p:nvPr>
        </p:nvSpPr>
        <p:spPr/>
        <p:txBody>
          <a:bodyPr/>
          <a:lstStyle/>
          <a:p>
            <a:r>
              <a:rPr lang="en-US" dirty="0"/>
              <a:t>Consider a string S=”Adam Smith”. Write a python program to print all the characters in the string individually on the python console.</a:t>
            </a:r>
          </a:p>
          <a:p>
            <a:pPr marL="544512" lvl="1" indent="0">
              <a:buNone/>
            </a:pPr>
            <a:r>
              <a:rPr lang="en-US" dirty="0">
                <a:solidFill>
                  <a:srgbClr val="FF0000"/>
                </a:solidFill>
              </a:rPr>
              <a:t>S=" Adam Smith"</a:t>
            </a:r>
          </a:p>
          <a:p>
            <a:pPr marL="544512" lvl="1" indent="0">
              <a:buNone/>
            </a:pPr>
            <a:r>
              <a:rPr lang="en-US" dirty="0">
                <a:solidFill>
                  <a:srgbClr val="FF0000"/>
                </a:solidFill>
              </a:rPr>
              <a:t>  for x in S:</a:t>
            </a:r>
          </a:p>
          <a:p>
            <a:pPr marL="544512" lvl="1" indent="0">
              <a:buNone/>
            </a:pPr>
            <a:r>
              <a:rPr lang="en-US" dirty="0">
                <a:solidFill>
                  <a:srgbClr val="FF0000"/>
                </a:solidFill>
              </a:rPr>
              <a:t>      print(x)</a:t>
            </a:r>
          </a:p>
          <a:p>
            <a:pPr marL="0" indent="0">
              <a:buNone/>
            </a:pPr>
            <a:endParaRPr lang="en-US" dirty="0"/>
          </a:p>
          <a:p>
            <a:r>
              <a:rPr lang="en-US" dirty="0"/>
              <a:t>Consider a dictionary D={“john”: 100, “</a:t>
            </a:r>
            <a:r>
              <a:rPr lang="en-US" dirty="0" err="1"/>
              <a:t>adam</a:t>
            </a:r>
            <a:r>
              <a:rPr lang="en-US" dirty="0"/>
              <a:t>”: 200, “richard”:300}. </a:t>
            </a:r>
          </a:p>
          <a:p>
            <a:r>
              <a:rPr lang="en-US" dirty="0"/>
              <a:t>Write a python program to print all the elements in the dictionary on the python console.</a:t>
            </a:r>
          </a:p>
          <a:p>
            <a:pPr marL="544512" lvl="1" indent="0">
              <a:buNone/>
            </a:pPr>
            <a:r>
              <a:rPr lang="en-US" dirty="0">
                <a:solidFill>
                  <a:srgbClr val="FF0000"/>
                </a:solidFill>
              </a:rPr>
              <a:t>D={"john": 100, "</a:t>
            </a:r>
            <a:r>
              <a:rPr lang="en-US" dirty="0" err="1">
                <a:solidFill>
                  <a:srgbClr val="FF0000"/>
                </a:solidFill>
              </a:rPr>
              <a:t>adam</a:t>
            </a:r>
            <a:r>
              <a:rPr lang="en-US" dirty="0">
                <a:solidFill>
                  <a:srgbClr val="FF0000"/>
                </a:solidFill>
              </a:rPr>
              <a:t>": 200, "richard":300}</a:t>
            </a:r>
          </a:p>
          <a:p>
            <a:pPr marL="544512" lvl="1" indent="0">
              <a:buNone/>
            </a:pPr>
            <a:r>
              <a:rPr lang="en-US" dirty="0">
                <a:solidFill>
                  <a:srgbClr val="FF0000"/>
                </a:solidFill>
              </a:rPr>
              <a:t>  for </a:t>
            </a:r>
            <a:r>
              <a:rPr lang="en-US" dirty="0" err="1">
                <a:solidFill>
                  <a:srgbClr val="FF0000"/>
                </a:solidFill>
              </a:rPr>
              <a:t>k,v</a:t>
            </a:r>
            <a:r>
              <a:rPr lang="en-US" dirty="0">
                <a:solidFill>
                  <a:srgbClr val="FF0000"/>
                </a:solidFill>
              </a:rPr>
              <a:t> in </a:t>
            </a:r>
            <a:r>
              <a:rPr lang="en-US" dirty="0" err="1">
                <a:solidFill>
                  <a:srgbClr val="FF0000"/>
                </a:solidFill>
              </a:rPr>
              <a:t>D.items</a:t>
            </a:r>
            <a:r>
              <a:rPr lang="en-US" dirty="0">
                <a:solidFill>
                  <a:srgbClr val="FF0000"/>
                </a:solidFill>
              </a:rPr>
              <a:t>():</a:t>
            </a:r>
          </a:p>
          <a:p>
            <a:pPr marL="544512" lvl="1" indent="0">
              <a:buNone/>
            </a:pPr>
            <a:r>
              <a:rPr lang="en-US" dirty="0">
                <a:solidFill>
                  <a:srgbClr val="FF0000"/>
                </a:solidFill>
              </a:rPr>
              <a:t>      print(k,"---",v)</a:t>
            </a:r>
            <a:endParaRPr lang="en-IN" dirty="0">
              <a:solidFill>
                <a:srgbClr val="FF0000"/>
              </a:solidFill>
            </a:endParaRPr>
          </a:p>
        </p:txBody>
      </p:sp>
    </p:spTree>
    <p:extLst>
      <p:ext uri="{BB962C8B-B14F-4D97-AF65-F5344CB8AC3E}">
        <p14:creationId xmlns:p14="http://schemas.microsoft.com/office/powerpoint/2010/main" val="157978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Few more Examples:</a:t>
            </a:r>
          </a:p>
        </p:txBody>
      </p:sp>
      <p:sp>
        <p:nvSpPr>
          <p:cNvPr id="3" name="Content Placeholder 2"/>
          <p:cNvSpPr>
            <a:spLocks noGrp="1"/>
          </p:cNvSpPr>
          <p:nvPr>
            <p:ph idx="1"/>
          </p:nvPr>
        </p:nvSpPr>
        <p:spPr/>
        <p:txBody>
          <a:bodyPr/>
          <a:lstStyle/>
          <a:p>
            <a:r>
              <a:rPr lang="en-US" dirty="0"/>
              <a:t>Consider a tuple T=(10,23,56,67,30,45,89). Here the condition is, we have to loop through the items in the tuple one by one, if any item of the tuple is greater than 60, then we have to come out of the loop, otherwise we have to print the items. Let us try to implement this.</a:t>
            </a:r>
          </a:p>
          <a:p>
            <a:endParaRPr lang="en-US" dirty="0"/>
          </a:p>
          <a:p>
            <a:pPr marL="544512" lvl="1" indent="0">
              <a:buNone/>
            </a:pPr>
            <a:r>
              <a:rPr lang="en-US" dirty="0"/>
              <a:t> </a:t>
            </a:r>
            <a:r>
              <a:rPr lang="en-US" dirty="0">
                <a:solidFill>
                  <a:srgbClr val="FF0000"/>
                </a:solidFill>
              </a:rPr>
              <a:t>T=(10,23,56,67,30,45,89)</a:t>
            </a:r>
          </a:p>
          <a:p>
            <a:pPr marL="544512" lvl="1" indent="0">
              <a:buNone/>
            </a:pPr>
            <a:r>
              <a:rPr lang="en-US" dirty="0">
                <a:solidFill>
                  <a:srgbClr val="FF0000"/>
                </a:solidFill>
              </a:rPr>
              <a:t>for x in T:</a:t>
            </a:r>
          </a:p>
          <a:p>
            <a:pPr marL="544512" lvl="1" indent="0">
              <a:buNone/>
            </a:pPr>
            <a:r>
              <a:rPr lang="en-US" dirty="0">
                <a:solidFill>
                  <a:srgbClr val="FF0000"/>
                </a:solidFill>
              </a:rPr>
              <a:t>    if x&gt;60:</a:t>
            </a:r>
          </a:p>
          <a:p>
            <a:pPr marL="544512" lvl="1" indent="0">
              <a:buNone/>
            </a:pPr>
            <a:r>
              <a:rPr lang="en-US" dirty="0">
                <a:solidFill>
                  <a:srgbClr val="FF0000"/>
                </a:solidFill>
              </a:rPr>
              <a:t>         break</a:t>
            </a:r>
          </a:p>
          <a:p>
            <a:pPr marL="544512" lvl="1" indent="0">
              <a:buNone/>
            </a:pPr>
            <a:r>
              <a:rPr lang="en-US" dirty="0">
                <a:solidFill>
                  <a:srgbClr val="FF0000"/>
                </a:solidFill>
              </a:rPr>
              <a:t>    else:</a:t>
            </a:r>
          </a:p>
          <a:p>
            <a:pPr marL="544512" lvl="1" indent="0">
              <a:buNone/>
            </a:pPr>
            <a:r>
              <a:rPr lang="en-US" dirty="0">
                <a:solidFill>
                  <a:srgbClr val="FF0000"/>
                </a:solidFill>
              </a:rPr>
              <a:t>        print(x)</a:t>
            </a:r>
            <a:endParaRPr lang="en-IN" dirty="0">
              <a:solidFill>
                <a:srgbClr val="FF0000"/>
              </a:solidFill>
            </a:endParaRPr>
          </a:p>
        </p:txBody>
      </p:sp>
    </p:spTree>
    <p:extLst>
      <p:ext uri="{BB962C8B-B14F-4D97-AF65-F5344CB8AC3E}">
        <p14:creationId xmlns:p14="http://schemas.microsoft.com/office/powerpoint/2010/main" val="409536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Few more Examples:</a:t>
            </a:r>
          </a:p>
        </p:txBody>
      </p:sp>
      <p:sp>
        <p:nvSpPr>
          <p:cNvPr id="3" name="Content Placeholder 2"/>
          <p:cNvSpPr>
            <a:spLocks noGrp="1"/>
          </p:cNvSpPr>
          <p:nvPr>
            <p:ph idx="1"/>
          </p:nvPr>
        </p:nvSpPr>
        <p:spPr/>
        <p:txBody>
          <a:bodyPr/>
          <a:lstStyle/>
          <a:p>
            <a:r>
              <a:rPr lang="en-US" dirty="0"/>
              <a:t>consider two tuples T1=(23, 10, 45, 32, 75, 12) and T2=(“Dog”, “Banana”, “Cat”, “Apple”).Sort it.</a:t>
            </a:r>
          </a:p>
          <a:p>
            <a:endParaRPr lang="en-US" dirty="0"/>
          </a:p>
          <a:p>
            <a:pPr marL="544512" lvl="1" indent="0">
              <a:buNone/>
            </a:pPr>
            <a:r>
              <a:rPr lang="en-IN" dirty="0"/>
              <a:t>T1=(23, 10, 45, 32, 75, 12)</a:t>
            </a:r>
          </a:p>
          <a:p>
            <a:pPr marL="544512" lvl="1" indent="0">
              <a:buNone/>
            </a:pPr>
            <a:r>
              <a:rPr lang="en-IN" dirty="0"/>
              <a:t> T2=("Dog", "Banana", "Cat", "Apple")</a:t>
            </a:r>
          </a:p>
          <a:p>
            <a:pPr marL="544512" lvl="1" indent="0">
              <a:buNone/>
            </a:pPr>
            <a:r>
              <a:rPr lang="en-IN" dirty="0"/>
              <a:t> print("Before sorting ",T1)</a:t>
            </a:r>
          </a:p>
          <a:p>
            <a:pPr marL="544512" lvl="1" indent="0">
              <a:buNone/>
            </a:pPr>
            <a:r>
              <a:rPr lang="en-IN" dirty="0"/>
              <a:t> print("Before sorting ",T2)</a:t>
            </a:r>
          </a:p>
          <a:p>
            <a:pPr marL="544512" lvl="1" indent="0">
              <a:buNone/>
            </a:pPr>
            <a:r>
              <a:rPr lang="en-IN" dirty="0"/>
              <a:t> T3=sorted(T1)</a:t>
            </a:r>
          </a:p>
          <a:p>
            <a:pPr marL="544512" lvl="1" indent="0">
              <a:buNone/>
            </a:pPr>
            <a:r>
              <a:rPr lang="en-IN" dirty="0"/>
              <a:t> T4=sorted(T2)</a:t>
            </a:r>
          </a:p>
          <a:p>
            <a:pPr marL="544512" lvl="1" indent="0">
              <a:buNone/>
            </a:pPr>
            <a:r>
              <a:rPr lang="en-IN" dirty="0"/>
              <a:t> print("After sorting ",T3)</a:t>
            </a:r>
          </a:p>
          <a:p>
            <a:pPr marL="544512" lvl="1" indent="0">
              <a:buNone/>
            </a:pPr>
            <a:r>
              <a:rPr lang="en-IN" dirty="0"/>
              <a:t> print("After sorting ",T4)</a:t>
            </a:r>
          </a:p>
        </p:txBody>
      </p:sp>
    </p:spTree>
    <p:extLst>
      <p:ext uri="{BB962C8B-B14F-4D97-AF65-F5344CB8AC3E}">
        <p14:creationId xmlns:p14="http://schemas.microsoft.com/office/powerpoint/2010/main" val="413470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Functions in python</a:t>
            </a:r>
            <a:endParaRPr lang="en-US" dirty="0"/>
          </a:p>
        </p:txBody>
      </p:sp>
      <p:sp>
        <p:nvSpPr>
          <p:cNvPr id="3" name="Content Placeholder 2"/>
          <p:cNvSpPr>
            <a:spLocks noGrp="1"/>
          </p:cNvSpPr>
          <p:nvPr>
            <p:ph idx="1"/>
          </p:nvPr>
        </p:nvSpPr>
        <p:spPr/>
        <p:txBody>
          <a:bodyPr/>
          <a:lstStyle/>
          <a:p>
            <a:r>
              <a:rPr lang="en-IN" dirty="0"/>
              <a:t>Creating clean repeatable code is a key part of becoming an effective programmer.</a:t>
            </a:r>
          </a:p>
          <a:p>
            <a:r>
              <a:rPr lang="en-US" dirty="0"/>
              <a:t>A function is a block of code which only runs when it is called.</a:t>
            </a:r>
          </a:p>
          <a:p>
            <a:r>
              <a:rPr lang="en-US" dirty="0"/>
              <a:t>In Python a function is defined using the def keyword:</a:t>
            </a:r>
          </a:p>
        </p:txBody>
      </p:sp>
      <p:sp>
        <p:nvSpPr>
          <p:cNvPr id="4" name="Rectangle 3">
            <a:extLst>
              <a:ext uri="{FF2B5EF4-FFF2-40B4-BE49-F238E27FC236}">
                <a16:creationId xmlns:a16="http://schemas.microsoft.com/office/drawing/2014/main" xmlns="" id="{D456EBDA-49A4-A843-A786-6989C63A54AA}"/>
              </a:ext>
            </a:extLst>
          </p:cNvPr>
          <p:cNvSpPr/>
          <p:nvPr/>
        </p:nvSpPr>
        <p:spPr>
          <a:xfrm>
            <a:off x="583716" y="2582681"/>
            <a:ext cx="8952136" cy="584775"/>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a:rPr>
              <a:t>def</a:t>
            </a:r>
            <a:r>
              <a:rPr lang="en-US" sz="1600" dirty="0">
                <a:solidFill>
                  <a:srgbClr val="000000"/>
                </a:solidFill>
                <a:latin typeface="Consolas"/>
              </a:rPr>
              <a:t> </a:t>
            </a:r>
            <a:r>
              <a:rPr lang="en-US" sz="1600" dirty="0" err="1">
                <a:solidFill>
                  <a:srgbClr val="000000"/>
                </a:solidFill>
                <a:latin typeface="Consolas"/>
              </a:rPr>
              <a:t>function_name</a:t>
            </a:r>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8000"/>
                </a:solidFill>
                <a:latin typeface="Consolas"/>
              </a:rPr>
              <a:t>#code to execute when function is called</a:t>
            </a:r>
            <a:endParaRPr lang="en-US" sz="1600" b="0" dirty="0">
              <a:solidFill>
                <a:srgbClr val="000000"/>
              </a:solidFill>
              <a:latin typeface="Consolas"/>
            </a:endParaRPr>
          </a:p>
        </p:txBody>
      </p:sp>
      <p:sp>
        <p:nvSpPr>
          <p:cNvPr id="6" name="Rectangle: Top Corners Rounded 6">
            <a:extLst>
              <a:ext uri="{FF2B5EF4-FFF2-40B4-BE49-F238E27FC236}">
                <a16:creationId xmlns:a16="http://schemas.microsoft.com/office/drawing/2014/main" xmlns="" id="{0336C271-A2A3-9445-9946-5006F0A250F4}"/>
              </a:ext>
            </a:extLst>
          </p:cNvPr>
          <p:cNvSpPr/>
          <p:nvPr/>
        </p:nvSpPr>
        <p:spPr>
          <a:xfrm>
            <a:off x="583716" y="2253497"/>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7" name="Line Callout 1 6"/>
          <p:cNvSpPr/>
          <p:nvPr/>
        </p:nvSpPr>
        <p:spPr>
          <a:xfrm>
            <a:off x="5675650" y="2184112"/>
            <a:ext cx="4495800" cy="626533"/>
          </a:xfrm>
          <a:prstGeom prst="borderCallout1">
            <a:avLst>
              <a:gd name="adj1" fmla="val 53885"/>
              <a:gd name="adj2" fmla="val -612"/>
              <a:gd name="adj3" fmla="val 95034"/>
              <a:gd name="adj4" fmla="val -58156"/>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ends with </a:t>
            </a:r>
            <a:r>
              <a:rPr lang="en-IN" b="1" dirty="0">
                <a:solidFill>
                  <a:srgbClr val="FF0000"/>
                </a:solidFill>
              </a:rPr>
              <a:t>: </a:t>
            </a:r>
            <a:endParaRPr lang="en-US" b="1" dirty="0">
              <a:solidFill>
                <a:srgbClr val="FF0000"/>
              </a:solidFill>
            </a:endParaRPr>
          </a:p>
        </p:txBody>
      </p:sp>
      <p:sp>
        <p:nvSpPr>
          <p:cNvPr id="8" name="Line Callout 1 7"/>
          <p:cNvSpPr/>
          <p:nvPr/>
        </p:nvSpPr>
        <p:spPr>
          <a:xfrm>
            <a:off x="2245569" y="3199542"/>
            <a:ext cx="4495800" cy="626533"/>
          </a:xfrm>
          <a:prstGeom prst="borderCallout1">
            <a:avLst>
              <a:gd name="adj1" fmla="val 53885"/>
              <a:gd name="adj2" fmla="val -612"/>
              <a:gd name="adj3" fmla="val -22245"/>
              <a:gd name="adj4" fmla="val -3028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Indentation (tab/whitespace) at the beginning</a:t>
            </a:r>
            <a:endParaRPr lang="en-US" b="1" dirty="0">
              <a:solidFill>
                <a:srgbClr val="FF0000"/>
              </a:solidFill>
            </a:endParaRPr>
          </a:p>
        </p:txBody>
      </p:sp>
      <p:sp>
        <p:nvSpPr>
          <p:cNvPr id="9" name="Rectangle 8">
            <a:extLst>
              <a:ext uri="{FF2B5EF4-FFF2-40B4-BE49-F238E27FC236}">
                <a16:creationId xmlns:a16="http://schemas.microsoft.com/office/drawing/2014/main" xmlns="" id="{D456EBDA-49A4-A843-A786-6989C63A54AA}"/>
              </a:ext>
            </a:extLst>
          </p:cNvPr>
          <p:cNvSpPr/>
          <p:nvPr/>
        </p:nvSpPr>
        <p:spPr>
          <a:xfrm>
            <a:off x="1079186" y="4528599"/>
            <a:ext cx="5649418" cy="2062103"/>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a:rPr>
              <a:t>def</a:t>
            </a:r>
            <a:r>
              <a:rPr lang="en-US" sz="1600" dirty="0">
                <a:solidFill>
                  <a:srgbClr val="000000"/>
                </a:solidFill>
                <a:latin typeface="Consolas"/>
              </a:rPr>
              <a:t> </a:t>
            </a:r>
            <a:r>
              <a:rPr lang="en-US" sz="1600" dirty="0" err="1">
                <a:solidFill>
                  <a:srgbClr val="000000"/>
                </a:solidFill>
                <a:latin typeface="Consolas"/>
              </a:rPr>
              <a:t>seperator</a:t>
            </a:r>
            <a:r>
              <a:rPr lang="en-US" sz="1600" dirty="0">
                <a:solidFill>
                  <a:srgbClr val="000000"/>
                </a:solidFill>
                <a:latin typeface="Consolas"/>
              </a:rPr>
              <a:t>() :</a:t>
            </a:r>
          </a:p>
          <a:p>
            <a:r>
              <a:rPr lang="en-US" sz="1600" dirty="0">
                <a:solidFill>
                  <a:srgbClr val="000000"/>
                </a:solidFill>
                <a:latin typeface="Consolas"/>
              </a:rPr>
              <a:t>    print(</a:t>
            </a:r>
            <a:r>
              <a:rPr lang="en-US" sz="1600" dirty="0">
                <a:solidFill>
                  <a:srgbClr val="A31515"/>
                </a:solidFill>
                <a:latin typeface="Consolas"/>
              </a:rPr>
              <a:t>'=============================='</a:t>
            </a:r>
            <a:r>
              <a:rPr lang="en-US" sz="1600" dirty="0">
                <a:solidFill>
                  <a:srgbClr val="000000"/>
                </a:solidFill>
                <a:latin typeface="Consolas"/>
              </a:rPr>
              <a:t>)</a:t>
            </a:r>
          </a:p>
          <a:p>
            <a:r>
              <a:rPr lang="en-US" sz="1600" dirty="0">
                <a:solidFill>
                  <a:srgbClr val="000000"/>
                </a:solidFill>
                <a:latin typeface="Consolas"/>
              </a:rPr>
              <a:t/>
            </a:r>
            <a:br>
              <a:rPr lang="en-US" sz="1600" dirty="0">
                <a:solidFill>
                  <a:srgbClr val="000000"/>
                </a:solidFill>
                <a:latin typeface="Consolas"/>
              </a:rPr>
            </a:br>
            <a:r>
              <a:rPr lang="en-US" sz="1600" dirty="0">
                <a:solidFill>
                  <a:srgbClr val="000000"/>
                </a:solidFill>
                <a:latin typeface="Consolas"/>
              </a:rPr>
              <a:t>print(</a:t>
            </a:r>
            <a:r>
              <a:rPr lang="en-US" sz="1600" dirty="0">
                <a:solidFill>
                  <a:srgbClr val="A31515"/>
                </a:solidFill>
                <a:latin typeface="Consolas"/>
              </a:rPr>
              <a:t>"hello world"</a:t>
            </a:r>
            <a:r>
              <a:rPr lang="en-US" sz="1600" dirty="0">
                <a:solidFill>
                  <a:srgbClr val="000000"/>
                </a:solidFill>
                <a:latin typeface="Consolas"/>
              </a:rPr>
              <a:t>)</a:t>
            </a:r>
          </a:p>
          <a:p>
            <a:r>
              <a:rPr lang="en-US" sz="1600" dirty="0" err="1">
                <a:solidFill>
                  <a:srgbClr val="000000"/>
                </a:solidFill>
                <a:latin typeface="Consolas"/>
              </a:rPr>
              <a:t>seperator</a:t>
            </a:r>
            <a:r>
              <a:rPr lang="en-US" sz="1600" dirty="0">
                <a:solidFill>
                  <a:srgbClr val="000000"/>
                </a:solidFill>
                <a:latin typeface="Consolas"/>
              </a:rPr>
              <a:t>()</a:t>
            </a:r>
          </a:p>
          <a:p>
            <a:r>
              <a:rPr lang="en-US" sz="1600" dirty="0">
                <a:solidFill>
                  <a:srgbClr val="000000"/>
                </a:solidFill>
                <a:latin typeface="Consolas"/>
              </a:rPr>
              <a:t>print(</a:t>
            </a:r>
            <a:r>
              <a:rPr lang="en-US" sz="1600" dirty="0">
                <a:solidFill>
                  <a:srgbClr val="A31515"/>
                </a:solidFill>
                <a:latin typeface="Consolas"/>
              </a:rPr>
              <a:t>“Function Demo"</a:t>
            </a:r>
            <a:r>
              <a:rPr lang="en-US" sz="1600" dirty="0">
                <a:solidFill>
                  <a:srgbClr val="000000"/>
                </a:solidFill>
                <a:latin typeface="Consolas"/>
              </a:rPr>
              <a:t>)</a:t>
            </a:r>
          </a:p>
          <a:p>
            <a:r>
              <a:rPr lang="en-US" sz="1600" dirty="0" err="1">
                <a:solidFill>
                  <a:srgbClr val="000000"/>
                </a:solidFill>
                <a:latin typeface="Consolas"/>
              </a:rPr>
              <a:t>seperator</a:t>
            </a:r>
            <a:r>
              <a:rPr lang="en-US" sz="1600" dirty="0">
                <a:solidFill>
                  <a:srgbClr val="000000"/>
                </a:solidFill>
                <a:latin typeface="Consolas"/>
              </a:rPr>
              <a:t>()</a:t>
            </a:r>
          </a:p>
          <a:p>
            <a:r>
              <a:rPr lang="en-US" sz="1600" dirty="0">
                <a:solidFill>
                  <a:srgbClr val="000000"/>
                </a:solidFill>
                <a:latin typeface="Consolas"/>
              </a:rPr>
              <a:t>print(</a:t>
            </a:r>
            <a:r>
              <a:rPr lang="en-US" sz="1600" dirty="0">
                <a:solidFill>
                  <a:srgbClr val="A31515"/>
                </a:solidFill>
                <a:latin typeface="Consolas"/>
              </a:rPr>
              <a:t>“</a:t>
            </a:r>
            <a:r>
              <a:rPr lang="en-US" sz="1600" dirty="0" err="1">
                <a:solidFill>
                  <a:srgbClr val="A31515"/>
                </a:solidFill>
                <a:latin typeface="Consolas"/>
              </a:rPr>
              <a:t>Gandhinagar</a:t>
            </a:r>
            <a:r>
              <a:rPr lang="en-US" sz="1600" dirty="0">
                <a:solidFill>
                  <a:srgbClr val="A31515"/>
                </a:solidFill>
                <a:latin typeface="Consolas"/>
              </a:rPr>
              <a:t>"</a:t>
            </a:r>
            <a:r>
              <a:rPr lang="en-US" sz="1600" dirty="0">
                <a:solidFill>
                  <a:srgbClr val="000000"/>
                </a:solidFill>
                <a:latin typeface="Consolas"/>
              </a:rPr>
              <a:t>)</a:t>
            </a:r>
            <a:endParaRPr lang="en-US" sz="1600" b="0" dirty="0">
              <a:solidFill>
                <a:srgbClr val="000000"/>
              </a:solidFill>
              <a:latin typeface="Consolas"/>
            </a:endParaRPr>
          </a:p>
        </p:txBody>
      </p:sp>
      <p:sp>
        <p:nvSpPr>
          <p:cNvPr id="10" name="Rectangle 9">
            <a:extLst>
              <a:ext uri="{FF2B5EF4-FFF2-40B4-BE49-F238E27FC236}">
                <a16:creationId xmlns:a16="http://schemas.microsoft.com/office/drawing/2014/main" xmlns="" id="{35F9F4A0-4592-C04D-B2D0-0BF66A3BFA20}"/>
              </a:ext>
            </a:extLst>
          </p:cNvPr>
          <p:cNvSpPr/>
          <p:nvPr/>
        </p:nvSpPr>
        <p:spPr>
          <a:xfrm>
            <a:off x="579193" y="4528599"/>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11" name="Rectangle: Top Corners Rounded 6">
            <a:extLst>
              <a:ext uri="{FF2B5EF4-FFF2-40B4-BE49-F238E27FC236}">
                <a16:creationId xmlns:a16="http://schemas.microsoft.com/office/drawing/2014/main" xmlns="" id="{0336C271-A2A3-9445-9946-5006F0A250F4}"/>
              </a:ext>
            </a:extLst>
          </p:cNvPr>
          <p:cNvSpPr/>
          <p:nvPr/>
        </p:nvSpPr>
        <p:spPr>
          <a:xfrm>
            <a:off x="579193" y="4199415"/>
            <a:ext cx="16809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functiondemo.py</a:t>
            </a:r>
          </a:p>
        </p:txBody>
      </p:sp>
    </p:spTree>
    <p:extLst>
      <p:ext uri="{BB962C8B-B14F-4D97-AF65-F5344CB8AC3E}">
        <p14:creationId xmlns:p14="http://schemas.microsoft.com/office/powerpoint/2010/main" val="250219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8"/>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6" grpId="0" animBg="1"/>
      <p:bldP spid="7" grpId="0" animBg="1"/>
      <p:bldP spid="7" grpId="1" animBg="1"/>
      <p:bldP spid="8" grpId="0" animBg="1"/>
      <p:bldP spid="8" grpId="1" animBg="1"/>
      <p:bldP spid="9" grpId="0" build="p" animBg="1"/>
      <p:bldP spid="10" grpId="0" animBg="1"/>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 (cont.) (DOCSTRIGN &amp; return)</a:t>
            </a:r>
            <a:endParaRPr lang="en-US" dirty="0"/>
          </a:p>
        </p:txBody>
      </p:sp>
      <p:sp>
        <p:nvSpPr>
          <p:cNvPr id="3" name="Content Placeholder 2"/>
          <p:cNvSpPr>
            <a:spLocks noGrp="1"/>
          </p:cNvSpPr>
          <p:nvPr>
            <p:ph idx="1"/>
          </p:nvPr>
        </p:nvSpPr>
        <p:spPr/>
        <p:txBody>
          <a:bodyPr/>
          <a:lstStyle/>
          <a:p>
            <a:r>
              <a:rPr lang="en-IN" dirty="0"/>
              <a:t>Doc string helps us to define the documentation about the function within the function itself.</a:t>
            </a:r>
          </a:p>
          <a:p>
            <a:endParaRPr lang="en-IN" dirty="0"/>
          </a:p>
          <a:p>
            <a:endParaRPr lang="en-IN" dirty="0"/>
          </a:p>
          <a:p>
            <a:endParaRPr lang="en-IN" dirty="0"/>
          </a:p>
          <a:p>
            <a:pPr>
              <a:buNone/>
            </a:pPr>
            <a:endParaRPr lang="en-IN" dirty="0"/>
          </a:p>
          <a:p>
            <a:endParaRPr lang="en-IN" b="1" dirty="0"/>
          </a:p>
          <a:p>
            <a:r>
              <a:rPr lang="en-IN" b="1" dirty="0"/>
              <a:t>return statement </a:t>
            </a:r>
            <a:r>
              <a:rPr lang="en-IN" dirty="0"/>
              <a:t>: return allows us to assign the output of the function to a new variable, return is use to send back the result of the function, instead of just printing it out.</a:t>
            </a:r>
            <a:endParaRPr lang="en-US" dirty="0"/>
          </a:p>
        </p:txBody>
      </p:sp>
      <p:sp>
        <p:nvSpPr>
          <p:cNvPr id="4" name="Rectangle 3">
            <a:extLst>
              <a:ext uri="{FF2B5EF4-FFF2-40B4-BE49-F238E27FC236}">
                <a16:creationId xmlns:a16="http://schemas.microsoft.com/office/drawing/2014/main" xmlns="" id="{D456EBDA-49A4-A843-A786-6989C63A54AA}"/>
              </a:ext>
            </a:extLst>
          </p:cNvPr>
          <p:cNvSpPr/>
          <p:nvPr/>
        </p:nvSpPr>
        <p:spPr>
          <a:xfrm>
            <a:off x="583716" y="1651036"/>
            <a:ext cx="8952136" cy="1815882"/>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a:rPr>
              <a:t>def</a:t>
            </a:r>
            <a:r>
              <a:rPr lang="en-US" sz="1600" dirty="0">
                <a:solidFill>
                  <a:srgbClr val="000000"/>
                </a:solidFill>
                <a:latin typeface="Consolas"/>
              </a:rPr>
              <a:t> </a:t>
            </a:r>
            <a:r>
              <a:rPr lang="en-US" sz="1600" dirty="0" err="1">
                <a:solidFill>
                  <a:srgbClr val="000000"/>
                </a:solidFill>
                <a:latin typeface="Consolas"/>
              </a:rPr>
              <a:t>function_name</a:t>
            </a:r>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A31515"/>
                </a:solidFill>
                <a:latin typeface="Consolas"/>
              </a:rPr>
              <a:t>'''</a:t>
            </a:r>
            <a:endParaRPr lang="en-US" sz="1600" dirty="0">
              <a:solidFill>
                <a:srgbClr val="000000"/>
              </a:solidFill>
              <a:latin typeface="Consolas"/>
            </a:endParaRPr>
          </a:p>
          <a:p>
            <a:r>
              <a:rPr lang="en-US" sz="1600" dirty="0">
                <a:solidFill>
                  <a:srgbClr val="A31515"/>
                </a:solidFill>
                <a:latin typeface="Consolas"/>
              </a:rPr>
              <a:t>        DOCSTRING: explains the function</a:t>
            </a:r>
          </a:p>
          <a:p>
            <a:r>
              <a:rPr lang="en-IN" sz="1600" dirty="0">
                <a:solidFill>
                  <a:srgbClr val="A31515"/>
                </a:solidFill>
                <a:latin typeface="Consolas"/>
              </a:rPr>
              <a:t>	INPUT: explains input</a:t>
            </a:r>
          </a:p>
          <a:p>
            <a:r>
              <a:rPr lang="en-IN" sz="1600" dirty="0">
                <a:solidFill>
                  <a:srgbClr val="A31515"/>
                </a:solidFill>
                <a:latin typeface="Consolas"/>
              </a:rPr>
              <a:t>	OUTPUT: explains output</a:t>
            </a:r>
            <a:endParaRPr lang="en-US" sz="1600" dirty="0">
              <a:solidFill>
                <a:srgbClr val="000000"/>
              </a:solidFill>
              <a:latin typeface="Consolas"/>
            </a:endParaRPr>
          </a:p>
          <a:p>
            <a:r>
              <a:rPr lang="en-US" sz="1600" dirty="0">
                <a:solidFill>
                  <a:srgbClr val="A31515"/>
                </a:solidFill>
                <a:latin typeface="Consolas"/>
              </a:rPr>
              <a:t>    '''</a:t>
            </a:r>
            <a:endParaRPr lang="en-US" sz="1600" dirty="0">
              <a:solidFill>
                <a:srgbClr val="000000"/>
              </a:solidFill>
              <a:latin typeface="Consolas"/>
            </a:endParaRPr>
          </a:p>
          <a:p>
            <a:r>
              <a:rPr lang="en-US" sz="1600" dirty="0">
                <a:solidFill>
                  <a:srgbClr val="000000"/>
                </a:solidFill>
                <a:latin typeface="Consolas"/>
              </a:rPr>
              <a:t>    </a:t>
            </a:r>
            <a:r>
              <a:rPr lang="en-US" sz="1600" dirty="0">
                <a:solidFill>
                  <a:srgbClr val="008000"/>
                </a:solidFill>
                <a:latin typeface="Consolas"/>
              </a:rPr>
              <a:t>#code to execute when function is called</a:t>
            </a:r>
            <a:endParaRPr lang="en-US" sz="1600" b="0" dirty="0">
              <a:solidFill>
                <a:srgbClr val="000000"/>
              </a:solidFill>
              <a:latin typeface="Consolas"/>
            </a:endParaRPr>
          </a:p>
        </p:txBody>
      </p:sp>
      <p:sp>
        <p:nvSpPr>
          <p:cNvPr id="5" name="Rectangle: Top Corners Rounded 6">
            <a:extLst>
              <a:ext uri="{FF2B5EF4-FFF2-40B4-BE49-F238E27FC236}">
                <a16:creationId xmlns:a16="http://schemas.microsoft.com/office/drawing/2014/main" xmlns="" id="{0336C271-A2A3-9445-9946-5006F0A250F4}"/>
              </a:ext>
            </a:extLst>
          </p:cNvPr>
          <p:cNvSpPr/>
          <p:nvPr/>
        </p:nvSpPr>
        <p:spPr>
          <a:xfrm>
            <a:off x="583716" y="1321852"/>
            <a:ext cx="128618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Line Callout 1 5"/>
          <p:cNvSpPr/>
          <p:nvPr/>
        </p:nvSpPr>
        <p:spPr>
          <a:xfrm>
            <a:off x="5675650" y="1252467"/>
            <a:ext cx="4495800" cy="626533"/>
          </a:xfrm>
          <a:prstGeom prst="borderCallout1">
            <a:avLst>
              <a:gd name="adj1" fmla="val 53885"/>
              <a:gd name="adj2" fmla="val -612"/>
              <a:gd name="adj3" fmla="val 128078"/>
              <a:gd name="adj4" fmla="val -93078"/>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Enclosed within triple quotes</a:t>
            </a:r>
            <a:endParaRPr lang="en-US" b="1" dirty="0">
              <a:solidFill>
                <a:srgbClr val="FF0000"/>
              </a:solidFill>
            </a:endParaRPr>
          </a:p>
        </p:txBody>
      </p:sp>
      <p:sp>
        <p:nvSpPr>
          <p:cNvPr id="12" name="Rectangle 11">
            <a:extLst>
              <a:ext uri="{FF2B5EF4-FFF2-40B4-BE49-F238E27FC236}">
                <a16:creationId xmlns:a16="http://schemas.microsoft.com/office/drawing/2014/main" xmlns="" id="{D456EBDA-49A4-A843-A786-6989C63A54AA}"/>
              </a:ext>
            </a:extLst>
          </p:cNvPr>
          <p:cNvSpPr/>
          <p:nvPr/>
        </p:nvSpPr>
        <p:spPr>
          <a:xfrm>
            <a:off x="1079186" y="4661602"/>
            <a:ext cx="4881667" cy="1815882"/>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a:rPr>
              <a:t>def</a:t>
            </a:r>
            <a:r>
              <a:rPr lang="en-US" sz="1600" dirty="0">
                <a:solidFill>
                  <a:srgbClr val="000000"/>
                </a:solidFill>
                <a:latin typeface="Consolas"/>
              </a:rPr>
              <a:t> </a:t>
            </a:r>
            <a:r>
              <a:rPr lang="en-US" sz="1600" dirty="0" err="1">
                <a:solidFill>
                  <a:srgbClr val="000000"/>
                </a:solidFill>
                <a:latin typeface="Consolas"/>
              </a:rPr>
              <a:t>add_number</a:t>
            </a:r>
            <a:r>
              <a:rPr lang="en-US" sz="1600" dirty="0">
                <a:solidFill>
                  <a:srgbClr val="000000"/>
                </a:solidFill>
                <a:latin typeface="Consolas"/>
              </a:rPr>
              <a:t>(n1,n2) :</a:t>
            </a:r>
          </a:p>
          <a:p>
            <a:r>
              <a:rPr lang="en-US" sz="1600" dirty="0">
                <a:solidFill>
                  <a:srgbClr val="000000"/>
                </a:solidFill>
                <a:latin typeface="Consolas"/>
              </a:rPr>
              <a:t>    </a:t>
            </a:r>
            <a:r>
              <a:rPr lang="en-US" sz="1600" dirty="0">
                <a:solidFill>
                  <a:srgbClr val="0000FF"/>
                </a:solidFill>
                <a:latin typeface="Consolas"/>
              </a:rPr>
              <a:t>return</a:t>
            </a:r>
            <a:r>
              <a:rPr lang="en-US" sz="1600" dirty="0">
                <a:solidFill>
                  <a:srgbClr val="000000"/>
                </a:solidFill>
                <a:latin typeface="Consolas"/>
              </a:rPr>
              <a:t> n1 + n2</a:t>
            </a:r>
          </a:p>
          <a:p>
            <a:r>
              <a:rPr lang="en-US" sz="1600" dirty="0">
                <a:solidFill>
                  <a:srgbClr val="000000"/>
                </a:solidFill>
                <a:latin typeface="Consolas"/>
              </a:rPr>
              <a:t/>
            </a:r>
            <a:br>
              <a:rPr lang="en-US" sz="1600" dirty="0">
                <a:solidFill>
                  <a:srgbClr val="000000"/>
                </a:solidFill>
                <a:latin typeface="Consolas"/>
              </a:rPr>
            </a:br>
            <a:r>
              <a:rPr lang="en-US" sz="1600" dirty="0">
                <a:solidFill>
                  <a:srgbClr val="000000"/>
                </a:solidFill>
                <a:latin typeface="Consolas"/>
              </a:rPr>
              <a:t>sum1 = </a:t>
            </a:r>
            <a:r>
              <a:rPr lang="en-US" sz="1600" dirty="0" err="1">
                <a:solidFill>
                  <a:srgbClr val="000000"/>
                </a:solidFill>
                <a:latin typeface="Consolas"/>
              </a:rPr>
              <a:t>add_number</a:t>
            </a:r>
            <a:r>
              <a:rPr lang="en-US" sz="1600" dirty="0">
                <a:solidFill>
                  <a:srgbClr val="000000"/>
                </a:solidFill>
                <a:latin typeface="Consolas"/>
              </a:rPr>
              <a:t>(</a:t>
            </a:r>
            <a:r>
              <a:rPr lang="en-US" sz="1600" dirty="0">
                <a:solidFill>
                  <a:srgbClr val="098658"/>
                </a:solidFill>
                <a:latin typeface="Consolas"/>
              </a:rPr>
              <a:t>5</a:t>
            </a:r>
            <a:r>
              <a:rPr lang="en-US" sz="1600" dirty="0">
                <a:solidFill>
                  <a:srgbClr val="000000"/>
                </a:solidFill>
                <a:latin typeface="Consolas"/>
              </a:rPr>
              <a:t>,</a:t>
            </a:r>
            <a:r>
              <a:rPr lang="en-US" sz="1600" dirty="0">
                <a:solidFill>
                  <a:srgbClr val="098658"/>
                </a:solidFill>
                <a:latin typeface="Consolas"/>
              </a:rPr>
              <a:t>3</a:t>
            </a:r>
            <a:r>
              <a:rPr lang="en-US" sz="1600" dirty="0">
                <a:solidFill>
                  <a:srgbClr val="000000"/>
                </a:solidFill>
                <a:latin typeface="Consolas"/>
              </a:rPr>
              <a:t>)</a:t>
            </a:r>
          </a:p>
          <a:p>
            <a:r>
              <a:rPr lang="en-US" sz="1600" dirty="0">
                <a:solidFill>
                  <a:srgbClr val="000000"/>
                </a:solidFill>
                <a:latin typeface="Consolas"/>
              </a:rPr>
              <a:t>sum2 = </a:t>
            </a:r>
            <a:r>
              <a:rPr lang="en-US" sz="1600" dirty="0" err="1">
                <a:solidFill>
                  <a:srgbClr val="000000"/>
                </a:solidFill>
                <a:latin typeface="Consolas"/>
              </a:rPr>
              <a:t>add_number</a:t>
            </a:r>
            <a:r>
              <a:rPr lang="en-US" sz="1600" dirty="0">
                <a:solidFill>
                  <a:srgbClr val="000000"/>
                </a:solidFill>
                <a:latin typeface="Consolas"/>
              </a:rPr>
              <a:t>(</a:t>
            </a:r>
            <a:r>
              <a:rPr lang="en-US" sz="1600" dirty="0">
                <a:solidFill>
                  <a:srgbClr val="098658"/>
                </a:solidFill>
                <a:latin typeface="Consolas"/>
              </a:rPr>
              <a:t>6</a:t>
            </a:r>
            <a:r>
              <a:rPr lang="en-US" sz="1600" dirty="0">
                <a:solidFill>
                  <a:srgbClr val="000000"/>
                </a:solidFill>
                <a:latin typeface="Consolas"/>
              </a:rPr>
              <a:t>,</a:t>
            </a:r>
            <a:r>
              <a:rPr lang="en-US" sz="1600" dirty="0">
                <a:solidFill>
                  <a:srgbClr val="098658"/>
                </a:solidFill>
                <a:latin typeface="Consolas"/>
              </a:rPr>
              <a:t>1</a:t>
            </a:r>
            <a:r>
              <a:rPr lang="en-US" sz="1600" dirty="0">
                <a:solidFill>
                  <a:srgbClr val="000000"/>
                </a:solidFill>
                <a:latin typeface="Consolas"/>
              </a:rPr>
              <a:t>)</a:t>
            </a:r>
            <a:br>
              <a:rPr lang="en-US" sz="1600" dirty="0">
                <a:solidFill>
                  <a:srgbClr val="000000"/>
                </a:solidFill>
                <a:latin typeface="Consolas"/>
              </a:rPr>
            </a:br>
            <a:r>
              <a:rPr lang="en-US" sz="1600" dirty="0">
                <a:solidFill>
                  <a:srgbClr val="000000"/>
                </a:solidFill>
                <a:latin typeface="Consolas"/>
              </a:rPr>
              <a:t>print(sum1)</a:t>
            </a:r>
          </a:p>
          <a:p>
            <a:r>
              <a:rPr lang="en-US" sz="1600" dirty="0">
                <a:solidFill>
                  <a:srgbClr val="000000"/>
                </a:solidFill>
                <a:latin typeface="Consolas"/>
              </a:rPr>
              <a:t>print(sum2)</a:t>
            </a:r>
            <a:endParaRPr lang="en-US" sz="1600" b="0" dirty="0">
              <a:solidFill>
                <a:srgbClr val="000000"/>
              </a:solidFill>
              <a:latin typeface="Consolas"/>
            </a:endParaRPr>
          </a:p>
        </p:txBody>
      </p:sp>
      <p:sp>
        <p:nvSpPr>
          <p:cNvPr id="13" name="Rectangle 12">
            <a:extLst>
              <a:ext uri="{FF2B5EF4-FFF2-40B4-BE49-F238E27FC236}">
                <a16:creationId xmlns:a16="http://schemas.microsoft.com/office/drawing/2014/main" xmlns="" id="{35F9F4A0-4592-C04D-B2D0-0BF66A3BFA20}"/>
              </a:ext>
            </a:extLst>
          </p:cNvPr>
          <p:cNvSpPr/>
          <p:nvPr/>
        </p:nvSpPr>
        <p:spPr>
          <a:xfrm>
            <a:off x="579193" y="4661602"/>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p:txBody>
      </p:sp>
      <p:sp>
        <p:nvSpPr>
          <p:cNvPr id="14" name="Rectangle: Top Corners Rounded 6">
            <a:extLst>
              <a:ext uri="{FF2B5EF4-FFF2-40B4-BE49-F238E27FC236}">
                <a16:creationId xmlns:a16="http://schemas.microsoft.com/office/drawing/2014/main" xmlns="" id="{0336C271-A2A3-9445-9946-5006F0A250F4}"/>
              </a:ext>
            </a:extLst>
          </p:cNvPr>
          <p:cNvSpPr/>
          <p:nvPr/>
        </p:nvSpPr>
        <p:spPr>
          <a:xfrm>
            <a:off x="579193" y="4332418"/>
            <a:ext cx="16809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whiledemo.py</a:t>
            </a:r>
          </a:p>
        </p:txBody>
      </p:sp>
      <p:sp>
        <p:nvSpPr>
          <p:cNvPr id="15" name="Line Callout 1 14"/>
          <p:cNvSpPr/>
          <p:nvPr/>
        </p:nvSpPr>
        <p:spPr>
          <a:xfrm>
            <a:off x="4821636" y="4808519"/>
            <a:ext cx="1406636" cy="1449238"/>
          </a:xfrm>
          <a:prstGeom prst="borderCallout1">
            <a:avLst>
              <a:gd name="adj1" fmla="val 53885"/>
              <a:gd name="adj2" fmla="val -612"/>
              <a:gd name="adj3" fmla="val 94290"/>
              <a:gd name="adj4" fmla="val -162381"/>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Output :</a:t>
            </a:r>
          </a:p>
          <a:p>
            <a:pPr algn="ctr"/>
            <a:r>
              <a:rPr lang="en-IN" dirty="0">
                <a:solidFill>
                  <a:schemeClr val="tx1"/>
                </a:solidFill>
              </a:rPr>
              <a:t>8</a:t>
            </a:r>
          </a:p>
          <a:p>
            <a:pPr algn="ctr"/>
            <a:r>
              <a:rPr lang="en-IN" dirty="0">
                <a:solidFill>
                  <a:schemeClr val="tx1"/>
                </a:solidFill>
              </a:rPr>
              <a:t>7</a:t>
            </a:r>
            <a:endParaRPr lang="en-US" dirty="0">
              <a:solidFill>
                <a:schemeClr val="tx1"/>
              </a:solidFill>
            </a:endParaRPr>
          </a:p>
        </p:txBody>
      </p:sp>
    </p:spTree>
    <p:extLst>
      <p:ext uri="{BB962C8B-B14F-4D97-AF65-F5344CB8AC3E}">
        <p14:creationId xmlns:p14="http://schemas.microsoft.com/office/powerpoint/2010/main" val="161273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P spid="6" grpId="1" animBg="1"/>
      <p:bldP spid="12" grpId="0" build="p" animBg="1"/>
      <p:bldP spid="13" grpId="0" animBg="1"/>
      <p:bldP spid="14" grpId="0" animBg="1"/>
      <p:bldP spid="15" grpId="0" animBg="1"/>
      <p:bldP spid="15" grpId="1"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Doc String</a:t>
            </a:r>
            <a:endParaRPr lang="en-IN" dirty="0"/>
          </a:p>
        </p:txBody>
      </p:sp>
      <p:sp>
        <p:nvSpPr>
          <p:cNvPr id="3" name="Content Placeholder 2"/>
          <p:cNvSpPr>
            <a:spLocks noGrp="1"/>
          </p:cNvSpPr>
          <p:nvPr>
            <p:ph idx="1"/>
          </p:nvPr>
        </p:nvSpPr>
        <p:spPr/>
        <p:txBody>
          <a:bodyPr/>
          <a:lstStyle/>
          <a:p>
            <a:pPr marL="0" indent="0">
              <a:buNone/>
            </a:pPr>
            <a:r>
              <a:rPr lang="en-US" dirty="0"/>
              <a:t>def greet(name):</a:t>
            </a:r>
          </a:p>
          <a:p>
            <a:pPr marL="0" indent="0">
              <a:buNone/>
            </a:pPr>
            <a:r>
              <a:rPr lang="en-US" dirty="0"/>
              <a:t>    """</a:t>
            </a:r>
          </a:p>
          <a:p>
            <a:pPr marL="0" indent="0">
              <a:buNone/>
            </a:pPr>
            <a:r>
              <a:rPr lang="en-US" dirty="0"/>
              <a:t>    This function greets</a:t>
            </a:r>
          </a:p>
          <a:p>
            <a:pPr marL="0" indent="0">
              <a:buNone/>
            </a:pPr>
            <a:r>
              <a:rPr lang="en-US" dirty="0"/>
              <a:t>    the person passed in as</a:t>
            </a:r>
          </a:p>
          <a:p>
            <a:pPr marL="0" indent="0">
              <a:buNone/>
            </a:pPr>
            <a:r>
              <a:rPr lang="en-US" dirty="0"/>
              <a:t>    a parameter.</a:t>
            </a:r>
          </a:p>
          <a:p>
            <a:pPr marL="0" indent="0">
              <a:buNone/>
            </a:pPr>
            <a:r>
              <a:rPr lang="en-US" dirty="0"/>
              <a:t>    """</a:t>
            </a:r>
          </a:p>
          <a:p>
            <a:pPr marL="0" indent="0">
              <a:buNone/>
            </a:pPr>
            <a:r>
              <a:rPr lang="en-US" dirty="0"/>
              <a:t>    print("Hello, " + name + ". Good morning!")</a:t>
            </a:r>
          </a:p>
          <a:p>
            <a:pPr marL="0" indent="0">
              <a:buNone/>
            </a:pPr>
            <a:endParaRPr lang="en-US" dirty="0"/>
          </a:p>
          <a:p>
            <a:pPr marL="0" indent="0">
              <a:buNone/>
            </a:pPr>
            <a:r>
              <a:rPr lang="en-US" dirty="0"/>
              <a:t>greet("Bijal </a:t>
            </a:r>
            <a:r>
              <a:rPr lang="en-US" dirty="0" err="1"/>
              <a:t>Gadhia</a:t>
            </a:r>
            <a:r>
              <a:rPr lang="en-US" dirty="0"/>
              <a:t>")</a:t>
            </a:r>
          </a:p>
          <a:p>
            <a:pPr marL="0" indent="0">
              <a:buNone/>
            </a:pPr>
            <a:endParaRPr lang="en-US" dirty="0"/>
          </a:p>
          <a:p>
            <a:pPr marL="0" indent="0">
              <a:buNone/>
            </a:pPr>
            <a:r>
              <a:rPr lang="en-US" dirty="0"/>
              <a:t>print(</a:t>
            </a:r>
            <a:r>
              <a:rPr lang="en-US" dirty="0" err="1"/>
              <a:t>greet.__doc</a:t>
            </a:r>
            <a:r>
              <a:rPr lang="en-US" dirty="0"/>
              <a:t>__)</a:t>
            </a:r>
            <a:endParaRPr lang="en-IN" dirty="0"/>
          </a:p>
        </p:txBody>
      </p:sp>
    </p:spTree>
    <p:extLst>
      <p:ext uri="{BB962C8B-B14F-4D97-AF65-F5344CB8AC3E}">
        <p14:creationId xmlns:p14="http://schemas.microsoft.com/office/powerpoint/2010/main" val="338817030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Return</a:t>
            </a:r>
            <a:endParaRPr lang="en-IN" dirty="0"/>
          </a:p>
        </p:txBody>
      </p:sp>
      <p:sp>
        <p:nvSpPr>
          <p:cNvPr id="3" name="Content Placeholder 2"/>
          <p:cNvSpPr>
            <a:spLocks noGrp="1"/>
          </p:cNvSpPr>
          <p:nvPr>
            <p:ph idx="1"/>
          </p:nvPr>
        </p:nvSpPr>
        <p:spPr/>
        <p:txBody>
          <a:bodyPr/>
          <a:lstStyle/>
          <a:p>
            <a:pPr marL="877887" lvl="2" indent="0">
              <a:buNone/>
            </a:pPr>
            <a:r>
              <a:rPr lang="en-US" dirty="0" err="1"/>
              <a:t>def</a:t>
            </a:r>
            <a:r>
              <a:rPr lang="en-US" dirty="0"/>
              <a:t> </a:t>
            </a:r>
            <a:r>
              <a:rPr lang="en-US" dirty="0" err="1"/>
              <a:t>absolute_value</a:t>
            </a:r>
            <a:r>
              <a:rPr lang="en-US" dirty="0"/>
              <a:t>(</a:t>
            </a:r>
            <a:r>
              <a:rPr lang="en-US" dirty="0" err="1"/>
              <a:t>num</a:t>
            </a:r>
            <a:r>
              <a:rPr lang="en-US" dirty="0"/>
              <a:t>):</a:t>
            </a:r>
          </a:p>
          <a:p>
            <a:pPr marL="877887" lvl="2" indent="0">
              <a:buNone/>
            </a:pPr>
            <a:r>
              <a:rPr lang="en-US" dirty="0"/>
              <a:t>    """This function returns the absolute</a:t>
            </a:r>
          </a:p>
          <a:p>
            <a:pPr marL="877887" lvl="2" indent="0">
              <a:buNone/>
            </a:pPr>
            <a:r>
              <a:rPr lang="en-US" dirty="0"/>
              <a:t>    value of the entered number"""</a:t>
            </a:r>
          </a:p>
          <a:p>
            <a:pPr marL="877887" lvl="2" indent="0">
              <a:buNone/>
            </a:pPr>
            <a:endParaRPr lang="en-US" dirty="0"/>
          </a:p>
          <a:p>
            <a:pPr marL="877887" lvl="2" indent="0">
              <a:buNone/>
            </a:pPr>
            <a:r>
              <a:rPr lang="en-US" dirty="0"/>
              <a:t>    if </a:t>
            </a:r>
            <a:r>
              <a:rPr lang="en-US" dirty="0" err="1"/>
              <a:t>num</a:t>
            </a:r>
            <a:r>
              <a:rPr lang="en-US" dirty="0"/>
              <a:t> &gt;= 0:</a:t>
            </a:r>
          </a:p>
          <a:p>
            <a:pPr marL="877887" lvl="2" indent="0">
              <a:buNone/>
            </a:pPr>
            <a:r>
              <a:rPr lang="en-US" dirty="0"/>
              <a:t>        return </a:t>
            </a:r>
            <a:r>
              <a:rPr lang="en-US" dirty="0" err="1"/>
              <a:t>num</a:t>
            </a:r>
            <a:endParaRPr lang="en-US" dirty="0"/>
          </a:p>
          <a:p>
            <a:pPr marL="877887" lvl="2" indent="0">
              <a:buNone/>
            </a:pPr>
            <a:r>
              <a:rPr lang="en-US" dirty="0"/>
              <a:t>    else:</a:t>
            </a:r>
          </a:p>
          <a:p>
            <a:pPr marL="877887" lvl="2" indent="0">
              <a:buNone/>
            </a:pPr>
            <a:r>
              <a:rPr lang="en-US" dirty="0"/>
              <a:t>        return -</a:t>
            </a:r>
            <a:r>
              <a:rPr lang="en-US" dirty="0" err="1"/>
              <a:t>num</a:t>
            </a:r>
            <a:endParaRPr lang="en-US" dirty="0"/>
          </a:p>
          <a:p>
            <a:pPr marL="877887" lvl="2" indent="0">
              <a:buNone/>
            </a:pPr>
            <a:endParaRPr lang="en-US" dirty="0"/>
          </a:p>
          <a:p>
            <a:pPr marL="877887" lvl="2" indent="0">
              <a:buNone/>
            </a:pPr>
            <a:r>
              <a:rPr lang="en-US" dirty="0"/>
              <a:t>print(</a:t>
            </a:r>
            <a:r>
              <a:rPr lang="en-US" dirty="0" err="1"/>
              <a:t>absolute_value</a:t>
            </a:r>
            <a:r>
              <a:rPr lang="en-US" dirty="0"/>
              <a:t>(2))</a:t>
            </a:r>
          </a:p>
          <a:p>
            <a:pPr marL="877887" lvl="2" indent="0">
              <a:buNone/>
            </a:pPr>
            <a:endParaRPr lang="en-US" dirty="0"/>
          </a:p>
          <a:p>
            <a:pPr marL="877887" lvl="2" indent="0">
              <a:buNone/>
            </a:pPr>
            <a:r>
              <a:rPr lang="en-US" dirty="0"/>
              <a:t>print(</a:t>
            </a:r>
            <a:r>
              <a:rPr lang="en-US" dirty="0" err="1"/>
              <a:t>absolute_value</a:t>
            </a:r>
            <a:r>
              <a:rPr lang="en-US" dirty="0"/>
              <a:t>(-4))</a:t>
            </a:r>
          </a:p>
          <a:p>
            <a:pPr marL="877887" lvl="2" indent="0">
              <a:buNone/>
            </a:pPr>
            <a:r>
              <a:rPr lang="en-US" dirty="0"/>
              <a:t>print(</a:t>
            </a:r>
            <a:r>
              <a:rPr lang="en-US" dirty="0" err="1"/>
              <a:t>absolute_value.__doc</a:t>
            </a:r>
            <a:r>
              <a:rPr lang="en-US" dirty="0"/>
              <a:t>__)</a:t>
            </a:r>
            <a:endParaRPr lang="en-IN" dirty="0"/>
          </a:p>
          <a:p>
            <a:pPr marL="877887" lvl="2" indent="0">
              <a:buNone/>
            </a:pPr>
            <a:endParaRPr lang="en-IN" dirty="0"/>
          </a:p>
        </p:txBody>
      </p:sp>
    </p:spTree>
    <p:extLst>
      <p:ext uri="{BB962C8B-B14F-4D97-AF65-F5344CB8AC3E}">
        <p14:creationId xmlns:p14="http://schemas.microsoft.com/office/powerpoint/2010/main" val="220848836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6020A2-B33E-FD1A-7394-FE4F08779C84}"/>
              </a:ext>
            </a:extLst>
          </p:cNvPr>
          <p:cNvSpPr>
            <a:spLocks noGrp="1"/>
          </p:cNvSpPr>
          <p:nvPr>
            <p:ph type="title"/>
          </p:nvPr>
        </p:nvSpPr>
        <p:spPr/>
        <p:txBody>
          <a:bodyPr/>
          <a:lstStyle/>
          <a:p>
            <a:r>
              <a:rPr lang="en-US" dirty="0"/>
              <a:t>Perform program of calculator </a:t>
            </a:r>
          </a:p>
        </p:txBody>
      </p:sp>
      <p:sp>
        <p:nvSpPr>
          <p:cNvPr id="3" name="Content Placeholder 2">
            <a:extLst>
              <a:ext uri="{FF2B5EF4-FFF2-40B4-BE49-F238E27FC236}">
                <a16:creationId xmlns:a16="http://schemas.microsoft.com/office/drawing/2014/main" xmlns="" id="{E58368D3-16FB-B294-5F34-079BAE38465C}"/>
              </a:ext>
            </a:extLst>
          </p:cNvPr>
          <p:cNvSpPr>
            <a:spLocks noGrp="1"/>
          </p:cNvSpPr>
          <p:nvPr>
            <p:ph idx="1"/>
          </p:nvPr>
        </p:nvSpPr>
        <p:spPr>
          <a:xfrm>
            <a:off x="131181" y="863444"/>
            <a:ext cx="4299152" cy="5590565"/>
          </a:xfrm>
        </p:spPr>
        <p:txBody>
          <a:bodyPr/>
          <a:lstStyle/>
          <a:p>
            <a:pPr marL="0" indent="0">
              <a:buNone/>
            </a:pPr>
            <a:r>
              <a:rPr lang="en-US" sz="2000" b="1" dirty="0">
                <a:solidFill>
                  <a:srgbClr val="7030A0"/>
                </a:solidFill>
              </a:rPr>
              <a:t>def</a:t>
            </a:r>
            <a:r>
              <a:rPr lang="en-US" sz="2000" dirty="0"/>
              <a:t> </a:t>
            </a:r>
            <a:r>
              <a:rPr lang="en-US" sz="2000" dirty="0" err="1"/>
              <a:t>get_marks</a:t>
            </a:r>
            <a:r>
              <a:rPr lang="en-US" sz="2000" dirty="0"/>
              <a:t>():</a:t>
            </a:r>
          </a:p>
          <a:p>
            <a:pPr marL="0" indent="0">
              <a:buNone/>
            </a:pPr>
            <a:r>
              <a:rPr lang="en-US" sz="2000" dirty="0"/>
              <a:t>    marks = []</a:t>
            </a:r>
          </a:p>
          <a:p>
            <a:pPr marL="0" indent="0">
              <a:buNone/>
            </a:pPr>
            <a:r>
              <a:rPr lang="en-US" sz="2000" dirty="0"/>
              <a:t>    for </a:t>
            </a:r>
            <a:r>
              <a:rPr lang="en-US" sz="2000" dirty="0" err="1"/>
              <a:t>i</a:t>
            </a:r>
            <a:r>
              <a:rPr lang="en-US" sz="2000" dirty="0"/>
              <a:t> in </a:t>
            </a:r>
            <a:r>
              <a:rPr lang="en-US" sz="2000" b="1" dirty="0">
                <a:solidFill>
                  <a:schemeClr val="accent5">
                    <a:lumMod val="50000"/>
                  </a:schemeClr>
                </a:solidFill>
              </a:rPr>
              <a:t>range</a:t>
            </a:r>
            <a:r>
              <a:rPr lang="en-US" sz="2000" dirty="0"/>
              <a:t>(5):</a:t>
            </a:r>
          </a:p>
          <a:p>
            <a:pPr marL="0" indent="0">
              <a:buNone/>
            </a:pPr>
            <a:r>
              <a:rPr lang="en-US" sz="2000" dirty="0"/>
              <a:t>        m = int(input("Enter Marks: "))</a:t>
            </a:r>
          </a:p>
          <a:p>
            <a:pPr marL="0" indent="0">
              <a:buNone/>
            </a:pPr>
            <a:r>
              <a:rPr lang="en-US" sz="2000" dirty="0"/>
              <a:t>        </a:t>
            </a:r>
            <a:r>
              <a:rPr lang="en-US" sz="2000" dirty="0" err="1"/>
              <a:t>marks.append</a:t>
            </a:r>
            <a:r>
              <a:rPr lang="en-US" sz="2000" dirty="0"/>
              <a:t>(m)</a:t>
            </a:r>
          </a:p>
          <a:p>
            <a:pPr marL="0" indent="0">
              <a:buNone/>
            </a:pPr>
            <a:r>
              <a:rPr lang="en-US" sz="2000" dirty="0"/>
              <a:t>    return marks</a:t>
            </a:r>
          </a:p>
          <a:p>
            <a:pPr marL="0" indent="0">
              <a:buNone/>
            </a:pPr>
            <a:r>
              <a:rPr lang="en-US" sz="2000" b="1" dirty="0">
                <a:solidFill>
                  <a:srgbClr val="7030A0"/>
                </a:solidFill>
              </a:rPr>
              <a:t>def</a:t>
            </a:r>
            <a:r>
              <a:rPr lang="en-US" sz="2000" dirty="0"/>
              <a:t> </a:t>
            </a:r>
            <a:r>
              <a:rPr lang="en-US" sz="2000" b="1" dirty="0" err="1">
                <a:solidFill>
                  <a:schemeClr val="accent5">
                    <a:lumMod val="50000"/>
                  </a:schemeClr>
                </a:solidFill>
              </a:rPr>
              <a:t>calculate</a:t>
            </a:r>
            <a:r>
              <a:rPr lang="en-US" sz="2000" dirty="0" err="1"/>
              <a:t>_</a:t>
            </a:r>
            <a:r>
              <a:rPr lang="en-US" sz="2000" b="1" dirty="0" err="1">
                <a:solidFill>
                  <a:schemeClr val="accent5">
                    <a:lumMod val="50000"/>
                  </a:schemeClr>
                </a:solidFill>
              </a:rPr>
              <a:t>total</a:t>
            </a:r>
            <a:r>
              <a:rPr lang="en-US" sz="2000" dirty="0"/>
              <a:t>(marks):</a:t>
            </a:r>
          </a:p>
          <a:p>
            <a:pPr marL="0" indent="0">
              <a:buNone/>
            </a:pPr>
            <a:r>
              <a:rPr lang="en-US" sz="2000" dirty="0"/>
              <a:t>    return sum(marks)</a:t>
            </a:r>
          </a:p>
          <a:p>
            <a:pPr marL="0" indent="0">
              <a:buNone/>
            </a:pPr>
            <a:r>
              <a:rPr lang="en-US" sz="2000" b="1" dirty="0">
                <a:solidFill>
                  <a:srgbClr val="7030A0"/>
                </a:solidFill>
              </a:rPr>
              <a:t>def</a:t>
            </a:r>
            <a:r>
              <a:rPr lang="en-US" sz="2000" dirty="0"/>
              <a:t> </a:t>
            </a:r>
            <a:r>
              <a:rPr lang="en-US" sz="2000" b="1" dirty="0" err="1">
                <a:solidFill>
                  <a:schemeClr val="accent5">
                    <a:lumMod val="50000"/>
                  </a:schemeClr>
                </a:solidFill>
              </a:rPr>
              <a:t>calculate</a:t>
            </a:r>
            <a:r>
              <a:rPr lang="en-US" sz="2000" dirty="0" err="1"/>
              <a:t>_</a:t>
            </a:r>
            <a:r>
              <a:rPr lang="en-US" sz="2000" b="1" dirty="0" err="1">
                <a:solidFill>
                  <a:schemeClr val="accent5">
                    <a:lumMod val="50000"/>
                  </a:schemeClr>
                </a:solidFill>
              </a:rPr>
              <a:t>percentage</a:t>
            </a:r>
            <a:r>
              <a:rPr lang="en-US" sz="2000" dirty="0"/>
              <a:t>(total):</a:t>
            </a:r>
          </a:p>
          <a:p>
            <a:pPr marL="0" indent="0">
              <a:buNone/>
            </a:pPr>
            <a:r>
              <a:rPr lang="en-US" sz="2000" dirty="0"/>
              <a:t>    return total / 5</a:t>
            </a:r>
          </a:p>
          <a:p>
            <a:pPr marL="0" indent="0">
              <a:buNone/>
            </a:pPr>
            <a:r>
              <a:rPr lang="en-US" sz="2000" b="1" dirty="0">
                <a:solidFill>
                  <a:srgbClr val="7030A0"/>
                </a:solidFill>
              </a:rPr>
              <a:t>def</a:t>
            </a:r>
            <a:r>
              <a:rPr lang="en-US" sz="2000" dirty="0"/>
              <a:t> </a:t>
            </a:r>
            <a:r>
              <a:rPr lang="en-US" sz="2000" b="1" dirty="0" err="1">
                <a:solidFill>
                  <a:schemeClr val="accent5">
                    <a:lumMod val="50000"/>
                  </a:schemeClr>
                </a:solidFill>
              </a:rPr>
              <a:t>display</a:t>
            </a:r>
            <a:r>
              <a:rPr lang="en-US" sz="2000" dirty="0" err="1"/>
              <a:t>_</a:t>
            </a:r>
            <a:r>
              <a:rPr lang="en-US" sz="2000" b="1" dirty="0" err="1">
                <a:solidFill>
                  <a:schemeClr val="accent5">
                    <a:lumMod val="50000"/>
                  </a:schemeClr>
                </a:solidFill>
              </a:rPr>
              <a:t>result</a:t>
            </a:r>
            <a:r>
              <a:rPr lang="en-US" sz="2000" dirty="0"/>
              <a:t>(total, percentage):</a:t>
            </a:r>
          </a:p>
          <a:p>
            <a:pPr marL="0" indent="0">
              <a:buNone/>
            </a:pPr>
            <a:r>
              <a:rPr lang="en-US" sz="2000" dirty="0"/>
              <a:t>    print("Total =", total)</a:t>
            </a:r>
          </a:p>
          <a:p>
            <a:pPr marL="0" indent="0">
              <a:buNone/>
            </a:pPr>
            <a:r>
              <a:rPr lang="en-US" sz="2000" dirty="0"/>
              <a:t>    print("Percentage =", percentage</a:t>
            </a:r>
            <a:r>
              <a:rPr lang="en-US" sz="2000" dirty="0" smtClean="0"/>
              <a:t>)</a:t>
            </a:r>
            <a:endParaRPr lang="en-US" sz="2000" dirty="0"/>
          </a:p>
        </p:txBody>
      </p:sp>
      <p:sp>
        <p:nvSpPr>
          <p:cNvPr id="4" name="Rectangle 3"/>
          <p:cNvSpPr/>
          <p:nvPr/>
        </p:nvSpPr>
        <p:spPr>
          <a:xfrm>
            <a:off x="5945747" y="863444"/>
            <a:ext cx="6096000" cy="1569660"/>
          </a:xfrm>
          <a:prstGeom prst="rect">
            <a:avLst/>
          </a:prstGeom>
        </p:spPr>
        <p:txBody>
          <a:bodyPr>
            <a:spAutoFit/>
          </a:bodyPr>
          <a:lstStyle/>
          <a:p>
            <a:r>
              <a:rPr lang="en-US" sz="2400" dirty="0"/>
              <a:t>marks = </a:t>
            </a:r>
            <a:r>
              <a:rPr lang="en-US" sz="2400" b="1" dirty="0" err="1">
                <a:solidFill>
                  <a:schemeClr val="accent5">
                    <a:lumMod val="50000"/>
                  </a:schemeClr>
                </a:solidFill>
              </a:rPr>
              <a:t>get</a:t>
            </a:r>
            <a:r>
              <a:rPr lang="en-US" sz="2400" dirty="0" err="1"/>
              <a:t>_</a:t>
            </a:r>
            <a:r>
              <a:rPr lang="en-US" sz="2400" b="1" dirty="0" err="1">
                <a:solidFill>
                  <a:schemeClr val="accent5">
                    <a:lumMod val="50000"/>
                  </a:schemeClr>
                </a:solidFill>
              </a:rPr>
              <a:t>marks</a:t>
            </a:r>
            <a:r>
              <a:rPr lang="en-US" sz="2400" dirty="0"/>
              <a:t>()</a:t>
            </a:r>
          </a:p>
          <a:p>
            <a:r>
              <a:rPr lang="en-US" sz="2400" dirty="0"/>
              <a:t>total = </a:t>
            </a:r>
            <a:r>
              <a:rPr lang="en-US" sz="2400" b="1" dirty="0" err="1">
                <a:solidFill>
                  <a:schemeClr val="accent5">
                    <a:lumMod val="50000"/>
                  </a:schemeClr>
                </a:solidFill>
              </a:rPr>
              <a:t>calculate</a:t>
            </a:r>
            <a:r>
              <a:rPr lang="en-US" sz="2400" dirty="0" err="1"/>
              <a:t>_</a:t>
            </a:r>
            <a:r>
              <a:rPr lang="en-US" sz="2400" b="1" dirty="0" err="1">
                <a:solidFill>
                  <a:schemeClr val="accent5">
                    <a:lumMod val="50000"/>
                  </a:schemeClr>
                </a:solidFill>
              </a:rPr>
              <a:t>total</a:t>
            </a:r>
            <a:r>
              <a:rPr lang="en-US" sz="2400" dirty="0"/>
              <a:t>(marks)</a:t>
            </a:r>
          </a:p>
          <a:p>
            <a:r>
              <a:rPr lang="en-US" sz="2400" dirty="0"/>
              <a:t>percentage = </a:t>
            </a:r>
            <a:r>
              <a:rPr lang="en-US" sz="2400" b="1" dirty="0" err="1">
                <a:solidFill>
                  <a:schemeClr val="accent5">
                    <a:lumMod val="50000"/>
                  </a:schemeClr>
                </a:solidFill>
              </a:rPr>
              <a:t>calculate</a:t>
            </a:r>
            <a:r>
              <a:rPr lang="en-US" sz="2400" dirty="0" err="1"/>
              <a:t>_</a:t>
            </a:r>
            <a:r>
              <a:rPr lang="en-US" sz="2400" b="1" dirty="0" err="1">
                <a:solidFill>
                  <a:schemeClr val="accent5">
                    <a:lumMod val="50000"/>
                  </a:schemeClr>
                </a:solidFill>
              </a:rPr>
              <a:t>percentage</a:t>
            </a:r>
            <a:r>
              <a:rPr lang="en-US" sz="2400" dirty="0"/>
              <a:t>(total)</a:t>
            </a:r>
          </a:p>
          <a:p>
            <a:r>
              <a:rPr lang="en-US" sz="2400" b="1" dirty="0" err="1">
                <a:solidFill>
                  <a:schemeClr val="accent5">
                    <a:lumMod val="50000"/>
                  </a:schemeClr>
                </a:solidFill>
              </a:rPr>
              <a:t>display</a:t>
            </a:r>
            <a:r>
              <a:rPr lang="en-US" sz="2400" dirty="0" err="1"/>
              <a:t>_</a:t>
            </a:r>
            <a:r>
              <a:rPr lang="en-US" sz="2400" b="1" dirty="0" err="1">
                <a:solidFill>
                  <a:schemeClr val="accent5">
                    <a:lumMod val="50000"/>
                  </a:schemeClr>
                </a:solidFill>
              </a:rPr>
              <a:t>result</a:t>
            </a:r>
            <a:r>
              <a:rPr lang="en-US" sz="2400" dirty="0"/>
              <a:t>(total, percentage)</a:t>
            </a:r>
            <a:endParaRPr lang="en-US" sz="2400" dirty="0"/>
          </a:p>
        </p:txBody>
      </p:sp>
    </p:spTree>
    <p:extLst>
      <p:ext uri="{BB962C8B-B14F-4D97-AF65-F5344CB8AC3E}">
        <p14:creationId xmlns:p14="http://schemas.microsoft.com/office/powerpoint/2010/main" val="1871160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CE3F45-C254-8094-9CB1-ABC68F3CAA59}"/>
              </a:ext>
            </a:extLst>
          </p:cNvPr>
          <p:cNvSpPr>
            <a:spLocks noGrp="1"/>
          </p:cNvSpPr>
          <p:nvPr>
            <p:ph type="title"/>
          </p:nvPr>
        </p:nvSpPr>
        <p:spPr/>
        <p:txBody>
          <a:bodyPr/>
          <a:lstStyle/>
          <a:p>
            <a:r>
              <a:rPr lang="en-US" dirty="0"/>
              <a:t>PASS Keyword</a:t>
            </a:r>
          </a:p>
        </p:txBody>
      </p:sp>
      <p:sp>
        <p:nvSpPr>
          <p:cNvPr id="3" name="Content Placeholder 2">
            <a:extLst>
              <a:ext uri="{FF2B5EF4-FFF2-40B4-BE49-F238E27FC236}">
                <a16:creationId xmlns:a16="http://schemas.microsoft.com/office/drawing/2014/main" xmlns="" id="{8C718465-10AA-C1CE-E5AC-3042F8E8F78F}"/>
              </a:ext>
            </a:extLst>
          </p:cNvPr>
          <p:cNvSpPr>
            <a:spLocks noGrp="1"/>
          </p:cNvSpPr>
          <p:nvPr>
            <p:ph idx="1"/>
          </p:nvPr>
        </p:nvSpPr>
        <p:spPr/>
        <p:txBody>
          <a:bodyPr/>
          <a:lstStyle/>
          <a:p>
            <a:r>
              <a:rPr lang="en-US" dirty="0"/>
              <a:t>The pass statement is a placeholder. It tells Python "do nothing for now". It is useful when writing code skeletons where implementation will be added later.</a:t>
            </a:r>
          </a:p>
        </p:txBody>
      </p:sp>
      <p:sp>
        <p:nvSpPr>
          <p:cNvPr id="5" name="Rectangle: Rounded Corners 4">
            <a:extLst>
              <a:ext uri="{FF2B5EF4-FFF2-40B4-BE49-F238E27FC236}">
                <a16:creationId xmlns:a16="http://schemas.microsoft.com/office/drawing/2014/main" xmlns="" id="{39880BCE-1ECD-7D36-095C-E920B5304BF2}"/>
              </a:ext>
            </a:extLst>
          </p:cNvPr>
          <p:cNvSpPr/>
          <p:nvPr/>
        </p:nvSpPr>
        <p:spPr>
          <a:xfrm>
            <a:off x="474453" y="2268747"/>
            <a:ext cx="2225615" cy="16217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def fun():</a:t>
            </a:r>
          </a:p>
          <a:p>
            <a:r>
              <a:rPr lang="en-US" dirty="0"/>
              <a:t>    pass</a:t>
            </a:r>
          </a:p>
          <a:p>
            <a:endParaRPr lang="en-US" dirty="0"/>
          </a:p>
          <a:p>
            <a:r>
              <a:rPr lang="en-US" dirty="0"/>
              <a:t>fun() # Call the function</a:t>
            </a:r>
          </a:p>
        </p:txBody>
      </p:sp>
      <p:sp>
        <p:nvSpPr>
          <p:cNvPr id="6" name="Rectangle: Rounded Corners 5">
            <a:extLst>
              <a:ext uri="{FF2B5EF4-FFF2-40B4-BE49-F238E27FC236}">
                <a16:creationId xmlns:a16="http://schemas.microsoft.com/office/drawing/2014/main" xmlns="" id="{66EBAEFF-5DF9-6A2A-FD62-91E71BC14FE8}"/>
              </a:ext>
            </a:extLst>
          </p:cNvPr>
          <p:cNvSpPr/>
          <p:nvPr/>
        </p:nvSpPr>
        <p:spPr>
          <a:xfrm>
            <a:off x="474453" y="4165756"/>
            <a:ext cx="3433313" cy="18115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x = 10</a:t>
            </a:r>
          </a:p>
          <a:p>
            <a:r>
              <a:rPr lang="en-US" dirty="0"/>
              <a:t>if x &gt; 5:</a:t>
            </a:r>
          </a:p>
          <a:p>
            <a:r>
              <a:rPr lang="en-US" dirty="0"/>
              <a:t>    pass  # Placeholder for future logic</a:t>
            </a:r>
          </a:p>
          <a:p>
            <a:r>
              <a:rPr lang="en-US" dirty="0"/>
              <a:t>else:</a:t>
            </a:r>
          </a:p>
          <a:p>
            <a:r>
              <a:rPr lang="en-US" dirty="0"/>
              <a:t>    print("x is 5 or less")</a:t>
            </a:r>
          </a:p>
        </p:txBody>
      </p:sp>
      <p:sp>
        <p:nvSpPr>
          <p:cNvPr id="7" name="Rectangle: Rounded Corners 6">
            <a:extLst>
              <a:ext uri="{FF2B5EF4-FFF2-40B4-BE49-F238E27FC236}">
                <a16:creationId xmlns:a16="http://schemas.microsoft.com/office/drawing/2014/main" xmlns="" id="{74F0DA25-4FAA-9ECC-BC2C-B9B530261F8B}"/>
              </a:ext>
            </a:extLst>
          </p:cNvPr>
          <p:cNvSpPr/>
          <p:nvPr/>
        </p:nvSpPr>
        <p:spPr>
          <a:xfrm>
            <a:off x="3260785" y="2350698"/>
            <a:ext cx="3648973" cy="14578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for </a:t>
            </a:r>
            <a:r>
              <a:rPr lang="en-US" dirty="0" err="1"/>
              <a:t>i</a:t>
            </a:r>
            <a:r>
              <a:rPr lang="en-US" dirty="0"/>
              <a:t> in range(5):</a:t>
            </a:r>
          </a:p>
          <a:p>
            <a:r>
              <a:rPr lang="en-US" dirty="0"/>
              <a:t>    if </a:t>
            </a:r>
            <a:r>
              <a:rPr lang="en-US" dirty="0" err="1"/>
              <a:t>i</a:t>
            </a:r>
            <a:r>
              <a:rPr lang="en-US" dirty="0"/>
              <a:t> == 3:</a:t>
            </a:r>
          </a:p>
          <a:p>
            <a:r>
              <a:rPr lang="en-US" dirty="0"/>
              <a:t>        pass  # Do nothing when </a:t>
            </a:r>
            <a:r>
              <a:rPr lang="en-US" dirty="0" err="1"/>
              <a:t>i</a:t>
            </a:r>
            <a:r>
              <a:rPr lang="en-US" dirty="0"/>
              <a:t> is 3</a:t>
            </a:r>
          </a:p>
          <a:p>
            <a:r>
              <a:rPr lang="en-US" dirty="0"/>
              <a:t>    else:</a:t>
            </a:r>
          </a:p>
          <a:p>
            <a:r>
              <a:rPr lang="en-US" dirty="0"/>
              <a:t>        print(</a:t>
            </a:r>
            <a:r>
              <a:rPr lang="en-US" dirty="0" err="1"/>
              <a:t>i</a:t>
            </a:r>
            <a:r>
              <a:rPr lang="en-US" dirty="0"/>
              <a:t>)</a:t>
            </a:r>
          </a:p>
        </p:txBody>
      </p:sp>
      <p:sp>
        <p:nvSpPr>
          <p:cNvPr id="8" name="Rectangle: Rounded Corners 7">
            <a:extLst>
              <a:ext uri="{FF2B5EF4-FFF2-40B4-BE49-F238E27FC236}">
                <a16:creationId xmlns:a16="http://schemas.microsoft.com/office/drawing/2014/main" xmlns="" id="{2CE2CAF3-5DB1-930B-732D-888FDF56A6D3}"/>
              </a:ext>
            </a:extLst>
          </p:cNvPr>
          <p:cNvSpPr/>
          <p:nvPr/>
        </p:nvSpPr>
        <p:spPr>
          <a:xfrm>
            <a:off x="7694762" y="2113472"/>
            <a:ext cx="3942272" cy="36230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class </a:t>
            </a:r>
            <a:r>
              <a:rPr lang="en-US" dirty="0" err="1"/>
              <a:t>EmptyClass</a:t>
            </a:r>
            <a:r>
              <a:rPr lang="en-US" dirty="0"/>
              <a:t>:</a:t>
            </a:r>
          </a:p>
          <a:p>
            <a:r>
              <a:rPr lang="en-US" dirty="0"/>
              <a:t># No methods or attributes yet</a:t>
            </a:r>
          </a:p>
          <a:p>
            <a:r>
              <a:rPr lang="en-US" dirty="0"/>
              <a:t>class Person:    </a:t>
            </a:r>
          </a:p>
          <a:p>
            <a:r>
              <a:rPr lang="en-US" b="1" dirty="0">
                <a:solidFill>
                  <a:srgbClr val="7030A0"/>
                </a:solidFill>
              </a:rPr>
              <a:t>	def __</a:t>
            </a:r>
            <a:r>
              <a:rPr lang="en-US" b="1" dirty="0" err="1">
                <a:solidFill>
                  <a:srgbClr val="7030A0"/>
                </a:solidFill>
              </a:rPr>
              <a:t>init</a:t>
            </a:r>
            <a:r>
              <a:rPr lang="en-US" b="1" dirty="0">
                <a:solidFill>
                  <a:srgbClr val="7030A0"/>
                </a:solidFill>
              </a:rPr>
              <a:t>__(self, name, age):        		self.name = name        </a:t>
            </a:r>
          </a:p>
          <a:p>
            <a:r>
              <a:rPr lang="en-US" b="1" dirty="0">
                <a:solidFill>
                  <a:srgbClr val="7030A0"/>
                </a:solidFill>
              </a:rPr>
              <a:t>		</a:t>
            </a:r>
            <a:r>
              <a:rPr lang="en-US" b="1" dirty="0" err="1">
                <a:solidFill>
                  <a:srgbClr val="7030A0"/>
                </a:solidFill>
              </a:rPr>
              <a:t>self.age</a:t>
            </a:r>
            <a:r>
              <a:rPr lang="en-US" b="1" dirty="0">
                <a:solidFill>
                  <a:srgbClr val="7030A0"/>
                </a:solidFill>
              </a:rPr>
              <a:t> = age        </a:t>
            </a:r>
          </a:p>
          <a:p>
            <a:r>
              <a:rPr lang="en-US" dirty="0"/>
              <a:t>	def greet(self):        </a:t>
            </a:r>
          </a:p>
          <a:p>
            <a:r>
              <a:rPr lang="en-US" dirty="0"/>
              <a:t>		pass  </a:t>
            </a:r>
          </a:p>
          <a:p>
            <a:r>
              <a:rPr lang="en-US" dirty="0"/>
              <a:t>p= Person("Emily", 30)</a:t>
            </a:r>
          </a:p>
        </p:txBody>
      </p:sp>
    </p:spTree>
    <p:extLst>
      <p:ext uri="{BB962C8B-B14F-4D97-AF65-F5344CB8AC3E}">
        <p14:creationId xmlns:p14="http://schemas.microsoft.com/office/powerpoint/2010/main" val="145572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
            </a:r>
            <a:br>
              <a:rPr lang="en-US" dirty="0"/>
            </a:br>
            <a:r>
              <a:rPr lang="en-US" dirty="0"/>
              <a:t>Scope and Lifetime of variables</a:t>
            </a:r>
            <a:br>
              <a:rPr lang="en-US" dirty="0"/>
            </a:br>
            <a:r>
              <a:rPr lang="en-US" dirty="0"/>
              <a:t/>
            </a:r>
            <a:br>
              <a:rPr lang="en-US" dirty="0"/>
            </a:br>
            <a:endParaRPr lang="en-IN" dirty="0"/>
          </a:p>
        </p:txBody>
      </p:sp>
      <p:sp>
        <p:nvSpPr>
          <p:cNvPr id="3" name="Content Placeholder 2"/>
          <p:cNvSpPr>
            <a:spLocks noGrp="1"/>
          </p:cNvSpPr>
          <p:nvPr>
            <p:ph idx="1"/>
          </p:nvPr>
        </p:nvSpPr>
        <p:spPr>
          <a:xfrm>
            <a:off x="131180" y="863444"/>
            <a:ext cx="11929641" cy="5847907"/>
          </a:xfrm>
        </p:spPr>
        <p:txBody>
          <a:bodyPr/>
          <a:lstStyle/>
          <a:p>
            <a:r>
              <a:rPr lang="en-US" dirty="0"/>
              <a:t>Scope of a variable is the portion of a program where the variable is recognized. Parameters and variables defined inside a function are not visible from outside the function. Hence, they have a local scope.</a:t>
            </a:r>
          </a:p>
          <a:p>
            <a:r>
              <a:rPr lang="en-US" dirty="0"/>
              <a:t>The lifetime of a variable is the period throughout which the variable exits in the memory. The lifetime of variables inside a function is as long as the function executes.</a:t>
            </a:r>
          </a:p>
          <a:p>
            <a:r>
              <a:rPr lang="en-US" dirty="0"/>
              <a:t>They are destroyed once we return from the function. Hence, a function does not remember the value of a variable from its previous calls.</a:t>
            </a:r>
          </a:p>
          <a:p>
            <a:pPr marL="544512" lvl="1" indent="0">
              <a:buNone/>
            </a:pPr>
            <a:r>
              <a:rPr lang="en-US" dirty="0" err="1"/>
              <a:t>def</a:t>
            </a:r>
            <a:r>
              <a:rPr lang="en-US" dirty="0"/>
              <a:t> </a:t>
            </a:r>
            <a:r>
              <a:rPr lang="en-US" dirty="0" err="1"/>
              <a:t>myfunc</a:t>
            </a:r>
            <a:r>
              <a:rPr lang="en-US" dirty="0"/>
              <a:t>():</a:t>
            </a:r>
          </a:p>
          <a:p>
            <a:pPr marL="544512" lvl="1" indent="0">
              <a:buNone/>
            </a:pPr>
            <a:r>
              <a:rPr lang="en-US" dirty="0"/>
              <a:t>    y=20</a:t>
            </a:r>
          </a:p>
          <a:p>
            <a:pPr marL="544512" lvl="1" indent="0">
              <a:buNone/>
            </a:pPr>
            <a:r>
              <a:rPr lang="en-US" dirty="0"/>
              <a:t>    x=10</a:t>
            </a:r>
          </a:p>
          <a:p>
            <a:pPr marL="544512" lvl="1" indent="0">
              <a:buNone/>
            </a:pPr>
            <a:r>
              <a:rPr lang="en-US" dirty="0"/>
              <a:t>    print("Value inside </a:t>
            </a:r>
            <a:r>
              <a:rPr lang="en-US" dirty="0" err="1"/>
              <a:t>function:",x</a:t>
            </a:r>
            <a:r>
              <a:rPr lang="en-US" dirty="0"/>
              <a:t>)</a:t>
            </a:r>
          </a:p>
          <a:p>
            <a:pPr marL="544512" lvl="1" indent="0">
              <a:buNone/>
            </a:pPr>
            <a:endParaRPr lang="en-US" dirty="0"/>
          </a:p>
          <a:p>
            <a:pPr marL="544512" lvl="1" indent="0">
              <a:buNone/>
            </a:pPr>
            <a:r>
              <a:rPr lang="en-US" dirty="0"/>
              <a:t>x = 20</a:t>
            </a:r>
          </a:p>
          <a:p>
            <a:pPr marL="544512" lvl="1" indent="0">
              <a:buNone/>
            </a:pPr>
            <a:r>
              <a:rPr lang="en-US" dirty="0" err="1"/>
              <a:t>myfunc</a:t>
            </a:r>
            <a:r>
              <a:rPr lang="en-US" dirty="0"/>
              <a:t>()</a:t>
            </a:r>
          </a:p>
          <a:p>
            <a:pPr marL="544512" lvl="1" indent="0">
              <a:buNone/>
            </a:pPr>
            <a:r>
              <a:rPr lang="en-US" dirty="0"/>
              <a:t>print("Value outside </a:t>
            </a:r>
            <a:r>
              <a:rPr lang="en-US" dirty="0" err="1"/>
              <a:t>function:",x</a:t>
            </a:r>
            <a:r>
              <a:rPr lang="en-US" dirty="0"/>
              <a:t>)</a:t>
            </a:r>
          </a:p>
          <a:p>
            <a:pPr marL="544512" lvl="1" indent="0">
              <a:buNone/>
            </a:pPr>
            <a:r>
              <a:rPr lang="en-US" dirty="0"/>
              <a:t>#print("Value outside </a:t>
            </a:r>
            <a:r>
              <a:rPr lang="en-US" dirty="0" err="1"/>
              <a:t>function:",y</a:t>
            </a:r>
            <a:r>
              <a:rPr lang="en-US" dirty="0"/>
              <a:t>)</a:t>
            </a:r>
            <a:endParaRPr lang="en-IN" dirty="0"/>
          </a:p>
        </p:txBody>
      </p:sp>
    </p:spTree>
    <p:extLst>
      <p:ext uri="{BB962C8B-B14F-4D97-AF65-F5344CB8AC3E}">
        <p14:creationId xmlns:p14="http://schemas.microsoft.com/office/powerpoint/2010/main" val="411338174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Copy example in Notebook</a:t>
            </a:r>
            <a:endParaRPr lang="en-IN" dirty="0"/>
          </a:p>
        </p:txBody>
      </p:sp>
      <p:sp>
        <p:nvSpPr>
          <p:cNvPr id="3" name="Content Placeholder 2"/>
          <p:cNvSpPr>
            <a:spLocks noGrp="1"/>
          </p:cNvSpPr>
          <p:nvPr>
            <p:ph idx="1"/>
          </p:nvPr>
        </p:nvSpPr>
        <p:spPr/>
        <p:txBody>
          <a:bodyPr/>
          <a:lstStyle/>
          <a:p>
            <a:pPr marL="0" indent="0">
              <a:buNone/>
            </a:pPr>
            <a:r>
              <a:rPr lang="en-US" sz="2000" dirty="0" err="1"/>
              <a:t>def</a:t>
            </a:r>
            <a:r>
              <a:rPr lang="en-US" sz="2000" dirty="0"/>
              <a:t> f():</a:t>
            </a:r>
          </a:p>
          <a:p>
            <a:pPr marL="0" indent="0">
              <a:buNone/>
            </a:pPr>
            <a:r>
              <a:rPr lang="en-US" sz="2000" dirty="0"/>
              <a:t>    </a:t>
            </a:r>
            <a:r>
              <a:rPr lang="en-US" sz="2000" dirty="0" smtClean="0"/>
              <a:t>print(s)</a:t>
            </a:r>
          </a:p>
          <a:p>
            <a:pPr marL="0" indent="0">
              <a:buNone/>
            </a:pPr>
            <a:r>
              <a:rPr lang="en-US" sz="2000" dirty="0"/>
              <a:t>	</a:t>
            </a:r>
            <a:r>
              <a:rPr lang="en-US" sz="2000" dirty="0" smtClean="0"/>
              <a:t>s </a:t>
            </a:r>
            <a:r>
              <a:rPr lang="en-US" sz="2000" dirty="0"/>
              <a:t>= "Me too</a:t>
            </a:r>
            <a:r>
              <a:rPr lang="en-US" sz="2000" dirty="0" smtClean="0"/>
              <a:t>."</a:t>
            </a:r>
            <a:endParaRPr lang="en-US" sz="2000" dirty="0"/>
          </a:p>
          <a:p>
            <a:pPr marL="0" indent="0">
              <a:buNone/>
            </a:pPr>
            <a:r>
              <a:rPr lang="en-US" sz="2000" dirty="0"/>
              <a:t>    print(s</a:t>
            </a:r>
            <a:r>
              <a:rPr lang="en-US" sz="2000" dirty="0" smtClean="0"/>
              <a:t>)</a:t>
            </a:r>
            <a:endParaRPr lang="en-US" sz="2000" dirty="0"/>
          </a:p>
          <a:p>
            <a:pPr marL="0" indent="0">
              <a:buNone/>
            </a:pPr>
            <a:r>
              <a:rPr lang="en-US" sz="2000" dirty="0"/>
              <a:t># Global scope</a:t>
            </a:r>
          </a:p>
          <a:p>
            <a:pPr marL="0" indent="0">
              <a:buNone/>
            </a:pPr>
            <a:r>
              <a:rPr lang="en-US" sz="2000" dirty="0"/>
              <a:t>s = "I love </a:t>
            </a:r>
            <a:r>
              <a:rPr lang="en-US" sz="2000" dirty="0" smtClean="0"/>
              <a:t>GECG"</a:t>
            </a:r>
            <a:endParaRPr lang="en-US" sz="2000" dirty="0"/>
          </a:p>
          <a:p>
            <a:pPr marL="0" indent="0">
              <a:buNone/>
            </a:pPr>
            <a:r>
              <a:rPr lang="en-US" sz="2000" dirty="0"/>
              <a:t>f()</a:t>
            </a:r>
          </a:p>
          <a:p>
            <a:pPr marL="0" indent="0">
              <a:buNone/>
            </a:pPr>
            <a:r>
              <a:rPr lang="en-US" sz="2000" dirty="0"/>
              <a:t>print(s)</a:t>
            </a:r>
            <a:endParaRPr lang="en-IN" sz="2000" dirty="0"/>
          </a:p>
        </p:txBody>
      </p:sp>
      <p:sp>
        <p:nvSpPr>
          <p:cNvPr id="4" name="Rectangle 3"/>
          <p:cNvSpPr/>
          <p:nvPr/>
        </p:nvSpPr>
        <p:spPr>
          <a:xfrm>
            <a:off x="1192695" y="4585252"/>
            <a:ext cx="10283687" cy="755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Check for Global ,local and nonlocal scope of variables in notebook</a:t>
            </a:r>
            <a:endParaRPr lang="en-IN" sz="2800" b="1" dirty="0"/>
          </a:p>
        </p:txBody>
      </p:sp>
      <p:sp>
        <p:nvSpPr>
          <p:cNvPr id="5" name="Rectangle 4"/>
          <p:cNvSpPr/>
          <p:nvPr/>
        </p:nvSpPr>
        <p:spPr>
          <a:xfrm>
            <a:off x="1139687" y="5565913"/>
            <a:ext cx="10402956" cy="6493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Write a note on Scope of variables in python - 4 Marks</a:t>
            </a:r>
            <a:endParaRPr lang="en-IN" sz="3200" dirty="0"/>
          </a:p>
        </p:txBody>
      </p:sp>
    </p:spTree>
    <p:extLst>
      <p:ext uri="{BB962C8B-B14F-4D97-AF65-F5344CB8AC3E}">
        <p14:creationId xmlns:p14="http://schemas.microsoft.com/office/powerpoint/2010/main" val="73619021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0" dirty="0"/>
              <a:t/>
            </a:r>
            <a:br>
              <a:rPr lang="en-IN" b="0" dirty="0"/>
            </a:br>
            <a:r>
              <a:rPr lang="en-IN" b="0" dirty="0"/>
              <a:t>File Handling</a:t>
            </a:r>
            <a:br>
              <a:rPr lang="en-IN" b="0" dirty="0"/>
            </a:br>
            <a:endParaRPr lang="en-IN" dirty="0"/>
          </a:p>
        </p:txBody>
      </p:sp>
      <p:sp>
        <p:nvSpPr>
          <p:cNvPr id="4" name="Rectangle 1"/>
          <p:cNvSpPr>
            <a:spLocks noGrp="1" noChangeArrowheads="1"/>
          </p:cNvSpPr>
          <p:nvPr>
            <p:ph idx="1"/>
          </p:nvPr>
        </p:nvSpPr>
        <p:spPr bwMode="auto">
          <a:xfrm>
            <a:off x="212650" y="814158"/>
            <a:ext cx="11979349" cy="3323987"/>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erdana" panose="020B0604030504040204" pitchFamily="34" charset="0"/>
              </a:rPr>
              <a:t>The key function for working with files in Python is the </a:t>
            </a:r>
            <a:r>
              <a:rPr kumimoji="0" lang="en-US" sz="2000" b="0" i="0" u="none" strike="noStrike" cap="none" normalizeH="0" baseline="0" dirty="0">
                <a:ln>
                  <a:noFill/>
                </a:ln>
                <a:solidFill>
                  <a:srgbClr val="DC143C"/>
                </a:solidFill>
                <a:effectLst/>
                <a:latin typeface="Consolas" panose="020B0609020204030204" pitchFamily="49" charset="0"/>
              </a:rPr>
              <a:t>open()</a:t>
            </a:r>
            <a:r>
              <a:rPr kumimoji="0" lang="en-US" sz="2000" b="0" i="0" u="none" strike="noStrike" cap="none" normalizeH="0" baseline="0" dirty="0">
                <a:ln>
                  <a:noFill/>
                </a:ln>
                <a:solidFill>
                  <a:srgbClr val="000000"/>
                </a:solidFill>
                <a:effectLst/>
                <a:latin typeface="Verdana" panose="020B0604030504040204" pitchFamily="34" charset="0"/>
              </a:rPr>
              <a:t> function.</a:t>
            </a:r>
            <a:endParaRPr kumimoji="0" 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erdana" panose="020B0604030504040204" pitchFamily="34" charset="0"/>
              </a:rPr>
              <a:t>The </a:t>
            </a:r>
            <a:r>
              <a:rPr kumimoji="0" lang="en-US" sz="2000" b="0" i="0" u="none" strike="noStrike" cap="none" normalizeH="0" baseline="0" dirty="0">
                <a:ln>
                  <a:noFill/>
                </a:ln>
                <a:solidFill>
                  <a:srgbClr val="DC143C"/>
                </a:solidFill>
                <a:effectLst/>
                <a:latin typeface="Consolas" panose="020B0609020204030204" pitchFamily="49" charset="0"/>
              </a:rPr>
              <a:t>open()</a:t>
            </a:r>
            <a:r>
              <a:rPr kumimoji="0" lang="en-US" sz="2000" b="0" i="0" u="none" strike="noStrike" cap="none" normalizeH="0" baseline="0" dirty="0">
                <a:ln>
                  <a:noFill/>
                </a:ln>
                <a:solidFill>
                  <a:srgbClr val="000000"/>
                </a:solidFill>
                <a:effectLst/>
                <a:latin typeface="Verdana" panose="020B0604030504040204" pitchFamily="34" charset="0"/>
              </a:rPr>
              <a:t> function takes two parameters; </a:t>
            </a:r>
            <a:r>
              <a:rPr kumimoji="0" lang="en-US" sz="2000" b="0" i="1" u="none" strike="noStrike" cap="none" normalizeH="0" baseline="0" dirty="0">
                <a:ln>
                  <a:noFill/>
                </a:ln>
                <a:solidFill>
                  <a:srgbClr val="000000"/>
                </a:solidFill>
                <a:effectLst/>
                <a:latin typeface="Verdana" panose="020B0604030504040204" pitchFamily="34" charset="0"/>
              </a:rPr>
              <a:t>filename</a:t>
            </a:r>
            <a:r>
              <a:rPr kumimoji="0" lang="en-US" sz="2000" b="0" i="0" u="none" strike="noStrike" cap="none" normalizeH="0" baseline="0" dirty="0">
                <a:ln>
                  <a:noFill/>
                </a:ln>
                <a:solidFill>
                  <a:srgbClr val="000000"/>
                </a:solidFill>
                <a:effectLst/>
                <a:latin typeface="Verdana" panose="020B0604030504040204" pitchFamily="34" charset="0"/>
              </a:rPr>
              <a:t>, and </a:t>
            </a:r>
            <a:r>
              <a:rPr kumimoji="0" lang="en-US" sz="2000" b="0" i="1" u="none" strike="noStrike" cap="none" normalizeH="0" baseline="0" dirty="0">
                <a:ln>
                  <a:noFill/>
                </a:ln>
                <a:solidFill>
                  <a:srgbClr val="000000"/>
                </a:solidFill>
                <a:effectLst/>
                <a:latin typeface="Verdana" panose="020B0604030504040204" pitchFamily="34" charset="0"/>
              </a:rPr>
              <a:t>mode</a:t>
            </a:r>
            <a:r>
              <a:rPr kumimoji="0" lang="en-US" sz="2000" b="0" i="0" u="none" strike="noStrike" cap="none" normalizeH="0" baseline="0" dirty="0">
                <a:ln>
                  <a:noFill/>
                </a:ln>
                <a:solidFill>
                  <a:srgbClr val="000000"/>
                </a:solidFill>
                <a:effectLst/>
                <a:latin typeface="Verdana" panose="020B0604030504040204" pitchFamily="34" charset="0"/>
              </a:rPr>
              <a:t>.</a:t>
            </a:r>
            <a:endParaRPr kumimoji="0" 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erdana" panose="020B0604030504040204" pitchFamily="34" charset="0"/>
              </a:rPr>
              <a:t>There are four different methods (modes) for opening a file: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DC143C"/>
                </a:solidFill>
                <a:effectLst/>
                <a:latin typeface="Consolas" panose="020B0609020204030204" pitchFamily="49" charset="0"/>
              </a:rPr>
              <a:t>"r"</a:t>
            </a:r>
            <a:r>
              <a:rPr kumimoji="0" lang="en-US" sz="2000" b="0" i="0" u="none" strike="noStrike" cap="none" normalizeH="0" baseline="0" dirty="0">
                <a:ln>
                  <a:noFill/>
                </a:ln>
                <a:solidFill>
                  <a:srgbClr val="000000"/>
                </a:solidFill>
                <a:effectLst/>
                <a:latin typeface="Verdana" panose="020B0604030504040204" pitchFamily="34" charset="0"/>
              </a:rPr>
              <a:t> - Read - Default value. Opens a file for reading, error if the file does not exist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DC143C"/>
                </a:solidFill>
                <a:effectLst/>
                <a:latin typeface="Consolas" panose="020B0609020204030204" pitchFamily="49" charset="0"/>
              </a:rPr>
              <a:t>"a"</a:t>
            </a:r>
            <a:r>
              <a:rPr kumimoji="0" lang="en-US" sz="2000" b="0" i="0" u="none" strike="noStrike" cap="none" normalizeH="0" baseline="0" dirty="0">
                <a:ln>
                  <a:noFill/>
                </a:ln>
                <a:solidFill>
                  <a:srgbClr val="000000"/>
                </a:solidFill>
                <a:effectLst/>
                <a:latin typeface="Verdana" panose="020B0604030504040204" pitchFamily="34" charset="0"/>
              </a:rPr>
              <a:t> - Append - Opens a file for appending, creates the file if it does not exist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DC143C"/>
                </a:solidFill>
                <a:effectLst/>
                <a:latin typeface="Consolas" panose="020B0609020204030204" pitchFamily="49" charset="0"/>
              </a:rPr>
              <a:t>"w"</a:t>
            </a:r>
            <a:r>
              <a:rPr kumimoji="0" lang="en-US" sz="2000" b="0" i="0" u="none" strike="noStrike" cap="none" normalizeH="0" baseline="0" dirty="0">
                <a:ln>
                  <a:noFill/>
                </a:ln>
                <a:solidFill>
                  <a:srgbClr val="000000"/>
                </a:solidFill>
                <a:effectLst/>
                <a:latin typeface="Verdana" panose="020B0604030504040204" pitchFamily="34" charset="0"/>
              </a:rPr>
              <a:t> - Write - Opens a file for writing, creates the file if it does not exist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DC143C"/>
                </a:solidFill>
                <a:effectLst/>
                <a:latin typeface="Consolas" panose="020B0609020204030204" pitchFamily="49" charset="0"/>
              </a:rPr>
              <a:t>"x"</a:t>
            </a:r>
            <a:r>
              <a:rPr kumimoji="0" lang="en-US" sz="2000" b="0" i="0" u="none" strike="noStrike" cap="none" normalizeH="0" baseline="0" dirty="0">
                <a:ln>
                  <a:noFill/>
                </a:ln>
                <a:solidFill>
                  <a:srgbClr val="000000"/>
                </a:solidFill>
                <a:effectLst/>
                <a:latin typeface="Verdana" panose="020B0604030504040204" pitchFamily="34" charset="0"/>
              </a:rPr>
              <a:t> - Create - Creates the specified file, returns an error if the file exists</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000000"/>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212650" y="4241102"/>
            <a:ext cx="11979349" cy="738664"/>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Verdana" panose="020B0604030504040204" pitchFamily="34" charset="0"/>
              </a:rPr>
              <a:t>In addition you can specify if the file should be handled as binary or text mode</a:t>
            </a:r>
            <a:endParaRPr kumimoji="0" 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DC143C"/>
                </a:solidFill>
                <a:effectLst/>
                <a:latin typeface="Consolas" panose="020B0609020204030204" pitchFamily="49" charset="0"/>
              </a:rPr>
              <a:t>"t"</a:t>
            </a:r>
            <a:r>
              <a:rPr kumimoji="0" lang="en-US" sz="1400" b="0" i="0" u="none" strike="noStrike" cap="none" normalizeH="0" baseline="0" dirty="0">
                <a:ln>
                  <a:noFill/>
                </a:ln>
                <a:solidFill>
                  <a:srgbClr val="000000"/>
                </a:solidFill>
                <a:effectLst/>
                <a:latin typeface="Verdana" panose="020B0604030504040204" pitchFamily="34" charset="0"/>
              </a:rPr>
              <a:t> - Text - Default value. Text mode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rgbClr val="DC143C"/>
                </a:solidFill>
                <a:effectLst/>
                <a:latin typeface="Consolas" panose="020B0609020204030204" pitchFamily="49" charset="0"/>
              </a:rPr>
              <a:t>"b"</a:t>
            </a:r>
            <a:r>
              <a:rPr kumimoji="0" lang="en-US" sz="1400" b="0" i="0" u="none" strike="noStrike" cap="none" normalizeH="0" baseline="0" dirty="0">
                <a:ln>
                  <a:noFill/>
                </a:ln>
                <a:solidFill>
                  <a:srgbClr val="000000"/>
                </a:solidFill>
                <a:effectLst/>
                <a:latin typeface="Verdana" panose="020B0604030504040204" pitchFamily="34" charset="0"/>
              </a:rPr>
              <a:t> - Binary - Binary mode (e.g. images)</a:t>
            </a:r>
            <a:endParaRPr kumimoji="0" 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418526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Examples</a:t>
            </a:r>
          </a:p>
        </p:txBody>
      </p:sp>
      <p:sp>
        <p:nvSpPr>
          <p:cNvPr id="3" name="Content Placeholder 2"/>
          <p:cNvSpPr>
            <a:spLocks noGrp="1"/>
          </p:cNvSpPr>
          <p:nvPr>
            <p:ph idx="1"/>
          </p:nvPr>
        </p:nvSpPr>
        <p:spPr>
          <a:xfrm>
            <a:off x="131178" y="1007036"/>
            <a:ext cx="5726158" cy="6146799"/>
          </a:xfrm>
        </p:spPr>
        <p:txBody>
          <a:bodyPr/>
          <a:lstStyle/>
          <a:p>
            <a:pPr marL="0" indent="0">
              <a:buNone/>
            </a:pPr>
            <a:r>
              <a:rPr lang="en-US" dirty="0"/>
              <a:t>Example1:</a:t>
            </a:r>
          </a:p>
          <a:p>
            <a:pPr marL="0" indent="0">
              <a:buNone/>
            </a:pPr>
            <a:r>
              <a:rPr lang="en-US" dirty="0">
                <a:solidFill>
                  <a:srgbClr val="FF0000"/>
                </a:solidFill>
              </a:rPr>
              <a:t>file = open("sample.txt", "r")</a:t>
            </a:r>
          </a:p>
          <a:p>
            <a:pPr marL="0" indent="0">
              <a:buNone/>
            </a:pPr>
            <a:r>
              <a:rPr lang="en-US" dirty="0">
                <a:solidFill>
                  <a:srgbClr val="FF0000"/>
                </a:solidFill>
              </a:rPr>
              <a:t>content=</a:t>
            </a:r>
            <a:r>
              <a:rPr lang="en-US" dirty="0" err="1">
                <a:solidFill>
                  <a:srgbClr val="FF0000"/>
                </a:solidFill>
              </a:rPr>
              <a:t>file.read</a:t>
            </a:r>
            <a:r>
              <a:rPr lang="en-US" dirty="0">
                <a:solidFill>
                  <a:srgbClr val="FF0000"/>
                </a:solidFill>
              </a:rPr>
              <a:t>()</a:t>
            </a:r>
          </a:p>
          <a:p>
            <a:pPr marL="0" indent="0">
              <a:buNone/>
            </a:pPr>
            <a:r>
              <a:rPr lang="en-US" dirty="0">
                <a:solidFill>
                  <a:srgbClr val="FF0000"/>
                </a:solidFill>
              </a:rPr>
              <a:t>print("File Contents:")</a:t>
            </a:r>
          </a:p>
          <a:p>
            <a:pPr marL="0" indent="0">
              <a:buNone/>
            </a:pPr>
            <a:r>
              <a:rPr lang="en-US" dirty="0">
                <a:solidFill>
                  <a:srgbClr val="FF0000"/>
                </a:solidFill>
              </a:rPr>
              <a:t>print(content)</a:t>
            </a:r>
          </a:p>
          <a:p>
            <a:pPr marL="0" indent="0">
              <a:buNone/>
            </a:pPr>
            <a:r>
              <a:rPr lang="en-US" dirty="0" err="1">
                <a:solidFill>
                  <a:srgbClr val="FF0000"/>
                </a:solidFill>
              </a:rPr>
              <a:t>file.close</a:t>
            </a:r>
            <a:r>
              <a:rPr lang="en-US" dirty="0">
                <a:solidFill>
                  <a:srgbClr val="FF0000"/>
                </a:solidFill>
              </a:rPr>
              <a:t>()</a:t>
            </a:r>
          </a:p>
          <a:p>
            <a:pPr marL="0" indent="0">
              <a:buNone/>
            </a:pPr>
            <a:endParaRPr lang="en-US" dirty="0"/>
          </a:p>
          <a:p>
            <a:pPr marL="0" indent="0">
              <a:buNone/>
            </a:pPr>
            <a:r>
              <a:rPr lang="en-US" dirty="0"/>
              <a:t>Example2:</a:t>
            </a:r>
          </a:p>
          <a:p>
            <a:pPr marL="0" indent="0">
              <a:buNone/>
            </a:pPr>
            <a:r>
              <a:rPr lang="en-IN" dirty="0">
                <a:solidFill>
                  <a:srgbClr val="FF0000"/>
                </a:solidFill>
              </a:rPr>
              <a:t>f =open(“C:/</a:t>
            </a:r>
            <a:r>
              <a:rPr lang="en-IN" sz="2800" dirty="0">
                <a:solidFill>
                  <a:srgbClr val="FF0000"/>
                </a:solidFill>
              </a:rPr>
              <a:t>Data/practical1.java</a:t>
            </a:r>
            <a:r>
              <a:rPr lang="en-IN" dirty="0">
                <a:solidFill>
                  <a:srgbClr val="FF0000"/>
                </a:solidFill>
              </a:rPr>
              <a:t>", "r")</a:t>
            </a:r>
          </a:p>
          <a:p>
            <a:pPr marL="0" indent="0">
              <a:buNone/>
            </a:pPr>
            <a:r>
              <a:rPr lang="en-IN" dirty="0">
                <a:solidFill>
                  <a:srgbClr val="FF0000"/>
                </a:solidFill>
              </a:rPr>
              <a:t>print(</a:t>
            </a:r>
            <a:r>
              <a:rPr lang="en-IN" dirty="0" err="1">
                <a:solidFill>
                  <a:srgbClr val="FF0000"/>
                </a:solidFill>
              </a:rPr>
              <a:t>f.read</a:t>
            </a:r>
            <a:r>
              <a:rPr lang="en-IN" dirty="0">
                <a:solidFill>
                  <a:srgbClr val="FF0000"/>
                </a:solidFill>
              </a:rPr>
              <a:t>())</a:t>
            </a:r>
          </a:p>
          <a:p>
            <a:pPr marL="0" indent="0">
              <a:buNone/>
            </a:pPr>
            <a:endParaRPr lang="en-IN" sz="2000" dirty="0">
              <a:solidFill>
                <a:srgbClr val="FF0000"/>
              </a:solidFill>
            </a:endParaRPr>
          </a:p>
        </p:txBody>
      </p:sp>
      <p:sp>
        <p:nvSpPr>
          <p:cNvPr id="5" name="Rectangle 4"/>
          <p:cNvSpPr/>
          <p:nvPr/>
        </p:nvSpPr>
        <p:spPr>
          <a:xfrm>
            <a:off x="6096000" y="862897"/>
            <a:ext cx="6096000" cy="3046988"/>
          </a:xfrm>
          <a:prstGeom prst="rect">
            <a:avLst/>
          </a:prstGeom>
        </p:spPr>
        <p:txBody>
          <a:bodyPr>
            <a:spAutoFit/>
          </a:bodyPr>
          <a:lstStyle/>
          <a:p>
            <a:r>
              <a:rPr lang="en-IN" sz="2400" dirty="0"/>
              <a:t>Example3:</a:t>
            </a:r>
          </a:p>
          <a:p>
            <a:r>
              <a:rPr lang="en-IN" sz="2400" dirty="0">
                <a:solidFill>
                  <a:srgbClr val="FF0000"/>
                </a:solidFill>
              </a:rPr>
              <a:t>f = open("D:/Data/practical1.txt", "r")</a:t>
            </a:r>
          </a:p>
          <a:p>
            <a:r>
              <a:rPr lang="en-IN" sz="2400" dirty="0">
                <a:solidFill>
                  <a:srgbClr val="FF0000"/>
                </a:solidFill>
              </a:rPr>
              <a:t>print(</a:t>
            </a:r>
            <a:r>
              <a:rPr lang="en-IN" sz="2400" dirty="0" err="1">
                <a:solidFill>
                  <a:srgbClr val="FF0000"/>
                </a:solidFill>
              </a:rPr>
              <a:t>f.read</a:t>
            </a:r>
            <a:r>
              <a:rPr lang="en-IN" sz="2400" dirty="0">
                <a:solidFill>
                  <a:srgbClr val="FF0000"/>
                </a:solidFill>
              </a:rPr>
              <a:t>(15))</a:t>
            </a:r>
          </a:p>
          <a:p>
            <a:endParaRPr lang="en-IN" sz="2400" dirty="0">
              <a:solidFill>
                <a:srgbClr val="FF0000"/>
              </a:solidFill>
            </a:endParaRPr>
          </a:p>
          <a:p>
            <a:r>
              <a:rPr lang="en-IN" sz="2400" dirty="0"/>
              <a:t>Example4:</a:t>
            </a:r>
          </a:p>
          <a:p>
            <a:r>
              <a:rPr lang="en-US" sz="2400" dirty="0">
                <a:solidFill>
                  <a:srgbClr val="FF0000"/>
                </a:solidFill>
              </a:rPr>
              <a:t>f = open("D:/Data/practical1.txt“,”r")</a:t>
            </a:r>
          </a:p>
          <a:p>
            <a:r>
              <a:rPr lang="en-US" sz="2400" dirty="0">
                <a:solidFill>
                  <a:srgbClr val="FF0000"/>
                </a:solidFill>
              </a:rPr>
              <a:t>for x in f:</a:t>
            </a:r>
          </a:p>
          <a:p>
            <a:r>
              <a:rPr lang="en-US" sz="2400" dirty="0">
                <a:solidFill>
                  <a:srgbClr val="FF0000"/>
                </a:solidFill>
              </a:rPr>
              <a:t>  print(x)</a:t>
            </a:r>
            <a:endParaRPr lang="en-IN" sz="2400" dirty="0">
              <a:solidFill>
                <a:srgbClr val="FF0000"/>
              </a:solidFill>
            </a:endParaRPr>
          </a:p>
        </p:txBody>
      </p:sp>
    </p:spTree>
    <p:extLst>
      <p:ext uri="{BB962C8B-B14F-4D97-AF65-F5344CB8AC3E}">
        <p14:creationId xmlns:p14="http://schemas.microsoft.com/office/powerpoint/2010/main" val="307006509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Append</a:t>
            </a:r>
          </a:p>
        </p:txBody>
      </p:sp>
      <p:sp>
        <p:nvSpPr>
          <p:cNvPr id="3" name="Content Placeholder 2"/>
          <p:cNvSpPr>
            <a:spLocks noGrp="1"/>
          </p:cNvSpPr>
          <p:nvPr>
            <p:ph idx="1"/>
          </p:nvPr>
        </p:nvSpPr>
        <p:spPr/>
        <p:txBody>
          <a:bodyPr/>
          <a:lstStyle/>
          <a:p>
            <a:r>
              <a:rPr lang="en-IN" dirty="0"/>
              <a:t>Example:</a:t>
            </a:r>
          </a:p>
          <a:p>
            <a:pPr marL="457200" lvl="1" indent="0">
              <a:buNone/>
            </a:pPr>
            <a:r>
              <a:rPr lang="en-IN" dirty="0">
                <a:solidFill>
                  <a:srgbClr val="F54337"/>
                </a:solidFill>
              </a:rPr>
              <a:t>f = open("c:/Data/practical1.java", "r")</a:t>
            </a:r>
          </a:p>
          <a:p>
            <a:pPr marL="457200" lvl="1" indent="0">
              <a:buNone/>
            </a:pPr>
            <a:r>
              <a:rPr lang="en-IN" dirty="0">
                <a:solidFill>
                  <a:srgbClr val="F54337"/>
                </a:solidFill>
              </a:rPr>
              <a:t>print(</a:t>
            </a:r>
            <a:r>
              <a:rPr lang="en-IN" dirty="0" err="1">
                <a:solidFill>
                  <a:srgbClr val="F54337"/>
                </a:solidFill>
              </a:rPr>
              <a:t>f.readline</a:t>
            </a:r>
            <a:r>
              <a:rPr lang="en-IN" dirty="0">
                <a:solidFill>
                  <a:srgbClr val="F54337"/>
                </a:solidFill>
              </a:rPr>
              <a:t>())</a:t>
            </a:r>
          </a:p>
          <a:p>
            <a:endParaRPr lang="en-IN" dirty="0"/>
          </a:p>
          <a:p>
            <a:r>
              <a:rPr lang="en-IN" dirty="0"/>
              <a:t>Example:</a:t>
            </a:r>
          </a:p>
          <a:p>
            <a:pPr marL="544512" lvl="1" indent="0">
              <a:buNone/>
            </a:pPr>
            <a:r>
              <a:rPr lang="en-US" dirty="0">
                <a:solidFill>
                  <a:srgbClr val="F54337"/>
                </a:solidFill>
              </a:rPr>
              <a:t>f = open("demo.txt", "a")</a:t>
            </a:r>
          </a:p>
          <a:p>
            <a:pPr marL="544512" lvl="1" indent="0">
              <a:buNone/>
            </a:pPr>
            <a:r>
              <a:rPr lang="en-US" dirty="0" err="1">
                <a:solidFill>
                  <a:srgbClr val="F54337"/>
                </a:solidFill>
              </a:rPr>
              <a:t>f.write</a:t>
            </a:r>
            <a:r>
              <a:rPr lang="en-US" dirty="0">
                <a:solidFill>
                  <a:srgbClr val="F54337"/>
                </a:solidFill>
              </a:rPr>
              <a:t>("Content has been added")</a:t>
            </a:r>
          </a:p>
          <a:p>
            <a:pPr marL="544512" lvl="1" indent="0">
              <a:buNone/>
            </a:pPr>
            <a:r>
              <a:rPr lang="en-US" dirty="0" err="1">
                <a:solidFill>
                  <a:srgbClr val="F54337"/>
                </a:solidFill>
              </a:rPr>
              <a:t>f.close</a:t>
            </a:r>
            <a:r>
              <a:rPr lang="en-US" dirty="0">
                <a:solidFill>
                  <a:srgbClr val="F54337"/>
                </a:solidFill>
              </a:rPr>
              <a:t>()</a:t>
            </a:r>
          </a:p>
          <a:p>
            <a:pPr marL="544512" lvl="1" indent="0">
              <a:buNone/>
            </a:pPr>
            <a:endParaRPr lang="en-US" dirty="0">
              <a:solidFill>
                <a:srgbClr val="F54337"/>
              </a:solidFill>
            </a:endParaRPr>
          </a:p>
          <a:p>
            <a:pPr marL="544512" lvl="1" indent="0">
              <a:buNone/>
            </a:pPr>
            <a:r>
              <a:rPr lang="en-US" dirty="0">
                <a:solidFill>
                  <a:srgbClr val="F54337"/>
                </a:solidFill>
              </a:rPr>
              <a:t>#open and read the file after the appending:</a:t>
            </a:r>
          </a:p>
          <a:p>
            <a:pPr marL="544512" lvl="1" indent="0">
              <a:buNone/>
            </a:pPr>
            <a:r>
              <a:rPr lang="en-US" dirty="0">
                <a:solidFill>
                  <a:srgbClr val="F54337"/>
                </a:solidFill>
              </a:rPr>
              <a:t>f = open("demo.txt", "r")</a:t>
            </a:r>
          </a:p>
          <a:p>
            <a:pPr marL="544512" lvl="1" indent="0">
              <a:buNone/>
            </a:pPr>
            <a:r>
              <a:rPr lang="en-US" dirty="0">
                <a:solidFill>
                  <a:srgbClr val="F54337"/>
                </a:solidFill>
              </a:rPr>
              <a:t>print(</a:t>
            </a:r>
            <a:r>
              <a:rPr lang="en-US" dirty="0" err="1">
                <a:solidFill>
                  <a:srgbClr val="F54337"/>
                </a:solidFill>
              </a:rPr>
              <a:t>f.read</a:t>
            </a:r>
            <a:r>
              <a:rPr lang="en-US" dirty="0">
                <a:solidFill>
                  <a:srgbClr val="F54337"/>
                </a:solidFill>
              </a:rPr>
              <a:t>())</a:t>
            </a:r>
            <a:endParaRPr lang="en-IN" dirty="0">
              <a:solidFill>
                <a:srgbClr val="F54337"/>
              </a:solidFill>
            </a:endParaRPr>
          </a:p>
        </p:txBody>
      </p:sp>
    </p:spTree>
    <p:extLst>
      <p:ext uri="{BB962C8B-B14F-4D97-AF65-F5344CB8AC3E}">
        <p14:creationId xmlns:p14="http://schemas.microsoft.com/office/powerpoint/2010/main" val="56314047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Write</a:t>
            </a:r>
          </a:p>
        </p:txBody>
      </p:sp>
      <p:sp>
        <p:nvSpPr>
          <p:cNvPr id="3" name="Content Placeholder 2"/>
          <p:cNvSpPr>
            <a:spLocks noGrp="1"/>
          </p:cNvSpPr>
          <p:nvPr>
            <p:ph idx="1"/>
          </p:nvPr>
        </p:nvSpPr>
        <p:spPr/>
        <p:txBody>
          <a:bodyPr/>
          <a:lstStyle/>
          <a:p>
            <a:r>
              <a:rPr lang="en-US" dirty="0">
                <a:solidFill>
                  <a:srgbClr val="F54337"/>
                </a:solidFill>
              </a:rPr>
              <a:t>f = open("demo.txt", "w")</a:t>
            </a:r>
          </a:p>
          <a:p>
            <a:r>
              <a:rPr lang="en-US" dirty="0" err="1">
                <a:solidFill>
                  <a:srgbClr val="F54337"/>
                </a:solidFill>
              </a:rPr>
              <a:t>f.write</a:t>
            </a:r>
            <a:r>
              <a:rPr lang="en-US" dirty="0">
                <a:solidFill>
                  <a:srgbClr val="F54337"/>
                </a:solidFill>
              </a:rPr>
              <a:t>("content is overwrite!")</a:t>
            </a:r>
          </a:p>
          <a:p>
            <a:r>
              <a:rPr lang="en-US" dirty="0" err="1">
                <a:solidFill>
                  <a:srgbClr val="F54337"/>
                </a:solidFill>
              </a:rPr>
              <a:t>f.close</a:t>
            </a:r>
            <a:r>
              <a:rPr lang="en-US" dirty="0">
                <a:solidFill>
                  <a:srgbClr val="F54337"/>
                </a:solidFill>
              </a:rPr>
              <a:t>()</a:t>
            </a:r>
          </a:p>
          <a:p>
            <a:endParaRPr lang="en-US" dirty="0"/>
          </a:p>
          <a:p>
            <a:r>
              <a:rPr lang="en-US" dirty="0">
                <a:solidFill>
                  <a:srgbClr val="F54337"/>
                </a:solidFill>
              </a:rPr>
              <a:t>#open and read the file after the appending:</a:t>
            </a:r>
          </a:p>
          <a:p>
            <a:r>
              <a:rPr lang="en-US" dirty="0">
                <a:solidFill>
                  <a:srgbClr val="F54337"/>
                </a:solidFill>
              </a:rPr>
              <a:t>f = open("demo.txt", "r")</a:t>
            </a:r>
          </a:p>
          <a:p>
            <a:r>
              <a:rPr lang="en-US" dirty="0">
                <a:solidFill>
                  <a:srgbClr val="F54337"/>
                </a:solidFill>
              </a:rPr>
              <a:t>print(</a:t>
            </a:r>
            <a:r>
              <a:rPr lang="en-US" dirty="0" err="1">
                <a:solidFill>
                  <a:srgbClr val="F54337"/>
                </a:solidFill>
              </a:rPr>
              <a:t>f.read</a:t>
            </a:r>
            <a:r>
              <a:rPr lang="en-US" dirty="0">
                <a:solidFill>
                  <a:srgbClr val="F54337"/>
                </a:solidFill>
              </a:rPr>
              <a:t>())</a:t>
            </a:r>
            <a:endParaRPr lang="en-IN" dirty="0">
              <a:solidFill>
                <a:srgbClr val="F54337"/>
              </a:solidFill>
            </a:endParaRPr>
          </a:p>
        </p:txBody>
      </p:sp>
    </p:spTree>
    <p:extLst>
      <p:ext uri="{BB962C8B-B14F-4D97-AF65-F5344CB8AC3E}">
        <p14:creationId xmlns:p14="http://schemas.microsoft.com/office/powerpoint/2010/main" val="182133698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26894"/>
            <a:ext cx="12192000" cy="711200"/>
          </a:xfrm>
        </p:spPr>
        <p:txBody>
          <a:bodyPr>
            <a:normAutofit fontScale="90000"/>
          </a:bodyPr>
          <a:lstStyle/>
          <a:p>
            <a:pPr lvl="0"/>
            <a:r>
              <a:rPr lang="en-US" sz="3600" b="0" dirty="0">
                <a:solidFill>
                  <a:srgbClr val="000000"/>
                </a:solidFill>
                <a:latin typeface="Segoe UI" panose="020B0502040204020203" pitchFamily="34" charset="0"/>
                <a:cs typeface="Segoe UI" panose="020B0502040204020203" pitchFamily="34" charset="0"/>
              </a:rPr>
              <a:t>Create a New File</a:t>
            </a:r>
            <a:br>
              <a:rPr lang="en-US" sz="3600" b="0" dirty="0">
                <a:solidFill>
                  <a:srgbClr val="000000"/>
                </a:solidFill>
                <a:latin typeface="Segoe UI" panose="020B0502040204020203" pitchFamily="34" charset="0"/>
                <a:cs typeface="Segoe UI" panose="020B0502040204020203" pitchFamily="34" charset="0"/>
              </a:rPr>
            </a:br>
            <a:endParaRPr lang="en-IN" dirty="0"/>
          </a:p>
        </p:txBody>
      </p:sp>
      <p:sp>
        <p:nvSpPr>
          <p:cNvPr id="4" name="Rectangle 1"/>
          <p:cNvSpPr>
            <a:spLocks noGrp="1" noChangeArrowheads="1"/>
          </p:cNvSpPr>
          <p:nvPr>
            <p:ph idx="1"/>
          </p:nvPr>
        </p:nvSpPr>
        <p:spPr bwMode="auto">
          <a:xfrm>
            <a:off x="206347" y="587489"/>
            <a:ext cx="11985653" cy="22159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6176"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Verdana" panose="020B0604030504040204" pitchFamily="34" charset="0"/>
              </a:rPr>
              <a:t>To create a new file in Python, use the </a:t>
            </a:r>
            <a:r>
              <a:rPr kumimoji="0" lang="en-US" sz="2000" b="0" i="0" u="none" strike="noStrike" cap="none" normalizeH="0" baseline="0" dirty="0">
                <a:ln>
                  <a:noFill/>
                </a:ln>
                <a:solidFill>
                  <a:srgbClr val="DC143C"/>
                </a:solidFill>
                <a:effectLst/>
                <a:latin typeface="Consolas" panose="020B0609020204030204" pitchFamily="49" charset="0"/>
              </a:rPr>
              <a:t>open()</a:t>
            </a:r>
            <a:r>
              <a:rPr kumimoji="0" lang="en-US" sz="2000" b="0" i="0" u="none" strike="noStrike" cap="none" normalizeH="0" baseline="0" dirty="0">
                <a:ln>
                  <a:noFill/>
                </a:ln>
                <a:solidFill>
                  <a:srgbClr val="000000"/>
                </a:solidFill>
                <a:effectLst/>
                <a:latin typeface="Verdana" panose="020B0604030504040204" pitchFamily="34" charset="0"/>
              </a:rPr>
              <a:t> method, with one of the following parameters:</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000000"/>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DC143C"/>
                </a:solidFill>
                <a:effectLst/>
                <a:latin typeface="Consolas" panose="020B0609020204030204" pitchFamily="49" charset="0"/>
              </a:rPr>
              <a:t>"x"</a:t>
            </a:r>
            <a:r>
              <a:rPr kumimoji="0" lang="en-US" sz="2000" b="0" i="0" u="none" strike="noStrike" cap="none" normalizeH="0" baseline="0" dirty="0">
                <a:ln>
                  <a:noFill/>
                </a:ln>
                <a:solidFill>
                  <a:srgbClr val="000000"/>
                </a:solidFill>
                <a:effectLst/>
                <a:latin typeface="Verdana" panose="020B0604030504040204" pitchFamily="34" charset="0"/>
              </a:rPr>
              <a:t> - Create - will create a file, returns an error if the file exist</a:t>
            </a:r>
            <a:endParaRPr kumimoji="0" 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DC143C"/>
                </a:solidFill>
                <a:effectLst/>
                <a:latin typeface="Consolas" panose="020B0609020204030204" pitchFamily="49" charset="0"/>
              </a:rPr>
              <a:t>"a"</a:t>
            </a:r>
            <a:r>
              <a:rPr kumimoji="0" lang="en-US" sz="2000" b="0" i="0" u="none" strike="noStrike" cap="none" normalizeH="0" baseline="0" dirty="0">
                <a:ln>
                  <a:noFill/>
                </a:ln>
                <a:solidFill>
                  <a:srgbClr val="000000"/>
                </a:solidFill>
                <a:effectLst/>
                <a:latin typeface="Verdana" panose="020B0604030504040204" pitchFamily="34" charset="0"/>
              </a:rPr>
              <a:t> - Append - will create a file if the specified file does not exist</a:t>
            </a:r>
            <a:endParaRPr kumimoji="0" 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DC143C"/>
                </a:solidFill>
                <a:effectLst/>
                <a:latin typeface="Consolas" panose="020B0609020204030204" pitchFamily="49" charset="0"/>
              </a:rPr>
              <a:t>"w"</a:t>
            </a:r>
            <a:r>
              <a:rPr kumimoji="0" lang="en-US" sz="2000" b="0" i="0" u="none" strike="noStrike" cap="none" normalizeH="0" baseline="0" dirty="0">
                <a:ln>
                  <a:noFill/>
                </a:ln>
                <a:solidFill>
                  <a:srgbClr val="000000"/>
                </a:solidFill>
                <a:effectLst/>
                <a:latin typeface="Verdana" panose="020B0604030504040204" pitchFamily="34" charset="0"/>
              </a:rPr>
              <a:t> - Write - will create a file if the specified file does not exist</a:t>
            </a:r>
            <a:endParaRPr kumimoji="0" lang="en-US" sz="36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2608729" y="3565732"/>
            <a:ext cx="3487271" cy="120032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ctr"/>
            <a:r>
              <a:rPr lang="en-IN" dirty="0"/>
              <a:t>Try on editor:</a:t>
            </a:r>
          </a:p>
          <a:p>
            <a:pPr algn="ctr"/>
            <a:endParaRPr lang="en-IN" dirty="0"/>
          </a:p>
          <a:p>
            <a:pPr algn="ctr"/>
            <a:r>
              <a:rPr lang="en-IN" dirty="0"/>
              <a:t>f = open("</a:t>
            </a:r>
            <a:r>
              <a:rPr lang="en-IN" dirty="0" smtClean="0"/>
              <a:t>demo.txt</a:t>
            </a:r>
            <a:r>
              <a:rPr lang="en-IN" dirty="0"/>
              <a:t>", “x")</a:t>
            </a:r>
          </a:p>
          <a:p>
            <a:pPr algn="ctr"/>
            <a:endParaRPr lang="en-IN" dirty="0"/>
          </a:p>
        </p:txBody>
      </p:sp>
    </p:spTree>
    <p:extLst>
      <p:ext uri="{BB962C8B-B14F-4D97-AF65-F5344CB8AC3E}">
        <p14:creationId xmlns:p14="http://schemas.microsoft.com/office/powerpoint/2010/main" val="38179910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dirty="0"/>
              <a:t/>
            </a:r>
            <a:br>
              <a:rPr lang="en-US" dirty="0"/>
            </a:br>
            <a:r>
              <a:rPr lang="en-US" dirty="0"/>
              <a:t/>
            </a:r>
            <a:br>
              <a:rPr lang="en-US" dirty="0"/>
            </a:br>
            <a:r>
              <a:rPr lang="en-US" dirty="0"/>
              <a:t>File Handling with with() function</a:t>
            </a:r>
            <a:r>
              <a:rPr lang="en-US" b="0" dirty="0"/>
              <a:t/>
            </a:r>
            <a:br>
              <a:rPr lang="en-US" b="0" dirty="0"/>
            </a:br>
            <a:r>
              <a:rPr lang="en-US" dirty="0"/>
              <a:t/>
            </a:r>
            <a:br>
              <a:rPr lang="en-US" dirty="0"/>
            </a:br>
            <a:endParaRPr lang="en-IN" dirty="0"/>
          </a:p>
        </p:txBody>
      </p:sp>
      <p:sp>
        <p:nvSpPr>
          <p:cNvPr id="3" name="Content Placeholder 2"/>
          <p:cNvSpPr>
            <a:spLocks noGrp="1"/>
          </p:cNvSpPr>
          <p:nvPr>
            <p:ph idx="1"/>
          </p:nvPr>
        </p:nvSpPr>
        <p:spPr>
          <a:noFill/>
        </p:spPr>
        <p:txBody>
          <a:bodyPr/>
          <a:lstStyle/>
          <a:p>
            <a:r>
              <a:rPr lang="en-US" dirty="0"/>
              <a:t>Python code to illustrate with()</a:t>
            </a:r>
          </a:p>
          <a:p>
            <a:pPr marL="0" indent="0">
              <a:buNone/>
            </a:pPr>
            <a:endParaRPr lang="en-US" dirty="0"/>
          </a:p>
          <a:p>
            <a:pPr marL="457200" lvl="1" indent="0">
              <a:buNone/>
            </a:pPr>
            <a:r>
              <a:rPr lang="en-US" dirty="0"/>
              <a:t>Example1:</a:t>
            </a:r>
          </a:p>
          <a:p>
            <a:pPr marL="457200" lvl="1" indent="0">
              <a:buNone/>
            </a:pPr>
            <a:r>
              <a:rPr lang="en-US" dirty="0">
                <a:solidFill>
                  <a:srgbClr val="F54337"/>
                </a:solidFill>
              </a:rPr>
              <a:t># Python code to illustrate with()</a:t>
            </a:r>
          </a:p>
          <a:p>
            <a:pPr marL="457200" lvl="1" indent="0">
              <a:buNone/>
            </a:pPr>
            <a:r>
              <a:rPr lang="en-US" dirty="0">
                <a:solidFill>
                  <a:srgbClr val="F54337"/>
                </a:solidFill>
              </a:rPr>
              <a:t>with open("demo.txt") as file:</a:t>
            </a:r>
          </a:p>
          <a:p>
            <a:pPr marL="457200" lvl="1" indent="0">
              <a:buNone/>
            </a:pPr>
            <a:r>
              <a:rPr lang="en-US" dirty="0">
                <a:solidFill>
                  <a:srgbClr val="F54337"/>
                </a:solidFill>
              </a:rPr>
              <a:t>    data = </a:t>
            </a:r>
            <a:r>
              <a:rPr lang="en-US" dirty="0" err="1">
                <a:solidFill>
                  <a:srgbClr val="F54337"/>
                </a:solidFill>
              </a:rPr>
              <a:t>file.read</a:t>
            </a:r>
            <a:r>
              <a:rPr lang="en-US" dirty="0">
                <a:solidFill>
                  <a:srgbClr val="F54337"/>
                </a:solidFill>
              </a:rPr>
              <a:t>()</a:t>
            </a:r>
          </a:p>
          <a:p>
            <a:pPr marL="457200" lvl="1" indent="0">
              <a:buNone/>
            </a:pPr>
            <a:r>
              <a:rPr lang="en-US" dirty="0">
                <a:solidFill>
                  <a:srgbClr val="F54337"/>
                </a:solidFill>
              </a:rPr>
              <a:t>    print(data)</a:t>
            </a:r>
          </a:p>
          <a:p>
            <a:pPr marL="457200" lvl="1" indent="0">
              <a:buNone/>
            </a:pPr>
            <a:r>
              <a:rPr lang="en-US" dirty="0">
                <a:solidFill>
                  <a:srgbClr val="F54337"/>
                </a:solidFill>
              </a:rPr>
              <a:t># do something with data</a:t>
            </a:r>
          </a:p>
          <a:p>
            <a:pPr marL="457200" lvl="1" indent="0">
              <a:buNone/>
            </a:pPr>
            <a:endParaRPr lang="en-US" dirty="0">
              <a:solidFill>
                <a:srgbClr val="F54337"/>
              </a:solidFill>
            </a:endParaRPr>
          </a:p>
          <a:p>
            <a:pPr marL="457200" lvl="1" indent="0">
              <a:buNone/>
            </a:pPr>
            <a:r>
              <a:rPr lang="en-US" dirty="0"/>
              <a:t>Example2:</a:t>
            </a:r>
          </a:p>
          <a:p>
            <a:pPr marL="457200" lvl="1" indent="0">
              <a:buNone/>
            </a:pPr>
            <a:r>
              <a:rPr lang="en-US" dirty="0">
                <a:solidFill>
                  <a:srgbClr val="F54337"/>
                </a:solidFill>
              </a:rPr>
              <a:t>with open</a:t>
            </a:r>
            <a:r>
              <a:rPr lang="en-US" dirty="0" smtClean="0">
                <a:solidFill>
                  <a:srgbClr val="F54337"/>
                </a:solidFill>
              </a:rPr>
              <a:t>(“</a:t>
            </a:r>
            <a:r>
              <a:rPr lang="en-US" dirty="0" smtClean="0">
                <a:solidFill>
                  <a:srgbClr val="F54337"/>
                </a:solidFill>
              </a:rPr>
              <a:t>demo</a:t>
            </a:r>
            <a:r>
              <a:rPr lang="en-US" dirty="0" smtClean="0">
                <a:solidFill>
                  <a:srgbClr val="F54337"/>
                </a:solidFill>
              </a:rPr>
              <a:t>.txt</a:t>
            </a:r>
            <a:r>
              <a:rPr lang="en-US" dirty="0">
                <a:solidFill>
                  <a:srgbClr val="F54337"/>
                </a:solidFill>
              </a:rPr>
              <a:t>", "w") as f: </a:t>
            </a:r>
          </a:p>
          <a:p>
            <a:pPr marL="457200" lvl="1" indent="0">
              <a:buNone/>
            </a:pPr>
            <a:r>
              <a:rPr lang="en-US" dirty="0">
                <a:solidFill>
                  <a:srgbClr val="F54337"/>
                </a:solidFill>
              </a:rPr>
              <a:t>    </a:t>
            </a:r>
            <a:r>
              <a:rPr lang="en-US" dirty="0" err="1">
                <a:solidFill>
                  <a:srgbClr val="F54337"/>
                </a:solidFill>
              </a:rPr>
              <a:t>f.write</a:t>
            </a:r>
            <a:r>
              <a:rPr lang="en-US" dirty="0">
                <a:solidFill>
                  <a:srgbClr val="F54337"/>
                </a:solidFill>
              </a:rPr>
              <a:t>("Hello World!!!") </a:t>
            </a:r>
            <a:endParaRPr lang="en-IN" dirty="0">
              <a:solidFill>
                <a:srgbClr val="F54337"/>
              </a:solidFill>
            </a:endParaRPr>
          </a:p>
        </p:txBody>
      </p:sp>
      <p:sp>
        <p:nvSpPr>
          <p:cNvPr id="5" name="TextBox 4">
            <a:extLst>
              <a:ext uri="{FF2B5EF4-FFF2-40B4-BE49-F238E27FC236}">
                <a16:creationId xmlns:a16="http://schemas.microsoft.com/office/drawing/2014/main" xmlns="" id="{9CF4D5B6-8767-8A00-75A5-28F875CEDC55}"/>
              </a:ext>
            </a:extLst>
          </p:cNvPr>
          <p:cNvSpPr txBox="1"/>
          <p:nvPr/>
        </p:nvSpPr>
        <p:spPr>
          <a:xfrm>
            <a:off x="5538158" y="1367135"/>
            <a:ext cx="6107502" cy="1754326"/>
          </a:xfrm>
          <a:prstGeom prst="rect">
            <a:avLst/>
          </a:prstGeom>
          <a:noFill/>
        </p:spPr>
        <p:txBody>
          <a:bodyPr wrap="square">
            <a:spAutoFit/>
          </a:bodyPr>
          <a:lstStyle/>
          <a:p>
            <a:r>
              <a:rPr lang="en-US" dirty="0"/>
              <a:t>Example 3:</a:t>
            </a:r>
          </a:p>
          <a:p>
            <a:r>
              <a:rPr lang="en-US" dirty="0">
                <a:solidFill>
                  <a:srgbClr val="FF0000"/>
                </a:solidFill>
              </a:rPr>
              <a:t>try:    </a:t>
            </a:r>
          </a:p>
          <a:p>
            <a:r>
              <a:rPr lang="en-US" dirty="0">
                <a:solidFill>
                  <a:srgbClr val="FF0000"/>
                </a:solidFill>
              </a:rPr>
              <a:t>	with open</a:t>
            </a:r>
            <a:r>
              <a:rPr lang="en-US" dirty="0" smtClean="0">
                <a:solidFill>
                  <a:srgbClr val="FF0000"/>
                </a:solidFill>
              </a:rPr>
              <a:t>(“</a:t>
            </a:r>
            <a:r>
              <a:rPr lang="en-US" dirty="0" smtClean="0">
                <a:solidFill>
                  <a:srgbClr val="FF0000"/>
                </a:solidFill>
              </a:rPr>
              <a:t>demo</a:t>
            </a:r>
            <a:r>
              <a:rPr lang="en-US" dirty="0" smtClean="0">
                <a:solidFill>
                  <a:srgbClr val="FF0000"/>
                </a:solidFill>
              </a:rPr>
              <a:t>.txt</a:t>
            </a:r>
            <a:r>
              <a:rPr lang="en-US" dirty="0">
                <a:solidFill>
                  <a:srgbClr val="FF0000"/>
                </a:solidFill>
              </a:rPr>
              <a:t>", "r") as file:        				print(</a:t>
            </a:r>
            <a:r>
              <a:rPr lang="en-US" dirty="0" err="1">
                <a:solidFill>
                  <a:srgbClr val="FF0000"/>
                </a:solidFill>
              </a:rPr>
              <a:t>file.read</a:t>
            </a:r>
            <a:r>
              <a:rPr lang="en-US" dirty="0">
                <a:solidFill>
                  <a:srgbClr val="FF0000"/>
                </a:solidFill>
              </a:rPr>
              <a:t>())</a:t>
            </a:r>
          </a:p>
          <a:p>
            <a:r>
              <a:rPr lang="en-US" dirty="0">
                <a:solidFill>
                  <a:srgbClr val="FF0000"/>
                </a:solidFill>
              </a:rPr>
              <a:t>except </a:t>
            </a:r>
            <a:r>
              <a:rPr lang="en-US" dirty="0" err="1">
                <a:solidFill>
                  <a:srgbClr val="FF0000"/>
                </a:solidFill>
              </a:rPr>
              <a:t>FileNotFoundError</a:t>
            </a:r>
            <a:r>
              <a:rPr lang="en-US" dirty="0">
                <a:solidFill>
                  <a:srgbClr val="FF0000"/>
                </a:solidFill>
              </a:rPr>
              <a:t>:    </a:t>
            </a:r>
          </a:p>
          <a:p>
            <a:r>
              <a:rPr lang="en-US" dirty="0">
                <a:solidFill>
                  <a:srgbClr val="FF0000"/>
                </a:solidFill>
              </a:rPr>
              <a:t>	print("The file does not exist.")</a:t>
            </a:r>
          </a:p>
        </p:txBody>
      </p:sp>
    </p:spTree>
    <p:extLst>
      <p:ext uri="{BB962C8B-B14F-4D97-AF65-F5344CB8AC3E}">
        <p14:creationId xmlns:p14="http://schemas.microsoft.com/office/powerpoint/2010/main" val="342900073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Split() Function</a:t>
            </a:r>
          </a:p>
        </p:txBody>
      </p:sp>
      <p:sp>
        <p:nvSpPr>
          <p:cNvPr id="5" name="Rectangle 4"/>
          <p:cNvSpPr/>
          <p:nvPr/>
        </p:nvSpPr>
        <p:spPr>
          <a:xfrm>
            <a:off x="425467" y="1247237"/>
            <a:ext cx="6096000" cy="2677656"/>
          </a:xfrm>
          <a:prstGeom prst="rect">
            <a:avLst/>
          </a:prstGeom>
        </p:spPr>
        <p:txBody>
          <a:bodyPr>
            <a:spAutoFit/>
          </a:bodyPr>
          <a:lstStyle/>
          <a:p>
            <a:r>
              <a:rPr lang="en-IN" sz="2800" dirty="0"/>
              <a:t>with open("c:/Data/practical1.java", "r") as file:</a:t>
            </a:r>
          </a:p>
          <a:p>
            <a:r>
              <a:rPr lang="en-IN" sz="2800" dirty="0"/>
              <a:t>    data = </a:t>
            </a:r>
            <a:r>
              <a:rPr lang="en-IN" sz="2800" dirty="0" err="1"/>
              <a:t>file.readlines</a:t>
            </a:r>
            <a:r>
              <a:rPr lang="en-IN" sz="2800" dirty="0"/>
              <a:t>()</a:t>
            </a:r>
          </a:p>
          <a:p>
            <a:r>
              <a:rPr lang="en-IN" sz="2800" dirty="0"/>
              <a:t>    for line in data:</a:t>
            </a:r>
          </a:p>
          <a:p>
            <a:r>
              <a:rPr lang="en-IN" sz="2800" dirty="0"/>
              <a:t>        word = </a:t>
            </a:r>
            <a:r>
              <a:rPr lang="en-IN" sz="2800" dirty="0" err="1"/>
              <a:t>line.split</a:t>
            </a:r>
            <a:r>
              <a:rPr lang="en-IN" sz="2800" dirty="0"/>
              <a:t>()</a:t>
            </a:r>
          </a:p>
          <a:p>
            <a:r>
              <a:rPr lang="en-IN" sz="2800" dirty="0"/>
              <a:t>        print (word)</a:t>
            </a:r>
          </a:p>
        </p:txBody>
      </p:sp>
    </p:spTree>
    <p:extLst>
      <p:ext uri="{BB962C8B-B14F-4D97-AF65-F5344CB8AC3E}">
        <p14:creationId xmlns:p14="http://schemas.microsoft.com/office/powerpoint/2010/main" val="10338028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Demonstrate Data Loading using Google-COLAB</a:t>
            </a:r>
            <a:endParaRPr lang="en-IN" dirty="0"/>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smtClean="0"/>
          </a:p>
          <a:p>
            <a:pPr marL="0" indent="0">
              <a:buNone/>
            </a:pPr>
            <a:r>
              <a:rPr lang="en-US" dirty="0" smtClean="0"/>
              <a:t>Download any dataset from online Library, GIT-HUB , </a:t>
            </a:r>
            <a:r>
              <a:rPr lang="en-US" dirty="0" err="1" smtClean="0"/>
              <a:t>Kaggle</a:t>
            </a:r>
            <a:r>
              <a:rPr lang="en-US" dirty="0" smtClean="0"/>
              <a:t> etc……..</a:t>
            </a:r>
            <a:endParaRPr lang="en-US" dirty="0"/>
          </a:p>
          <a:p>
            <a:pPr marL="0" indent="0">
              <a:buNone/>
            </a:pPr>
            <a:r>
              <a:rPr lang="en-US" dirty="0" smtClean="0"/>
              <a:t>from </a:t>
            </a:r>
            <a:r>
              <a:rPr lang="en-US" dirty="0" err="1"/>
              <a:t>google.colab</a:t>
            </a:r>
            <a:r>
              <a:rPr lang="en-US" dirty="0"/>
              <a:t> import drive</a:t>
            </a:r>
          </a:p>
          <a:p>
            <a:pPr marL="0" indent="0">
              <a:buNone/>
            </a:pPr>
            <a:r>
              <a:rPr lang="en-US" dirty="0" err="1"/>
              <a:t>drive.mount</a:t>
            </a:r>
            <a:r>
              <a:rPr lang="en-US" dirty="0"/>
              <a:t>('/content/drive</a:t>
            </a:r>
            <a:r>
              <a:rPr lang="en-US" dirty="0" smtClean="0"/>
              <a:t>')</a:t>
            </a:r>
          </a:p>
          <a:p>
            <a:endParaRPr lang="en-US" dirty="0"/>
          </a:p>
          <a:p>
            <a:endParaRPr lang="en-IN" dirty="0" smtClean="0"/>
          </a:p>
          <a:p>
            <a:pPr marL="0" indent="0">
              <a:buNone/>
            </a:pPr>
            <a:r>
              <a:rPr lang="en-IN" dirty="0" smtClean="0"/>
              <a:t>import </a:t>
            </a:r>
            <a:r>
              <a:rPr lang="en-IN" dirty="0"/>
              <a:t>pandas as </a:t>
            </a:r>
            <a:r>
              <a:rPr lang="en-IN" dirty="0" err="1"/>
              <a:t>pd</a:t>
            </a:r>
            <a:endParaRPr lang="en-IN" dirty="0"/>
          </a:p>
          <a:p>
            <a:pPr marL="0" indent="0">
              <a:buNone/>
            </a:pPr>
            <a:r>
              <a:rPr lang="en-IN" dirty="0"/>
              <a:t/>
            </a:r>
            <a:br>
              <a:rPr lang="en-IN" dirty="0"/>
            </a:br>
            <a:r>
              <a:rPr lang="en-IN" dirty="0" err="1"/>
              <a:t>df</a:t>
            </a:r>
            <a:r>
              <a:rPr lang="en-IN" dirty="0"/>
              <a:t> = </a:t>
            </a:r>
            <a:r>
              <a:rPr lang="en-IN" dirty="0" err="1"/>
              <a:t>pd.read_csv</a:t>
            </a:r>
            <a:r>
              <a:rPr lang="en-IN" dirty="0"/>
              <a:t>("/content/drive/</a:t>
            </a:r>
            <a:r>
              <a:rPr lang="en-IN" dirty="0" err="1"/>
              <a:t>MyDrive</a:t>
            </a:r>
            <a:r>
              <a:rPr lang="en-IN" dirty="0"/>
              <a:t>/</a:t>
            </a:r>
            <a:r>
              <a:rPr lang="en-IN" dirty="0" err="1"/>
              <a:t>Colab</a:t>
            </a:r>
            <a:r>
              <a:rPr lang="en-IN" dirty="0"/>
              <a:t> Notebooks/Titanic-Dataset.csv")</a:t>
            </a:r>
          </a:p>
          <a:p>
            <a:pPr marL="0" indent="0">
              <a:buNone/>
            </a:pPr>
            <a:r>
              <a:rPr lang="en-IN" dirty="0" err="1"/>
              <a:t>df.head</a:t>
            </a:r>
            <a:r>
              <a:rPr lang="en-IN" dirty="0"/>
              <a:t>(5)</a:t>
            </a:r>
          </a:p>
        </p:txBody>
      </p:sp>
    </p:spTree>
    <p:extLst>
      <p:ext uri="{BB962C8B-B14F-4D97-AF65-F5344CB8AC3E}">
        <p14:creationId xmlns:p14="http://schemas.microsoft.com/office/powerpoint/2010/main" val="133600294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Hot Topics of INDIA</a:t>
            </a:r>
            <a:endParaRPr lang="en-IN" dirty="0"/>
          </a:p>
        </p:txBody>
      </p:sp>
      <p:sp>
        <p:nvSpPr>
          <p:cNvPr id="3" name="Content Placeholder 2"/>
          <p:cNvSpPr>
            <a:spLocks noGrp="1"/>
          </p:cNvSpPr>
          <p:nvPr>
            <p:ph idx="1"/>
          </p:nvPr>
        </p:nvSpPr>
        <p:spPr/>
        <p:txBody>
          <a:bodyPr/>
          <a:lstStyle/>
          <a:p>
            <a:r>
              <a:rPr lang="en-IN" dirty="0" smtClean="0"/>
              <a:t>Food </a:t>
            </a:r>
            <a:r>
              <a:rPr lang="en-IN" dirty="0"/>
              <a:t>Crisis </a:t>
            </a:r>
            <a:r>
              <a:rPr lang="en-IN" dirty="0" smtClean="0"/>
              <a:t>Prediction</a:t>
            </a:r>
          </a:p>
          <a:p>
            <a:r>
              <a:rPr lang="en-IN" dirty="0"/>
              <a:t>Oil Price </a:t>
            </a:r>
            <a:r>
              <a:rPr lang="en-IN" dirty="0" smtClean="0"/>
              <a:t>Prediction</a:t>
            </a:r>
          </a:p>
          <a:p>
            <a:r>
              <a:rPr lang="en-IN" dirty="0" smtClean="0"/>
              <a:t>Global </a:t>
            </a:r>
            <a:r>
              <a:rPr lang="en-IN" dirty="0"/>
              <a:t>Cyber Attack </a:t>
            </a:r>
            <a:r>
              <a:rPr lang="en-IN" dirty="0" smtClean="0"/>
              <a:t>Prediction</a:t>
            </a:r>
            <a:endParaRPr lang="en-IN" dirty="0"/>
          </a:p>
          <a:p>
            <a:r>
              <a:rPr lang="en-IN" dirty="0"/>
              <a:t>India Inflation </a:t>
            </a:r>
            <a:r>
              <a:rPr lang="en-IN" dirty="0" smtClean="0"/>
              <a:t>Prediction</a:t>
            </a:r>
          </a:p>
          <a:p>
            <a:r>
              <a:rPr lang="en-US" dirty="0"/>
              <a:t>India Election Outcome Prediction System</a:t>
            </a:r>
            <a:endParaRPr lang="en-IN" dirty="0"/>
          </a:p>
        </p:txBody>
      </p:sp>
    </p:spTree>
    <p:extLst>
      <p:ext uri="{BB962C8B-B14F-4D97-AF65-F5344CB8AC3E}">
        <p14:creationId xmlns:p14="http://schemas.microsoft.com/office/powerpoint/2010/main" val="93709979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Function</a:t>
            </a:r>
          </a:p>
        </p:txBody>
      </p:sp>
      <p:sp>
        <p:nvSpPr>
          <p:cNvPr id="3" name="Content Placeholder 2"/>
          <p:cNvSpPr>
            <a:spLocks noGrp="1"/>
          </p:cNvSpPr>
          <p:nvPr>
            <p:ph idx="1"/>
          </p:nvPr>
        </p:nvSpPr>
        <p:spPr/>
        <p:txBody>
          <a:bodyPr/>
          <a:lstStyle/>
          <a:p>
            <a:r>
              <a:rPr lang="en-US" dirty="0"/>
              <a:t>Python program to convert a list to string:</a:t>
            </a:r>
          </a:p>
          <a:p>
            <a:pPr marL="544512" lvl="1" indent="0">
              <a:buNone/>
            </a:pPr>
            <a:r>
              <a:rPr lang="en-IN" dirty="0"/>
              <a:t>Method 1:</a:t>
            </a:r>
          </a:p>
          <a:p>
            <a:pPr marL="544512" lvl="1" indent="0">
              <a:buNone/>
            </a:pPr>
            <a:r>
              <a:rPr lang="en-IN" dirty="0"/>
              <a:t>def </a:t>
            </a:r>
            <a:r>
              <a:rPr lang="en-IN" dirty="0" err="1"/>
              <a:t>listToString</a:t>
            </a:r>
            <a:r>
              <a:rPr lang="en-IN" dirty="0"/>
              <a:t>(s):</a:t>
            </a:r>
          </a:p>
          <a:p>
            <a:pPr marL="544512" lvl="1" indent="0">
              <a:buNone/>
            </a:pPr>
            <a:endParaRPr lang="en-IN" dirty="0"/>
          </a:p>
          <a:p>
            <a:pPr marL="544512" lvl="1" indent="0">
              <a:buNone/>
            </a:pPr>
            <a:r>
              <a:rPr lang="en-IN" dirty="0"/>
              <a:t>    str1=""</a:t>
            </a:r>
          </a:p>
          <a:p>
            <a:pPr marL="544512" lvl="1" indent="0">
              <a:buNone/>
            </a:pPr>
            <a:endParaRPr lang="en-IN" dirty="0"/>
          </a:p>
          <a:p>
            <a:pPr marL="544512" lvl="1" indent="0">
              <a:buNone/>
            </a:pPr>
            <a:r>
              <a:rPr lang="en-IN" dirty="0"/>
              <a:t>    for </a:t>
            </a:r>
            <a:r>
              <a:rPr lang="en-IN" dirty="0" err="1"/>
              <a:t>ele</a:t>
            </a:r>
            <a:r>
              <a:rPr lang="en-IN" dirty="0"/>
              <a:t> in s:</a:t>
            </a:r>
          </a:p>
          <a:p>
            <a:pPr marL="544512" lvl="1" indent="0">
              <a:buNone/>
            </a:pPr>
            <a:r>
              <a:rPr lang="en-IN" dirty="0"/>
              <a:t>        str1 += </a:t>
            </a:r>
            <a:r>
              <a:rPr lang="en-IN" dirty="0" err="1"/>
              <a:t>ele</a:t>
            </a:r>
            <a:endParaRPr lang="en-IN" dirty="0"/>
          </a:p>
          <a:p>
            <a:pPr marL="544512" lvl="1" indent="0">
              <a:buNone/>
            </a:pPr>
            <a:r>
              <a:rPr lang="en-IN" dirty="0"/>
              <a:t>    return str1</a:t>
            </a:r>
          </a:p>
          <a:p>
            <a:pPr marL="544512" lvl="1" indent="0">
              <a:buNone/>
            </a:pPr>
            <a:endParaRPr lang="en-IN" dirty="0"/>
          </a:p>
          <a:p>
            <a:pPr marL="544512" lvl="1" indent="0">
              <a:buNone/>
            </a:pPr>
            <a:r>
              <a:rPr lang="en-IN" dirty="0"/>
              <a:t># Driver code</a:t>
            </a:r>
          </a:p>
          <a:p>
            <a:pPr marL="544512" lvl="1" indent="0">
              <a:buNone/>
            </a:pPr>
            <a:r>
              <a:rPr lang="en-IN" dirty="0"/>
              <a:t>s = ['</a:t>
            </a:r>
            <a:r>
              <a:rPr lang="en-IN" dirty="0" err="1"/>
              <a:t>bijal</a:t>
            </a:r>
            <a:r>
              <a:rPr lang="en-IN" dirty="0"/>
              <a:t>','</a:t>
            </a:r>
            <a:r>
              <a:rPr lang="en-IN" dirty="0" err="1"/>
              <a:t>gadhia</a:t>
            </a:r>
            <a:r>
              <a:rPr lang="en-IN" dirty="0"/>
              <a:t>','computer']</a:t>
            </a:r>
          </a:p>
          <a:p>
            <a:pPr marL="544512" lvl="1" indent="0">
              <a:buNone/>
            </a:pPr>
            <a:r>
              <a:rPr lang="en-IN" dirty="0"/>
              <a:t>print(</a:t>
            </a:r>
            <a:r>
              <a:rPr lang="en-IN" dirty="0" err="1"/>
              <a:t>listToString</a:t>
            </a:r>
            <a:r>
              <a:rPr lang="en-IN" dirty="0"/>
              <a:t>(s))</a:t>
            </a:r>
          </a:p>
        </p:txBody>
      </p:sp>
      <p:sp>
        <p:nvSpPr>
          <p:cNvPr id="5" name="TextBox 4">
            <a:extLst>
              <a:ext uri="{FF2B5EF4-FFF2-40B4-BE49-F238E27FC236}">
                <a16:creationId xmlns:a16="http://schemas.microsoft.com/office/drawing/2014/main" xmlns="" id="{4FF96C45-BDDD-1AE9-B4F6-935B30131797}"/>
              </a:ext>
            </a:extLst>
          </p:cNvPr>
          <p:cNvSpPr txBox="1"/>
          <p:nvPr/>
        </p:nvSpPr>
        <p:spPr>
          <a:xfrm>
            <a:off x="5766758" y="1474987"/>
            <a:ext cx="6116128" cy="3693319"/>
          </a:xfrm>
          <a:prstGeom prst="rect">
            <a:avLst/>
          </a:prstGeom>
          <a:noFill/>
        </p:spPr>
        <p:txBody>
          <a:bodyPr wrap="square">
            <a:spAutoFit/>
          </a:bodyPr>
          <a:lstStyle/>
          <a:p>
            <a:pPr marL="457200" lvl="1" indent="0">
              <a:buNone/>
            </a:pPr>
            <a:r>
              <a:rPr lang="en-IN" dirty="0"/>
              <a:t>Method 2:</a:t>
            </a:r>
          </a:p>
          <a:p>
            <a:pPr marL="457200" lvl="1" indent="0">
              <a:buNone/>
            </a:pPr>
            <a:r>
              <a:rPr lang="en-IN" dirty="0"/>
              <a:t>def </a:t>
            </a:r>
            <a:r>
              <a:rPr lang="en-IN" dirty="0" err="1"/>
              <a:t>listToString</a:t>
            </a:r>
            <a:r>
              <a:rPr lang="en-IN" dirty="0"/>
              <a:t>(s): </a:t>
            </a:r>
          </a:p>
          <a:p>
            <a:pPr marL="457200" lvl="1" indent="0">
              <a:buNone/>
            </a:pPr>
            <a:r>
              <a:rPr lang="en-IN" dirty="0"/>
              <a:t>    </a:t>
            </a:r>
          </a:p>
          <a:p>
            <a:pPr marL="457200" lvl="1" indent="0">
              <a:buNone/>
            </a:pPr>
            <a:r>
              <a:rPr lang="en-IN" dirty="0"/>
              <a:t>    # initialize an empty string</a:t>
            </a:r>
          </a:p>
          <a:p>
            <a:pPr marL="457200" lvl="1" indent="0">
              <a:buNone/>
            </a:pPr>
            <a:r>
              <a:rPr lang="en-IN" dirty="0"/>
              <a:t>    str1 = " " </a:t>
            </a:r>
          </a:p>
          <a:p>
            <a:pPr marL="457200" lvl="1" indent="0">
              <a:buNone/>
            </a:pPr>
            <a:r>
              <a:rPr lang="en-IN" dirty="0"/>
              <a:t>    </a:t>
            </a:r>
          </a:p>
          <a:p>
            <a:pPr marL="457200" lvl="1" indent="0">
              <a:buNone/>
            </a:pPr>
            <a:r>
              <a:rPr lang="en-IN" dirty="0"/>
              <a:t>    # return string  </a:t>
            </a:r>
          </a:p>
          <a:p>
            <a:pPr marL="457200" lvl="1" indent="0">
              <a:buNone/>
            </a:pPr>
            <a:r>
              <a:rPr lang="en-IN" dirty="0"/>
              <a:t>    return (str1.join(s))</a:t>
            </a:r>
          </a:p>
          <a:p>
            <a:pPr marL="457200" lvl="1" indent="0">
              <a:buNone/>
            </a:pPr>
            <a:r>
              <a:rPr lang="en-IN" dirty="0"/>
              <a:t>        </a:t>
            </a:r>
          </a:p>
          <a:p>
            <a:pPr marL="457200" lvl="1" indent="0">
              <a:buNone/>
            </a:pPr>
            <a:r>
              <a:rPr lang="en-IN" dirty="0"/>
              <a:t>        </a:t>
            </a:r>
          </a:p>
          <a:p>
            <a:pPr marL="457200" lvl="1" indent="0">
              <a:buNone/>
            </a:pPr>
            <a:r>
              <a:rPr lang="en-IN" dirty="0"/>
              <a:t># Driver code    </a:t>
            </a:r>
          </a:p>
          <a:p>
            <a:pPr marL="457200" lvl="1" indent="0">
              <a:buNone/>
            </a:pPr>
            <a:r>
              <a:rPr lang="en-IN" dirty="0"/>
              <a:t>s = ['</a:t>
            </a:r>
            <a:r>
              <a:rPr lang="en-IN" dirty="0" err="1"/>
              <a:t>bijal</a:t>
            </a:r>
            <a:r>
              <a:rPr lang="en-IN" dirty="0"/>
              <a:t>','</a:t>
            </a:r>
            <a:r>
              <a:rPr lang="en-IN" dirty="0" err="1"/>
              <a:t>gadhia</a:t>
            </a:r>
            <a:r>
              <a:rPr lang="en-IN" dirty="0"/>
              <a:t>','computer']</a:t>
            </a:r>
          </a:p>
          <a:p>
            <a:pPr marL="457200" lvl="1" indent="0">
              <a:buNone/>
            </a:pPr>
            <a:r>
              <a:rPr lang="en-IN" dirty="0"/>
              <a:t>print(</a:t>
            </a:r>
            <a:r>
              <a:rPr lang="en-IN" dirty="0" err="1"/>
              <a:t>listToString</a:t>
            </a:r>
            <a:r>
              <a:rPr lang="en-IN" dirty="0"/>
              <a:t>(s))</a:t>
            </a:r>
          </a:p>
        </p:txBody>
      </p:sp>
    </p:spTree>
    <p:extLst>
      <p:ext uri="{BB962C8B-B14F-4D97-AF65-F5344CB8AC3E}">
        <p14:creationId xmlns:p14="http://schemas.microsoft.com/office/powerpoint/2010/main" val="960225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22230</TotalTime>
  <Words>7292</Words>
  <Application>Microsoft Office PowerPoint</Application>
  <PresentationFormat>Widescreen</PresentationFormat>
  <Paragraphs>1789</Paragraphs>
  <Slides>87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87</vt:i4>
      </vt:variant>
    </vt:vector>
  </HeadingPairs>
  <TitlesOfParts>
    <vt:vector size="100" baseType="lpstr">
      <vt:lpstr>Segoe UI</vt:lpstr>
      <vt:lpstr>Wingdings 3</vt:lpstr>
      <vt:lpstr>Arial</vt:lpstr>
      <vt:lpstr>Verdana</vt:lpstr>
      <vt:lpstr>Wingdings 2</vt:lpstr>
      <vt:lpstr>Segoe UI Black</vt:lpstr>
      <vt:lpstr>Calibri</vt:lpstr>
      <vt:lpstr>Times New Roman</vt:lpstr>
      <vt:lpstr>Calibri Light</vt:lpstr>
      <vt:lpstr>Wingdings</vt:lpstr>
      <vt:lpstr>Roboto Condensed Light</vt:lpstr>
      <vt:lpstr>Consolas</vt:lpstr>
      <vt:lpstr>Office 2013 - 2022 Theme</vt:lpstr>
      <vt:lpstr>PowerPoint Presentation</vt:lpstr>
      <vt:lpstr>Introduction to Python</vt:lpstr>
      <vt:lpstr>Why Python?</vt:lpstr>
      <vt:lpstr>Installing Python</vt:lpstr>
      <vt:lpstr> Real-world Applications </vt:lpstr>
      <vt:lpstr>Hello World using Python</vt:lpstr>
      <vt:lpstr>Jupyter Notebook</vt:lpstr>
      <vt:lpstr>PowerPoint Presentation</vt:lpstr>
      <vt:lpstr>Python Input Function</vt:lpstr>
      <vt:lpstr>Data types in Python</vt:lpstr>
      <vt:lpstr>Variables in Python</vt:lpstr>
      <vt:lpstr>Python Variables</vt:lpstr>
      <vt:lpstr>Example of Boolean</vt:lpstr>
      <vt:lpstr>Keywords</vt:lpstr>
      <vt:lpstr>String in python</vt:lpstr>
      <vt:lpstr>String functions in python </vt:lpstr>
      <vt:lpstr>String methods (cont.)</vt:lpstr>
      <vt:lpstr>String methods (cont.)</vt:lpstr>
      <vt:lpstr>String methods (cont.)</vt:lpstr>
      <vt:lpstr>String methods (cont.)</vt:lpstr>
      <vt:lpstr>String methods (cont.)</vt:lpstr>
      <vt:lpstr>String Slicing </vt:lpstr>
      <vt:lpstr>String print format</vt:lpstr>
      <vt:lpstr>String print format (cont.)</vt:lpstr>
      <vt:lpstr>String print format (cont.)</vt:lpstr>
      <vt:lpstr>Think of Output:</vt:lpstr>
      <vt:lpstr>Operators in python</vt:lpstr>
      <vt:lpstr>Arithmetic Operators</vt:lpstr>
      <vt:lpstr>Examples:</vt:lpstr>
      <vt:lpstr>Comparison Operator</vt:lpstr>
      <vt:lpstr>Examples</vt:lpstr>
      <vt:lpstr>Logical Operators</vt:lpstr>
      <vt:lpstr>Example</vt:lpstr>
      <vt:lpstr>Identity &amp; Member Operators</vt:lpstr>
      <vt:lpstr>Examples</vt:lpstr>
      <vt:lpstr>If statement</vt:lpstr>
      <vt:lpstr>If else statement</vt:lpstr>
      <vt:lpstr>If, elif and else statement</vt:lpstr>
      <vt:lpstr>While Statement</vt:lpstr>
      <vt:lpstr> The range() function </vt:lpstr>
      <vt:lpstr>For loop in python</vt:lpstr>
      <vt:lpstr>PowerPoint Presentation</vt:lpstr>
      <vt:lpstr>For loop continue</vt:lpstr>
      <vt:lpstr>PowerPoint Presentation</vt:lpstr>
      <vt:lpstr>Break Statement and Continue Statement</vt:lpstr>
      <vt:lpstr>Data structures in python</vt:lpstr>
      <vt:lpstr>List </vt:lpstr>
      <vt:lpstr> List indexing (Check on Notebook) </vt:lpstr>
      <vt:lpstr>List methods</vt:lpstr>
      <vt:lpstr>List methods (cont.)</vt:lpstr>
      <vt:lpstr>List methods (cont.)</vt:lpstr>
      <vt:lpstr>PowerPoint Presentation</vt:lpstr>
      <vt:lpstr>Write a program to count frequency of words</vt:lpstr>
      <vt:lpstr>Find the Student with Highest Average Marks</vt:lpstr>
      <vt:lpstr>Dictionary </vt:lpstr>
      <vt:lpstr>Dictionary methods</vt:lpstr>
      <vt:lpstr>Nested Dictionary</vt:lpstr>
      <vt:lpstr>Example of Nested Dictionary</vt:lpstr>
      <vt:lpstr>Merge Dictionaries and add common value</vt:lpstr>
      <vt:lpstr>Flatten Nested Dictionary </vt:lpstr>
      <vt:lpstr>Do it yourself(Self-study)</vt:lpstr>
      <vt:lpstr>Set</vt:lpstr>
      <vt:lpstr>Use of Set</vt:lpstr>
      <vt:lpstr> When should you use a set? </vt:lpstr>
      <vt:lpstr>PowerPoint Presentation</vt:lpstr>
      <vt:lpstr>Tuple</vt:lpstr>
      <vt:lpstr>Few more Examples:</vt:lpstr>
      <vt:lpstr>Few more Examples:</vt:lpstr>
      <vt:lpstr>Few more Examples:</vt:lpstr>
      <vt:lpstr>Functions in python</vt:lpstr>
      <vt:lpstr>Function (cont.) (DOCSTRIGN &amp; return)</vt:lpstr>
      <vt:lpstr>Example of Doc String</vt:lpstr>
      <vt:lpstr>Example of Return</vt:lpstr>
      <vt:lpstr>Perform program of calculator </vt:lpstr>
      <vt:lpstr>PASS Keyword</vt:lpstr>
      <vt:lpstr>  Scope and Lifetime of variables  </vt:lpstr>
      <vt:lpstr>Copy example in Notebook</vt:lpstr>
      <vt:lpstr> File Handling </vt:lpstr>
      <vt:lpstr>Examples</vt:lpstr>
      <vt:lpstr>Example of Append</vt:lpstr>
      <vt:lpstr>Example of Write</vt:lpstr>
      <vt:lpstr>Create a New File </vt:lpstr>
      <vt:lpstr>  File Handling with with() function  </vt:lpstr>
      <vt:lpstr>Split() Function</vt:lpstr>
      <vt:lpstr>Demonstrate Data Loading using Google-COLAB</vt:lpstr>
      <vt:lpstr>Current Hot Topics of INDIA</vt:lpstr>
      <vt:lpstr>Example of Function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lenovo</cp:lastModifiedBy>
  <cp:revision>683</cp:revision>
  <dcterms:created xsi:type="dcterms:W3CDTF">2020-05-01T05:09:15Z</dcterms:created>
  <dcterms:modified xsi:type="dcterms:W3CDTF">2026-07-19T09:54:55Z</dcterms:modified>
</cp:coreProperties>
</file>